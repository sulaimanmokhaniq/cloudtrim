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trim-sa.vercel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pic>
        <p:nvPicPr>
          <p:cNvPr id="10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188" y="100584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606040"/>
            <a:ext cx="11277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03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51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والتحدي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هدر صامت في فاتورة السحابة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wallet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01752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29%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الإنفاق مهدر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5" name="Image 2" descr="/tmp/claude-0/-home-claude/750ff410-f4aa-5276-9360-1e19d018b112/scratchpad/c/assets/i-tren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0175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17%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تجاوز للميزانية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server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01752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40%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أعطال سببها خطأ بشري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والأدوات العالمية معقدة وباهظة ومصممة للمؤسسات الكبرى، بلا دعم محلي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Flexera State of the Cloud 2026 · Uptime Institute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810951" y="987552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10951" y="98755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 يكتشف الهدر… وأنت تقرّر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11167567" y="274320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167567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65176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نربط حسابك السحابي بصلاحية قراءة فقط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167567" y="374904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1167567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365760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يكتشف الهدر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1167567" y="475488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167567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466344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توصيات ذكية وتنفيذ بموافقة مسبقة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53218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أتمتة مشروطة، لتفادي أخطاء الإنتاج</a:t>
            </a:r>
            <a:endParaRPr lang="en-US" sz="1500" dirty="0"/>
          </a:p>
        </p:txBody>
      </p:sp>
      <p:pic>
        <p:nvPicPr>
          <p:cNvPr id="30" name="Image 1" descr="/tmp/claude-0/-home-claude/750ff410-f4aa-5276-9360-1e19d018b112/scratchpad/c/assets/m-lap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5852160" cy="3588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285171" y="987552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85171" y="987552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المنافسون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السحب في لوحة واحدة، بسعر يناسب الشركات المتوسطة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6382512" y="2423160"/>
            <a:ext cx="2779776" cy="3337560"/>
          </a:xfrm>
          <a:prstGeom prst="roundRect">
            <a:avLst>
              <a:gd name="adj" fmla="val 4605"/>
            </a:avLst>
          </a:prstGeom>
          <a:solidFill>
            <a:srgbClr val="F1E4D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38328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المزودين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/ Azure Cost Management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حلول المؤسسات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Multi-Cloud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20040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18320" y="320040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الجمهور المستهدف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الشركات الناشئة والمتوسطة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4747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مستخدمو سحابة واحدة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المؤسسات والجهات الحكومية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370332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18320" y="370332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المدعومة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العالمية والمحلية معاً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34747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سحابة المزود فقط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متعددة بعقد مؤسسي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420624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418320" y="420624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سرعة التفعيل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ذاتي خلال دقائق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347472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 هندسي معقد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عقود واجتماعات طويلة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57200" y="470916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418320" y="470916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التسعير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347472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مجاني ضمن السحابة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مدارة مكلفة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418320" y="521208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التركيز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40080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فوري ومبسط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347472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لمهندسي البنية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والسيادة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5870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ميزتنا ليست تقنية مستحيلة، بل البساطة والسعر المرن، بلا عقود Enterprise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الفئة المستهدفة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فاتورتها السحابية عشرات الآلاف شهرياً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331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 إلى 250 موظفاً، وهدر مؤلم يجعل عائد الاشتراك واضحاً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88757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2" name="Image 1" descr="/tmp/claude-0/-home-claude/750ff410-f4aa-5276-9360-1e19d018b112/scratchpad/c/assets/i-buildin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337560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88757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50-250</a:t>
            </a:r>
            <a:endParaRPr lang="en-US" sz="4600" dirty="0"/>
          </a:p>
        </p:txBody>
      </p:sp>
      <p:sp>
        <p:nvSpPr>
          <p:cNvPr id="24" name="Text 20"/>
          <p:cNvSpPr txBox="1"/>
          <p:nvPr/>
        </p:nvSpPr>
        <p:spPr>
          <a:xfrm>
            <a:off x="8463077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موظفاً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322978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6" name="Image 2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33756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22978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$5.1B</a:t>
            </a:r>
            <a:endParaRPr lang="en-US" sz="4600" dirty="0"/>
          </a:p>
        </p:txBody>
      </p:sp>
      <p:sp>
        <p:nvSpPr>
          <p:cNvPr id="28" name="Text 23"/>
          <p:cNvSpPr txBox="1"/>
          <p:nvPr/>
        </p:nvSpPr>
        <p:spPr>
          <a:xfrm>
            <a:off x="4597298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سوق السحابة السعودي 2025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457200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30" name="Image 3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33756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$14.6B</a:t>
            </a:r>
            <a:endParaRPr lang="en-US" sz="46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المتوقع 2030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MarketsandMarkets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74859" y="987552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74859" y="987552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العمل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6681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0" name="Image 1" descr="/tmp/claude-0/-home-claude/750ff410-f4aa-5276-9360-1e19d018b112/scratchpad/c/assets/i-users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719" y="170992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70397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العملاء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1460175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70397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50 إلى 250 موظفاً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11460175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70397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ناشئة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11460175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70397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 فريق FinOps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7289414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2" descr="/tmp/claude-0/-home-claude/750ff410-f4aa-5276-9360-1e19d018b112/scratchpad/c/assets/i-msg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315" y="170992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26574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مع العملاء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18277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26574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تنبيهات واتساب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918277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426574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دعم بالعربي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89414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6" name="Image 3" descr="/tmp/claude-0/-home-claude/750ff410-f4aa-5276-9360-1e19d018b112/scratchpad/c/assets/i-mega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315" y="318211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426574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القنوات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918277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426574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والفحص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918277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426574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شركاء السحابة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501200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8E2F3C"/>
          </a:solidFill>
          <a:ln/>
        </p:spPr>
      </p:sp>
      <p:pic>
        <p:nvPicPr>
          <p:cNvPr id="43" name="Image 4" descr="/tmp/claude-0/-home-claude/750ff410-f4aa-5276-9360-1e19d018b112/scratchpad/c/assets/i-gem-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910" y="1709928"/>
            <a:ext cx="310896" cy="31089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14916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 المقترحة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905366" y="229514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514916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سحابة أقل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6905366" y="266090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514916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قراءة فقط وآمن</a:t>
            </a:r>
            <a:endParaRPr lang="en-US" sz="1350" dirty="0"/>
          </a:p>
        </p:txBody>
      </p:sp>
      <p:sp>
        <p:nvSpPr>
          <p:cNvPr id="49" name="Shape 42"/>
          <p:cNvSpPr/>
          <p:nvPr/>
        </p:nvSpPr>
        <p:spPr>
          <a:xfrm>
            <a:off x="6905366" y="302666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514916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تنفيذ بموافقتك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6905366" y="339242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5149169" y="327355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المحلية والعالمية</a:t>
            </a:r>
            <a:endParaRPr lang="en-US" sz="1350" dirty="0"/>
          </a:p>
        </p:txBody>
      </p:sp>
      <p:sp>
        <p:nvSpPr>
          <p:cNvPr id="53" name="Shape 46"/>
          <p:cNvSpPr/>
          <p:nvPr/>
        </p:nvSpPr>
        <p:spPr>
          <a:xfrm>
            <a:off x="2734605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54" name="Image 5" descr="/tmp/claude-0/-home-claude/750ff410-f4aa-5276-9360-1e19d018b112/scratchpad/c/assets/i-act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505" y="1709928"/>
            <a:ext cx="310896" cy="310896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2871765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الأنشطة الرئيسية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462796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2871765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كشف الهدر وتحليله</a:t>
            </a:r>
            <a:endParaRPr lang="en-US" sz="1250" dirty="0"/>
          </a:p>
        </p:txBody>
      </p:sp>
      <p:sp>
        <p:nvSpPr>
          <p:cNvPr id="58" name="Shape 50"/>
          <p:cNvSpPr/>
          <p:nvPr/>
        </p:nvSpPr>
        <p:spPr>
          <a:xfrm>
            <a:off x="462796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2871765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تطوير المنصة</a:t>
            </a:r>
            <a:endParaRPr lang="en-US" sz="1250" dirty="0"/>
          </a:p>
        </p:txBody>
      </p:sp>
      <p:sp>
        <p:nvSpPr>
          <p:cNvPr id="60" name="Shape 52"/>
          <p:cNvSpPr/>
          <p:nvPr/>
        </p:nvSpPr>
        <p:spPr>
          <a:xfrm>
            <a:off x="2734605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1" name="Image 6" descr="/tmp/claude-0/-home-claude/750ff410-f4aa-5276-9360-1e19d018b112/scratchpad/c/assets/i-box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505" y="3182112"/>
            <a:ext cx="310896" cy="310896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2871765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الموارد الرئيسية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462796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2871765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الذكاء الاصطناعي</a:t>
            </a:r>
            <a:endParaRPr lang="en-US" sz="1250" dirty="0"/>
          </a:p>
        </p:txBody>
      </p:sp>
      <p:sp>
        <p:nvSpPr>
          <p:cNvPr id="65" name="Shape 56"/>
          <p:cNvSpPr/>
          <p:nvPr/>
        </p:nvSpPr>
        <p:spPr>
          <a:xfrm>
            <a:off x="462796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2871765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تقني وFinOps</a:t>
            </a:r>
            <a:endParaRPr lang="en-US" sz="1250" dirty="0"/>
          </a:p>
        </p:txBody>
      </p:sp>
      <p:sp>
        <p:nvSpPr>
          <p:cNvPr id="67" name="Shape 58"/>
          <p:cNvSpPr/>
          <p:nvPr/>
        </p:nvSpPr>
        <p:spPr>
          <a:xfrm>
            <a:off x="457200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8" name="Image 7" descr="/tmp/claude-0/-home-claude/750ff410-f4aa-5276-9360-1e19d018b112/scratchpad/c/assets/i-handshake-b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101" y="1709928"/>
            <a:ext cx="310896" cy="310896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94360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الشراكات الرئيسية</a:t>
            </a:r>
            <a:endParaRPr lang="en-US" sz="1400" dirty="0"/>
          </a:p>
        </p:txBody>
      </p:sp>
      <p:sp>
        <p:nvSpPr>
          <p:cNvPr id="70" name="Shape 60"/>
          <p:cNvSpPr/>
          <p:nvPr/>
        </p:nvSpPr>
        <p:spPr>
          <a:xfrm>
            <a:off x="2350557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594360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وAzure وGCP</a:t>
            </a:r>
            <a:endParaRPr lang="en-US" sz="1350" dirty="0"/>
          </a:p>
        </p:txBody>
      </p:sp>
      <p:sp>
        <p:nvSpPr>
          <p:cNvPr id="72" name="Shape 62"/>
          <p:cNvSpPr/>
          <p:nvPr/>
        </p:nvSpPr>
        <p:spPr>
          <a:xfrm>
            <a:off x="2350557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594360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وSCCC وCNTXT</a:t>
            </a:r>
            <a:endParaRPr lang="en-US" sz="1350" dirty="0"/>
          </a:p>
        </p:txBody>
      </p:sp>
      <p:sp>
        <p:nvSpPr>
          <p:cNvPr id="74" name="Shape 64"/>
          <p:cNvSpPr/>
          <p:nvPr/>
        </p:nvSpPr>
        <p:spPr>
          <a:xfrm>
            <a:off x="2350557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5" name="Text 65"/>
          <p:cNvSpPr txBox="1"/>
          <p:nvPr/>
        </p:nvSpPr>
        <p:spPr>
          <a:xfrm>
            <a:off x="594360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واتساب للأعمال</a:t>
            </a:r>
            <a:endParaRPr lang="en-US" sz="1350" dirty="0"/>
          </a:p>
        </p:txBody>
      </p:sp>
      <p:sp>
        <p:nvSpPr>
          <p:cNvPr id="76" name="Shape 66"/>
          <p:cNvSpPr/>
          <p:nvPr/>
        </p:nvSpPr>
        <p:spPr>
          <a:xfrm>
            <a:off x="6150712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77" name="Image 8" descr="/tmp/claude-0/-home-claude/750ff410-f4aa-5276-9360-1e19d018b112/scratchpad/c/assets/i-coins-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0719" y="4654296"/>
            <a:ext cx="310896" cy="310896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6287872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الإيرادات</a:t>
            </a:r>
            <a:endParaRPr lang="en-US" sz="1400" dirty="0"/>
          </a:p>
        </p:txBody>
      </p:sp>
      <p:sp>
        <p:nvSpPr>
          <p:cNvPr id="79" name="Shape 68"/>
          <p:cNvSpPr/>
          <p:nvPr/>
        </p:nvSpPr>
        <p:spPr>
          <a:xfrm>
            <a:off x="11460175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0" name="Text 69"/>
          <p:cNvSpPr txBox="1"/>
          <p:nvPr/>
        </p:nvSpPr>
        <p:spPr>
          <a:xfrm>
            <a:off x="6287872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 حسب حجم الفاتورة</a:t>
            </a:r>
            <a:endParaRPr lang="en-US" sz="1300" dirty="0"/>
          </a:p>
        </p:txBody>
      </p:sp>
      <p:sp>
        <p:nvSpPr>
          <p:cNvPr id="81" name="Shape 70"/>
          <p:cNvSpPr/>
          <p:nvPr/>
        </p:nvSpPr>
        <p:spPr>
          <a:xfrm>
            <a:off x="11460175" y="5568696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2" name="Text 71"/>
          <p:cNvSpPr txBox="1"/>
          <p:nvPr/>
        </p:nvSpPr>
        <p:spPr>
          <a:xfrm>
            <a:off x="6287872" y="54498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نسبة من التوفير المحقق</a:t>
            </a:r>
            <a:endParaRPr lang="en-US" sz="1300" dirty="0"/>
          </a:p>
        </p:txBody>
      </p:sp>
      <p:sp>
        <p:nvSpPr>
          <p:cNvPr id="83" name="Shape 72"/>
          <p:cNvSpPr/>
          <p:nvPr/>
        </p:nvSpPr>
        <p:spPr>
          <a:xfrm>
            <a:off x="11460175" y="5897880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6287872" y="5779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أول مجاني · استشارات FinOps</a:t>
            </a:r>
            <a:endParaRPr lang="en-US" sz="1300" dirty="0"/>
          </a:p>
        </p:txBody>
      </p:sp>
      <p:sp>
        <p:nvSpPr>
          <p:cNvPr id="85" name="Shape 74"/>
          <p:cNvSpPr/>
          <p:nvPr/>
        </p:nvSpPr>
        <p:spPr>
          <a:xfrm>
            <a:off x="457200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86" name="Image 9" descr="/tmp/claude-0/-home-claude/750ff410-f4aa-5276-9360-1e19d018b112/scratchpad/c/assets/i-receipt-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7208" y="4654296"/>
            <a:ext cx="310896" cy="310896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594360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التكاليف</a:t>
            </a:r>
            <a:endParaRPr lang="en-US" sz="1400" dirty="0"/>
          </a:p>
        </p:txBody>
      </p:sp>
      <p:sp>
        <p:nvSpPr>
          <p:cNvPr id="88" name="Shape 76"/>
          <p:cNvSpPr/>
          <p:nvPr/>
        </p:nvSpPr>
        <p:spPr>
          <a:xfrm>
            <a:off x="5766664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9" name="Text 77"/>
          <p:cNvSpPr txBox="1"/>
          <p:nvPr/>
        </p:nvSpPr>
        <p:spPr>
          <a:xfrm>
            <a:off x="594360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الاستضافة والذكاء الاصطناعي</a:t>
            </a:r>
            <a:endParaRPr lang="en-US" sz="1350" dirty="0"/>
          </a:p>
        </p:txBody>
      </p:sp>
      <p:sp>
        <p:nvSpPr>
          <p:cNvPr id="90" name="Shape 78"/>
          <p:cNvSpPr/>
          <p:nvPr/>
        </p:nvSpPr>
        <p:spPr>
          <a:xfrm>
            <a:off x="5766664" y="560527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594360" y="548640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الفريق والتطوير · التسويق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قابلية التنفيذ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691640"/>
            <a:ext cx="5562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يمكن تنفيذ الحل في الوقت الحالي؟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172200" y="242316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65815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2" name="Image 1" descr="/tmp/claude-0/-home-claude/750ff410-f4aa-5276-9360-1e19d018b112/scratchpad/c/assets/i-plu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9748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446520" y="242316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ربط المنصة بحساب الشركة السحابي عبر API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72200" y="361188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865815" y="3794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6" name="Image 2" descr="/tmp/claude-0/-home-claude/750ff410-f4aa-5276-9360-1e19d018b112/scratchpad/c/assets/i-bot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886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46520" y="361188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يحلل مخرجات الـ APIs ويطبّق قواعد FinOps القياسية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172200" y="480060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865815" y="4983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30" name="Image 3" descr="/tmp/claude-0/-home-claude/750ff410-f4aa-5276-9360-1e19d018b112/scratchpad/c/assets/i-che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0749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446520" y="48006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زر تفاعلي بضغطة واحدة لإيقاف المورد أو تقليصه عبر API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457200" y="1691640"/>
            <a:ext cx="5257800" cy="4114800"/>
          </a:xfrm>
          <a:prstGeom prst="roundRect">
            <a:avLst>
              <a:gd name="adj" fmla="val 4444"/>
            </a:avLst>
          </a:prstGeom>
          <a:solidFill>
            <a:srgbClr val="8E2F3C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77240" y="1920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التقنيات المتوفرة لتنفيذه؟</a:t>
            </a:r>
            <a:endParaRPr lang="en-US" sz="2100" dirty="0"/>
          </a:p>
        </p:txBody>
      </p:sp>
      <p:sp>
        <p:nvSpPr>
          <p:cNvPr id="34" name="Shape 28"/>
          <p:cNvSpPr/>
          <p:nvPr/>
        </p:nvSpPr>
        <p:spPr>
          <a:xfrm>
            <a:off x="777240" y="2651760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5" name="Image 4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825496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05840" y="26517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 APIs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777240" y="3639312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8" name="Image 5" descr="/tmp/claude-0/-home-claude/750ff410-f4aa-5276-9360-1e19d018b112/scratchpad/c/assets/i-brain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13048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5840" y="36393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AI Models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777240" y="4626864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41" name="Image 6" descr="/tmp/claude-0/-home-claude/750ff410-f4aa-5276-9360-1e19d018b112/scratchpad/c/assets/i-code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0060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05840" y="46268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تطوير الواجهات والمواقع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النموذج الأولي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لقطات تجريبية من الواجهات · MVP Design</a:t>
            </a:r>
            <a:endParaRPr lang="en-US" sz="3400" dirty="0"/>
          </a:p>
        </p:txBody>
      </p:sp>
      <p:pic>
        <p:nvPicPr>
          <p:cNvPr id="20" name="Image 1" descr="/tmp/claude-0/-home-claude/750ff410-f4aa-5276-9360-1e19d018b112/scratchpad/c/assets/m-lap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2514600"/>
            <a:ext cx="5577840" cy="3420196"/>
          </a:xfrm>
          <a:prstGeom prst="rect">
            <a:avLst/>
          </a:prstGeom>
        </p:spPr>
      </p:pic>
      <p:pic>
        <p:nvPicPr>
          <p:cNvPr id="21" name="Image 2" descr="/tmp/claude-0/-home-claude/750ff410-f4aa-5276-9360-1e19d018b112/scratchpad/c/assets/m-ph-st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3" y="2697480"/>
            <a:ext cx="1569412" cy="32461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" y="2606040"/>
            <a:ext cx="2651760" cy="3246120"/>
          </a:xfrm>
          <a:prstGeom prst="roundRect">
            <a:avLst>
              <a:gd name="adj" fmla="val 6207"/>
            </a:avLst>
          </a:prstGeom>
          <a:solidFill>
            <a:srgbClr val="8E2F3C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278892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BF8"/>
          </a:solidFill>
          <a:ln/>
        </p:spPr>
      </p:sp>
      <p:pic>
        <p:nvPicPr>
          <p:cNvPr id="24" name="Image 3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2103120" cy="21031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08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وجرّب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918143" y="987552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18143" y="987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الأثر والقيمة المتوقعة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أثر بالأرقام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1" name="Image 1" descr="/tmp/claude-0/-home-claude/750ff410-f4aa-5276-9360-1e19d018b112/scratchpad/c/assets/i-wallet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297180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10.8%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من الفاتورة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5" name="Image 2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9718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110K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سنوياً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clo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297180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دقائق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بدل أسابيع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مثال: شركة افتراضية من 120 موظفاً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الخطوة التالية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خطتنا القادمة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scale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726" y="3017520"/>
            <a:ext cx="685800" cy="6858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 السحابات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322978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4" name="Image 2" descr="/tmp/claude-0/-home-claude/750ff410-f4aa-5276-9360-1e19d018b112/scratchpad/c/assets/i-server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948" y="301752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22978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الهجينة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457200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7" name="Image 3" descr="/tmp/claude-0/-home-claude/750ff410-f4aa-5276-9360-1e19d018b112/scratchpad/c/assets/i-bell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169" y="3017520"/>
            <a:ext cx="685800" cy="6858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7200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إنذار مبكر 24/7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نحتاج: توجيه خبراء · شريك سحابي محلي · 10 شركات للتجربة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600639" y="98755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600639" y="98755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الختام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42655" y="1600200"/>
            <a:ext cx="3291840" cy="4069080"/>
          </a:xfrm>
          <a:prstGeom prst="roundRect">
            <a:avLst>
              <a:gd name="adj" fmla="val 5556"/>
            </a:avLst>
          </a:prstGeom>
          <a:solidFill>
            <a:srgbClr val="8E2F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42655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جرّب CloudTrim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8854135" y="2331720"/>
            <a:ext cx="2468880" cy="2468880"/>
          </a:xfrm>
          <a:prstGeom prst="roundRect">
            <a:avLst>
              <a:gd name="adj" fmla="val 5185"/>
            </a:avLst>
          </a:prstGeom>
          <a:solidFill>
            <a:srgbClr val="FFFBF8"/>
          </a:solidFill>
          <a:ln/>
        </p:spPr>
      </p:sp>
      <p:pic>
        <p:nvPicPr>
          <p:cNvPr id="22" name="Image 1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2468880"/>
            <a:ext cx="2194560" cy="2194560"/>
          </a:xfrm>
          <a:prstGeom prst="rect">
            <a:avLst/>
          </a:prstGeom>
        </p:spPr>
      </p:pic>
      <p:sp>
        <p:nvSpPr>
          <p:cNvPr id="23" name="Text 19">
            <a:hlinkClick r:id="rId3" tooltip=""/>
          </p:cNvPr>
          <p:cNvSpPr txBox="1"/>
          <p:nvPr/>
        </p:nvSpPr>
        <p:spPr>
          <a:xfrm>
            <a:off x="8442655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cloudtrim-sa.vercel.app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2194560"/>
            <a:ext cx="7528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 لكم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33756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886200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CloudTrim</dc:title>
  <dc:subject>PptxGenJS Presentation</dc:subject>
  <dc:creator>CloudTrim</dc:creator>
  <cp:lastModifiedBy>CloudTrim</cp:lastModifiedBy>
  <cp:revision>1</cp:revision>
  <dcterms:created xsi:type="dcterms:W3CDTF">2026-10-16T18:22:48Z</dcterms:created>
  <dcterms:modified xsi:type="dcterms:W3CDTF">2026-10-16T18:22:48Z</dcterms:modified>
</cp:coreProperties>
</file>