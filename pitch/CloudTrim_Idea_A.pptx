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trim-sa.vercel.app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pic>
        <p:nvPicPr>
          <p:cNvPr id="10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7188" y="1005840"/>
            <a:ext cx="1417320" cy="1417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57200" y="2606040"/>
            <a:ext cx="112772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7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70332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Trim the cloud, keep the control.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25196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وفّر في سحابتك… والقرار بيدك.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654235" y="987552"/>
            <a:ext cx="2080260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654235" y="987552"/>
            <a:ext cx="2080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المشكلة والتحدي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16002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هدر صامت في فاتورة السحابة</a:t>
            </a:r>
            <a:endParaRPr lang="en-US" sz="3400" dirty="0"/>
          </a:p>
        </p:txBody>
      </p:sp>
      <p:sp>
        <p:nvSpPr>
          <p:cNvPr id="20" name="Shape 17"/>
          <p:cNvSpPr/>
          <p:nvPr/>
        </p:nvSpPr>
        <p:spPr>
          <a:xfrm>
            <a:off x="8188757" y="274320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8E2F3C"/>
          </a:solidFill>
          <a:ln/>
        </p:spPr>
      </p:sp>
      <p:pic>
        <p:nvPicPr>
          <p:cNvPr id="21" name="Image 1" descr="/tmp/claude-0/-home-claude/750ff410-f4aa-5276-9360-1e19d018b112/scratchpad/c/assets/i-wallet-c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7306" y="3017520"/>
            <a:ext cx="548640" cy="54864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188757" y="361188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29%</a:t>
            </a:r>
            <a:endParaRPr lang="en-US" sz="5400" dirty="0"/>
          </a:p>
        </p:txBody>
      </p:sp>
      <p:sp>
        <p:nvSpPr>
          <p:cNvPr id="23" name="Text 19"/>
          <p:cNvSpPr txBox="1"/>
          <p:nvPr/>
        </p:nvSpPr>
        <p:spPr>
          <a:xfrm>
            <a:off x="8463077" y="452628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من الإنفاق مهدر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4322978" y="274320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25" name="Image 2" descr="/tmp/claude-0/-home-claude/750ff410-f4aa-5276-9360-1e19d018b112/scratchpad/c/assets/i-trend-b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3017520"/>
            <a:ext cx="548640" cy="54864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322978" y="361188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17%</a:t>
            </a:r>
            <a:endParaRPr lang="en-US" sz="5400" dirty="0"/>
          </a:p>
        </p:txBody>
      </p:sp>
      <p:sp>
        <p:nvSpPr>
          <p:cNvPr id="27" name="Text 22"/>
          <p:cNvSpPr txBox="1"/>
          <p:nvPr/>
        </p:nvSpPr>
        <p:spPr>
          <a:xfrm>
            <a:off x="4597298" y="452628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تجاوز للميزانية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457200" y="274320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29" name="Image 3" descr="/tmp/claude-0/-home-claude/750ff410-f4aa-5276-9360-1e19d018b112/scratchpad/c/assets/i-server-b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749" y="3017520"/>
            <a:ext cx="548640" cy="54864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57200" y="361188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40%</a:t>
            </a:r>
            <a:endParaRPr lang="en-US" sz="5400" dirty="0"/>
          </a:p>
        </p:txBody>
      </p:sp>
      <p:sp>
        <p:nvSpPr>
          <p:cNvPr id="31" name="Text 25"/>
          <p:cNvSpPr txBox="1"/>
          <p:nvPr/>
        </p:nvSpPr>
        <p:spPr>
          <a:xfrm>
            <a:off x="731520" y="452628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أعطال سببها خطأ بشري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457200" y="534924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والأدوات العالمية معقدة وباهظة ومصممة للمؤسسات الكبرى، بلا دعم محلي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457200" y="5989320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Flexera State of the Cloud 2026 · Uptime Institute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0810951" y="987552"/>
            <a:ext cx="923544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810951" y="987552"/>
            <a:ext cx="92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الحل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16002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 يكتشف الهدر… وأنت تقرّر</a:t>
            </a:r>
            <a:endParaRPr lang="en-US" sz="3400" dirty="0"/>
          </a:p>
        </p:txBody>
      </p:sp>
      <p:sp>
        <p:nvSpPr>
          <p:cNvPr id="20" name="Shape 17"/>
          <p:cNvSpPr/>
          <p:nvPr/>
        </p:nvSpPr>
        <p:spPr>
          <a:xfrm>
            <a:off x="11167567" y="2743200"/>
            <a:ext cx="566928" cy="566928"/>
          </a:xfrm>
          <a:prstGeom prst="ellipse">
            <a:avLst/>
          </a:prstGeom>
          <a:solidFill>
            <a:srgbClr val="8E2F3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167567" y="2743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6766560" y="2651760"/>
            <a:ext cx="41906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نربط حسابك السحابي بصلاحية قراءة فقط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11167567" y="3749040"/>
            <a:ext cx="566928" cy="566928"/>
          </a:xfrm>
          <a:prstGeom prst="ellipse">
            <a:avLst/>
          </a:prstGeom>
          <a:solidFill>
            <a:srgbClr val="8E2F3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1167567" y="3749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2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6766560" y="3657600"/>
            <a:ext cx="41906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الذكاء الاصطناعي يكتشف الهدر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11167567" y="4754880"/>
            <a:ext cx="566928" cy="566928"/>
          </a:xfrm>
          <a:prstGeom prst="ellipse">
            <a:avLst/>
          </a:prstGeom>
          <a:solidFill>
            <a:srgbClr val="8E2F3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1167567" y="4754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6766560" y="4663440"/>
            <a:ext cx="41906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توصيات ذكية وتنفيذ بموافقة مسبقة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6766560" y="5321808"/>
            <a:ext cx="4190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أو أتمتة مشروطة، لتفادي أخطاء الإنتاج</a:t>
            </a:r>
            <a:endParaRPr lang="en-US" sz="1500" dirty="0"/>
          </a:p>
        </p:txBody>
      </p:sp>
      <p:pic>
        <p:nvPicPr>
          <p:cNvPr id="30" name="Image 1" descr="/tmp/claude-0/-home-claude/750ff410-f4aa-5276-9360-1e19d018b112/scratchpad/c/assets/m-lap-dem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14600"/>
            <a:ext cx="5852160" cy="35884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0285171" y="987552"/>
            <a:ext cx="1449324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285171" y="987552"/>
            <a:ext cx="14493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المنافسون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16002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كل السحب في لوحة واحدة، بسعر يناسب الشركات المتوسطة</a:t>
            </a:r>
            <a:endParaRPr lang="en-US" sz="3400" dirty="0"/>
          </a:p>
        </p:txBody>
      </p:sp>
      <p:sp>
        <p:nvSpPr>
          <p:cNvPr id="20" name="Shape 17"/>
          <p:cNvSpPr/>
          <p:nvPr/>
        </p:nvSpPr>
        <p:spPr>
          <a:xfrm>
            <a:off x="5224272" y="2350008"/>
            <a:ext cx="2200656" cy="3703320"/>
          </a:xfrm>
          <a:prstGeom prst="roundRect">
            <a:avLst>
              <a:gd name="adj" fmla="val 5817"/>
            </a:avLst>
          </a:prstGeom>
          <a:solidFill>
            <a:srgbClr val="F1E4D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151120" y="2395728"/>
            <a:ext cx="234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2804160" y="2432304"/>
            <a:ext cx="234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أدوات المزودين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2804160" y="2761488"/>
            <a:ext cx="234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AWS / Azure Cost Management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2432304"/>
            <a:ext cx="234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خدمات الشركات الكبرى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2761488"/>
            <a:ext cx="234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STC Multi-Cloud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57200" y="3081528"/>
            <a:ext cx="11277295" cy="0"/>
          </a:xfrm>
          <a:prstGeom prst="line">
            <a:avLst/>
          </a:prstGeom>
          <a:noFill/>
          <a:ln w="9525">
            <a:solidFill>
              <a:srgbClr val="E3D5C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680960" y="3081528"/>
            <a:ext cx="40535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مبني للشركات المتوسطة والناشئة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160008" y="3209544"/>
            <a:ext cx="329184" cy="329184"/>
          </a:xfrm>
          <a:prstGeom prst="ellipse">
            <a:avLst/>
          </a:prstGeom>
          <a:solidFill>
            <a:srgbClr val="7FB27A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160008" y="3209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3813048" y="3209544"/>
            <a:ext cx="329184" cy="329184"/>
          </a:xfrm>
          <a:prstGeom prst="ellipse">
            <a:avLst/>
          </a:prstGeom>
          <a:solidFill>
            <a:srgbClr val="D48A93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813048" y="3209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✕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1466088" y="3209544"/>
            <a:ext cx="329184" cy="329184"/>
          </a:xfrm>
          <a:prstGeom prst="ellipse">
            <a:avLst/>
          </a:prstGeom>
          <a:solidFill>
            <a:srgbClr val="D48A93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466088" y="3209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✕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7200" y="3666744"/>
            <a:ext cx="11277295" cy="0"/>
          </a:xfrm>
          <a:prstGeom prst="line">
            <a:avLst/>
          </a:prstGeom>
          <a:noFill/>
          <a:ln w="9525">
            <a:solidFill>
              <a:srgbClr val="E3D5C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680960" y="3666744"/>
            <a:ext cx="40535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تفعيل ذاتي سريع بلا تعقيد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6160008" y="3794760"/>
            <a:ext cx="329184" cy="329184"/>
          </a:xfrm>
          <a:prstGeom prst="ellipse">
            <a:avLst/>
          </a:prstGeom>
          <a:solidFill>
            <a:srgbClr val="7FB27A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160008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3813048" y="3794760"/>
            <a:ext cx="329184" cy="329184"/>
          </a:xfrm>
          <a:prstGeom prst="ellipse">
            <a:avLst/>
          </a:prstGeom>
          <a:solidFill>
            <a:srgbClr val="D48A93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3813048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✕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1466088" y="3794760"/>
            <a:ext cx="329184" cy="329184"/>
          </a:xfrm>
          <a:prstGeom prst="ellipse">
            <a:avLst/>
          </a:prstGeom>
          <a:solidFill>
            <a:srgbClr val="D48A93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1466088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✕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457200" y="4251960"/>
            <a:ext cx="11277295" cy="0"/>
          </a:xfrm>
          <a:prstGeom prst="line">
            <a:avLst/>
          </a:prstGeom>
          <a:noFill/>
          <a:ln w="9525">
            <a:solidFill>
              <a:srgbClr val="E3D5CC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680960" y="4251960"/>
            <a:ext cx="40535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اشتراك SaaS مرن بلا عقود Enterprise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>
            <a:off x="6160008" y="4379976"/>
            <a:ext cx="329184" cy="329184"/>
          </a:xfrm>
          <a:prstGeom prst="ellipse">
            <a:avLst/>
          </a:prstGeom>
          <a:solidFill>
            <a:srgbClr val="7FB27A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6160008" y="4379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3813048" y="4379976"/>
            <a:ext cx="329184" cy="329184"/>
          </a:xfrm>
          <a:prstGeom prst="ellipse">
            <a:avLst/>
          </a:prstGeom>
          <a:solidFill>
            <a:srgbClr val="D48A93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3813048" y="4379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✕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1466088" y="4379976"/>
            <a:ext cx="329184" cy="329184"/>
          </a:xfrm>
          <a:prstGeom prst="ellipse">
            <a:avLst/>
          </a:prstGeom>
          <a:solidFill>
            <a:srgbClr val="D48A93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1466088" y="4379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✕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457200" y="4837176"/>
            <a:ext cx="11277295" cy="0"/>
          </a:xfrm>
          <a:prstGeom prst="line">
            <a:avLst/>
          </a:prstGeom>
          <a:noFill/>
          <a:ln w="9525">
            <a:solidFill>
              <a:srgbClr val="E3D5CC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7680960" y="4837176"/>
            <a:ext cx="40535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منصة واحدة لكل السحب المحلية والعالمية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6160008" y="4965192"/>
            <a:ext cx="329184" cy="329184"/>
          </a:xfrm>
          <a:prstGeom prst="ellipse">
            <a:avLst/>
          </a:prstGeom>
          <a:solidFill>
            <a:srgbClr val="7FB27A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6160008" y="4965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1300" dirty="0"/>
          </a:p>
        </p:txBody>
      </p:sp>
      <p:sp>
        <p:nvSpPr>
          <p:cNvPr id="54" name="Shape 51"/>
          <p:cNvSpPr/>
          <p:nvPr/>
        </p:nvSpPr>
        <p:spPr>
          <a:xfrm>
            <a:off x="3813048" y="4965192"/>
            <a:ext cx="329184" cy="329184"/>
          </a:xfrm>
          <a:prstGeom prst="ellipse">
            <a:avLst/>
          </a:prstGeom>
          <a:solidFill>
            <a:srgbClr val="D48A93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3813048" y="4965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✕</a:t>
            </a:r>
            <a:endParaRPr lang="en-US" sz="1300" dirty="0"/>
          </a:p>
        </p:txBody>
      </p:sp>
      <p:sp>
        <p:nvSpPr>
          <p:cNvPr id="56" name="Shape 53"/>
          <p:cNvSpPr/>
          <p:nvPr/>
        </p:nvSpPr>
        <p:spPr>
          <a:xfrm>
            <a:off x="1466088" y="4882896"/>
            <a:ext cx="329184" cy="329184"/>
          </a:xfrm>
          <a:prstGeom prst="ellipse">
            <a:avLst/>
          </a:prstGeom>
          <a:solidFill>
            <a:srgbClr val="7FB27A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1466088" y="4882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1300" dirty="0"/>
          </a:p>
        </p:txBody>
      </p:sp>
      <p:sp>
        <p:nvSpPr>
          <p:cNvPr id="58" name="Text 55"/>
          <p:cNvSpPr txBox="1"/>
          <p:nvPr/>
        </p:nvSpPr>
        <p:spPr>
          <a:xfrm>
            <a:off x="502920" y="5212080"/>
            <a:ext cx="225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ضمن منظومتهم فقط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457200" y="5422392"/>
            <a:ext cx="11277295" cy="0"/>
          </a:xfrm>
          <a:prstGeom prst="line">
            <a:avLst/>
          </a:prstGeom>
          <a:noFill/>
          <a:ln w="9525">
            <a:solidFill>
              <a:srgbClr val="E3D5CC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7680960" y="5422392"/>
            <a:ext cx="40535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تركيز مبسّط على FinOps والتوفير</a:t>
            </a:r>
            <a:endParaRPr lang="en-US" sz="1500" dirty="0"/>
          </a:p>
        </p:txBody>
      </p:sp>
      <p:sp>
        <p:nvSpPr>
          <p:cNvPr id="61" name="Shape 58"/>
          <p:cNvSpPr/>
          <p:nvPr/>
        </p:nvSpPr>
        <p:spPr>
          <a:xfrm>
            <a:off x="6160008" y="5550408"/>
            <a:ext cx="329184" cy="329184"/>
          </a:xfrm>
          <a:prstGeom prst="ellipse">
            <a:avLst/>
          </a:prstGeom>
          <a:solidFill>
            <a:srgbClr val="7FB27A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6160008" y="5550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1300" dirty="0"/>
          </a:p>
        </p:txBody>
      </p:sp>
      <p:sp>
        <p:nvSpPr>
          <p:cNvPr id="63" name="Shape 60"/>
          <p:cNvSpPr/>
          <p:nvPr/>
        </p:nvSpPr>
        <p:spPr>
          <a:xfrm>
            <a:off x="3813048" y="5468112"/>
            <a:ext cx="329184" cy="329184"/>
          </a:xfrm>
          <a:prstGeom prst="ellipse">
            <a:avLst/>
          </a:prstGeom>
          <a:solidFill>
            <a:srgbClr val="7FB27A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3813048" y="5468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1300" dirty="0"/>
          </a:p>
        </p:txBody>
      </p:sp>
      <p:sp>
        <p:nvSpPr>
          <p:cNvPr id="65" name="Text 62"/>
          <p:cNvSpPr txBox="1"/>
          <p:nvPr/>
        </p:nvSpPr>
        <p:spPr>
          <a:xfrm>
            <a:off x="2849880" y="5797296"/>
            <a:ext cx="225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للمهندسين، لا للمؤسسين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1466088" y="5550408"/>
            <a:ext cx="329184" cy="329184"/>
          </a:xfrm>
          <a:prstGeom prst="ellipse">
            <a:avLst/>
          </a:prstGeom>
          <a:solidFill>
            <a:srgbClr val="D48A93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1466088" y="5550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✕</a:t>
            </a:r>
            <a:endParaRPr lang="en-US" sz="1300" dirty="0"/>
          </a:p>
        </p:txBody>
      </p:sp>
      <p:sp>
        <p:nvSpPr>
          <p:cNvPr id="68" name="Text 65"/>
          <p:cNvSpPr txBox="1"/>
          <p:nvPr/>
        </p:nvSpPr>
        <p:spPr>
          <a:xfrm>
            <a:off x="457200" y="6190488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ميزتنا ليست تقنية مستحيلة، بل البساطة والسعر المرن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654235" y="987552"/>
            <a:ext cx="2080260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654235" y="987552"/>
            <a:ext cx="2080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الفئة المستهدفة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16002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شركات فاتورتها السحابية عشرات الآلاف شهرياً</a:t>
            </a:r>
            <a:endParaRPr lang="en-US" sz="34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233172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50 إلى 250 موظفاً، وهدر مؤلم يجعل عائد الاشتراك واضحاً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8188757" y="306324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22" name="Image 1" descr="/tmp/claude-0/-home-claude/750ff410-f4aa-5276-9360-1e19d018b112/scratchpad/c/assets/i-building-b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7306" y="3337560"/>
            <a:ext cx="548640" cy="54864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188757" y="393192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50-250</a:t>
            </a:r>
            <a:endParaRPr lang="en-US" sz="4600" dirty="0"/>
          </a:p>
        </p:txBody>
      </p:sp>
      <p:sp>
        <p:nvSpPr>
          <p:cNvPr id="24" name="Text 20"/>
          <p:cNvSpPr txBox="1"/>
          <p:nvPr/>
        </p:nvSpPr>
        <p:spPr>
          <a:xfrm>
            <a:off x="8463077" y="484632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موظفاً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4322978" y="306324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26" name="Image 2" descr="/tmp/claude-0/-home-claude/750ff410-f4aa-5276-9360-1e19d018b112/scratchpad/c/assets/i-cloud-b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3337560"/>
            <a:ext cx="548640" cy="54864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4322978" y="393192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$5.1B</a:t>
            </a:r>
            <a:endParaRPr lang="en-US" sz="4600" dirty="0"/>
          </a:p>
        </p:txBody>
      </p:sp>
      <p:sp>
        <p:nvSpPr>
          <p:cNvPr id="28" name="Text 23"/>
          <p:cNvSpPr txBox="1"/>
          <p:nvPr/>
        </p:nvSpPr>
        <p:spPr>
          <a:xfrm>
            <a:off x="4597298" y="484632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سوق السحابة السعودي 2025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457200" y="306324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8E2F3C"/>
          </a:solidFill>
          <a:ln/>
        </p:spPr>
      </p:sp>
      <p:pic>
        <p:nvPicPr>
          <p:cNvPr id="30" name="Image 3" descr="/tmp/claude-0/-home-claude/750ff410-f4aa-5276-9360-1e19d018b112/scratchpad/c/assets/i-trend-c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749" y="3337560"/>
            <a:ext cx="548640" cy="54864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457200" y="393192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$14.6B</a:t>
            </a:r>
            <a:endParaRPr lang="en-US" sz="4600" dirty="0"/>
          </a:p>
        </p:txBody>
      </p:sp>
      <p:sp>
        <p:nvSpPr>
          <p:cNvPr id="32" name="Text 26"/>
          <p:cNvSpPr txBox="1"/>
          <p:nvPr/>
        </p:nvSpPr>
        <p:spPr>
          <a:xfrm>
            <a:off x="731520" y="484632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المتوقع 2030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457200" y="5989320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MarketsandMarkets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0074859" y="987552"/>
            <a:ext cx="1659636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074859" y="987552"/>
            <a:ext cx="16596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نموذج العمل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06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566819" y="1554480"/>
            <a:ext cx="2167677" cy="2834640"/>
          </a:xfrm>
          <a:prstGeom prst="roundRect">
            <a:avLst>
              <a:gd name="adj" fmla="val 5906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20" name="Image 1" descr="/tmp/claude-0/-home-claude/750ff410-f4aa-5276-9360-1e19d018b112/scratchpad/c/assets/i-users-b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0719" y="1709928"/>
            <a:ext cx="310896" cy="31089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9703979" y="1682496"/>
            <a:ext cx="1481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شرائح العملاء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11460175" y="229514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9703979" y="217627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شركات 50 إلى 250 موظفاً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11460175" y="266090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703979" y="254203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شركات ناشئة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11460175" y="302666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9703979" y="290779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بلا فريق FinOps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7289414" y="1554480"/>
            <a:ext cx="2167677" cy="1362456"/>
          </a:xfrm>
          <a:prstGeom prst="roundRect">
            <a:avLst>
              <a:gd name="adj" fmla="val 9396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29" name="Image 2" descr="/tmp/claude-0/-home-claude/750ff410-f4aa-5276-9360-1e19d018b112/scratchpad/c/assets/i-msg-b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3315" y="1709928"/>
            <a:ext cx="310896" cy="310896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7426574" y="1682496"/>
            <a:ext cx="1481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العلاقات مع العملاء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9182771" y="229514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26574" y="217627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تنبيهات واتساب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9182771" y="2624328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7426574" y="2505456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دعم بالعربي</a:t>
            </a:r>
            <a:endParaRPr lang="en-US" sz="1250" dirty="0"/>
          </a:p>
        </p:txBody>
      </p:sp>
      <p:sp>
        <p:nvSpPr>
          <p:cNvPr id="35" name="Shape 30"/>
          <p:cNvSpPr/>
          <p:nvPr/>
        </p:nvSpPr>
        <p:spPr>
          <a:xfrm>
            <a:off x="7289414" y="3026664"/>
            <a:ext cx="2167677" cy="1362456"/>
          </a:xfrm>
          <a:prstGeom prst="roundRect">
            <a:avLst>
              <a:gd name="adj" fmla="val 9396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36" name="Image 3" descr="/tmp/claude-0/-home-claude/750ff410-f4aa-5276-9360-1e19d018b112/scratchpad/c/assets/i-mega-b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3315" y="3182112"/>
            <a:ext cx="310896" cy="310896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7426574" y="3154680"/>
            <a:ext cx="1481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القنوات</a:t>
            </a:r>
            <a:endParaRPr lang="en-US" sz="1400" dirty="0"/>
          </a:p>
        </p:txBody>
      </p:sp>
      <p:sp>
        <p:nvSpPr>
          <p:cNvPr id="38" name="Shape 32"/>
          <p:cNvSpPr/>
          <p:nvPr/>
        </p:nvSpPr>
        <p:spPr>
          <a:xfrm>
            <a:off x="9182771" y="3767328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7426574" y="3648456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الموقع والفحص</a:t>
            </a:r>
            <a:endParaRPr lang="en-US" sz="1250" dirty="0"/>
          </a:p>
        </p:txBody>
      </p:sp>
      <p:sp>
        <p:nvSpPr>
          <p:cNvPr id="40" name="Shape 34"/>
          <p:cNvSpPr/>
          <p:nvPr/>
        </p:nvSpPr>
        <p:spPr>
          <a:xfrm>
            <a:off x="9182771" y="4096512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7426574" y="3977640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شركاء السحابة</a:t>
            </a:r>
            <a:endParaRPr lang="en-US" sz="1250" dirty="0"/>
          </a:p>
        </p:txBody>
      </p:sp>
      <p:sp>
        <p:nvSpPr>
          <p:cNvPr id="42" name="Shape 36"/>
          <p:cNvSpPr/>
          <p:nvPr/>
        </p:nvSpPr>
        <p:spPr>
          <a:xfrm>
            <a:off x="5012009" y="1554480"/>
            <a:ext cx="2167677" cy="2834640"/>
          </a:xfrm>
          <a:prstGeom prst="roundRect">
            <a:avLst>
              <a:gd name="adj" fmla="val 5906"/>
            </a:avLst>
          </a:prstGeom>
          <a:solidFill>
            <a:srgbClr val="8E2F3C"/>
          </a:solidFill>
          <a:ln/>
        </p:spPr>
      </p:sp>
      <p:pic>
        <p:nvPicPr>
          <p:cNvPr id="43" name="Image 4" descr="/tmp/claude-0/-home-claude/750ff410-f4aa-5276-9360-1e19d018b112/scratchpad/c/assets/i-gem-c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5910" y="1709928"/>
            <a:ext cx="310896" cy="310896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5149169" y="1682496"/>
            <a:ext cx="1481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القيم المقترحة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905366" y="2295144"/>
            <a:ext cx="82296" cy="82296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6" name="Text 39"/>
          <p:cNvSpPr txBox="1"/>
          <p:nvPr/>
        </p:nvSpPr>
        <p:spPr>
          <a:xfrm>
            <a:off x="5149169" y="217627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فاتورة سحابة أقل</a:t>
            </a:r>
            <a:endParaRPr lang="en-US" sz="1350" dirty="0"/>
          </a:p>
        </p:txBody>
      </p:sp>
      <p:sp>
        <p:nvSpPr>
          <p:cNvPr id="47" name="Shape 40"/>
          <p:cNvSpPr/>
          <p:nvPr/>
        </p:nvSpPr>
        <p:spPr>
          <a:xfrm>
            <a:off x="6905366" y="2660904"/>
            <a:ext cx="82296" cy="82296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8" name="Text 41"/>
          <p:cNvSpPr txBox="1"/>
          <p:nvPr/>
        </p:nvSpPr>
        <p:spPr>
          <a:xfrm>
            <a:off x="5149169" y="254203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قراءة فقط وآمن</a:t>
            </a:r>
            <a:endParaRPr lang="en-US" sz="1350" dirty="0"/>
          </a:p>
        </p:txBody>
      </p:sp>
      <p:sp>
        <p:nvSpPr>
          <p:cNvPr id="49" name="Shape 42"/>
          <p:cNvSpPr/>
          <p:nvPr/>
        </p:nvSpPr>
        <p:spPr>
          <a:xfrm>
            <a:off x="6905366" y="3026664"/>
            <a:ext cx="82296" cy="82296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50" name="Text 43"/>
          <p:cNvSpPr txBox="1"/>
          <p:nvPr/>
        </p:nvSpPr>
        <p:spPr>
          <a:xfrm>
            <a:off x="5149169" y="290779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تنفيذ بموافقتك</a:t>
            </a:r>
            <a:endParaRPr lang="en-US" sz="1350" dirty="0"/>
          </a:p>
        </p:txBody>
      </p:sp>
      <p:sp>
        <p:nvSpPr>
          <p:cNvPr id="51" name="Shape 44"/>
          <p:cNvSpPr/>
          <p:nvPr/>
        </p:nvSpPr>
        <p:spPr>
          <a:xfrm>
            <a:off x="6905366" y="3392424"/>
            <a:ext cx="82296" cy="82296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52" name="Text 45"/>
          <p:cNvSpPr txBox="1"/>
          <p:nvPr/>
        </p:nvSpPr>
        <p:spPr>
          <a:xfrm>
            <a:off x="5149169" y="327355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السحب المحلية والعالمية</a:t>
            </a:r>
            <a:endParaRPr lang="en-US" sz="1350" dirty="0"/>
          </a:p>
        </p:txBody>
      </p:sp>
      <p:sp>
        <p:nvSpPr>
          <p:cNvPr id="53" name="Shape 46"/>
          <p:cNvSpPr/>
          <p:nvPr/>
        </p:nvSpPr>
        <p:spPr>
          <a:xfrm>
            <a:off x="2734605" y="1554480"/>
            <a:ext cx="2167677" cy="1362456"/>
          </a:xfrm>
          <a:prstGeom prst="roundRect">
            <a:avLst>
              <a:gd name="adj" fmla="val 9396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54" name="Image 5" descr="/tmp/claude-0/-home-claude/750ff410-f4aa-5276-9360-1e19d018b112/scratchpad/c/assets/i-act-b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8505" y="1709928"/>
            <a:ext cx="310896" cy="310896"/>
          </a:xfrm>
          <a:prstGeom prst="rect">
            <a:avLst/>
          </a:prstGeom>
        </p:spPr>
      </p:pic>
      <p:sp>
        <p:nvSpPr>
          <p:cNvPr id="55" name="Text 47"/>
          <p:cNvSpPr txBox="1"/>
          <p:nvPr/>
        </p:nvSpPr>
        <p:spPr>
          <a:xfrm>
            <a:off x="2871765" y="1682496"/>
            <a:ext cx="1481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الأنشطة الرئيسية</a:t>
            </a:r>
            <a:endParaRPr lang="en-US" sz="1400" dirty="0"/>
          </a:p>
        </p:txBody>
      </p:sp>
      <p:sp>
        <p:nvSpPr>
          <p:cNvPr id="56" name="Shape 48"/>
          <p:cNvSpPr/>
          <p:nvPr/>
        </p:nvSpPr>
        <p:spPr>
          <a:xfrm>
            <a:off x="4627961" y="229514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57" name="Text 49"/>
          <p:cNvSpPr txBox="1"/>
          <p:nvPr/>
        </p:nvSpPr>
        <p:spPr>
          <a:xfrm>
            <a:off x="2871765" y="217627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كشف الهدر وتحليله</a:t>
            </a:r>
            <a:endParaRPr lang="en-US" sz="1250" dirty="0"/>
          </a:p>
        </p:txBody>
      </p:sp>
      <p:sp>
        <p:nvSpPr>
          <p:cNvPr id="58" name="Shape 50"/>
          <p:cNvSpPr/>
          <p:nvPr/>
        </p:nvSpPr>
        <p:spPr>
          <a:xfrm>
            <a:off x="4627961" y="2624328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59" name="Text 51"/>
          <p:cNvSpPr txBox="1"/>
          <p:nvPr/>
        </p:nvSpPr>
        <p:spPr>
          <a:xfrm>
            <a:off x="2871765" y="2505456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تطوير المنصة</a:t>
            </a:r>
            <a:endParaRPr lang="en-US" sz="1250" dirty="0"/>
          </a:p>
        </p:txBody>
      </p:sp>
      <p:sp>
        <p:nvSpPr>
          <p:cNvPr id="60" name="Shape 52"/>
          <p:cNvSpPr/>
          <p:nvPr/>
        </p:nvSpPr>
        <p:spPr>
          <a:xfrm>
            <a:off x="2734605" y="3026664"/>
            <a:ext cx="2167677" cy="1362456"/>
          </a:xfrm>
          <a:prstGeom prst="roundRect">
            <a:avLst>
              <a:gd name="adj" fmla="val 9396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61" name="Image 6" descr="/tmp/claude-0/-home-claude/750ff410-f4aa-5276-9360-1e19d018b112/scratchpad/c/assets/i-box-b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8505" y="3182112"/>
            <a:ext cx="310896" cy="310896"/>
          </a:xfrm>
          <a:prstGeom prst="rect">
            <a:avLst/>
          </a:prstGeom>
        </p:spPr>
      </p:pic>
      <p:sp>
        <p:nvSpPr>
          <p:cNvPr id="62" name="Text 53"/>
          <p:cNvSpPr txBox="1"/>
          <p:nvPr/>
        </p:nvSpPr>
        <p:spPr>
          <a:xfrm>
            <a:off x="2871765" y="3154680"/>
            <a:ext cx="1481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الموارد الرئيسية</a:t>
            </a:r>
            <a:endParaRPr lang="en-US" sz="1400" dirty="0"/>
          </a:p>
        </p:txBody>
      </p:sp>
      <p:sp>
        <p:nvSpPr>
          <p:cNvPr id="63" name="Shape 54"/>
          <p:cNvSpPr/>
          <p:nvPr/>
        </p:nvSpPr>
        <p:spPr>
          <a:xfrm>
            <a:off x="4627961" y="3767328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4" name="Text 55"/>
          <p:cNvSpPr txBox="1"/>
          <p:nvPr/>
        </p:nvSpPr>
        <p:spPr>
          <a:xfrm>
            <a:off x="2871765" y="3648456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نموذج الذكاء الاصطناعي</a:t>
            </a:r>
            <a:endParaRPr lang="en-US" sz="1250" dirty="0"/>
          </a:p>
        </p:txBody>
      </p:sp>
      <p:sp>
        <p:nvSpPr>
          <p:cNvPr id="65" name="Shape 56"/>
          <p:cNvSpPr/>
          <p:nvPr/>
        </p:nvSpPr>
        <p:spPr>
          <a:xfrm>
            <a:off x="4627961" y="4096512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6" name="Text 57"/>
          <p:cNvSpPr txBox="1"/>
          <p:nvPr/>
        </p:nvSpPr>
        <p:spPr>
          <a:xfrm>
            <a:off x="2871765" y="3977640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فريق تقني وFinOps</a:t>
            </a:r>
            <a:endParaRPr lang="en-US" sz="1250" dirty="0"/>
          </a:p>
        </p:txBody>
      </p:sp>
      <p:sp>
        <p:nvSpPr>
          <p:cNvPr id="67" name="Shape 58"/>
          <p:cNvSpPr/>
          <p:nvPr/>
        </p:nvSpPr>
        <p:spPr>
          <a:xfrm>
            <a:off x="457200" y="1554480"/>
            <a:ext cx="2167677" cy="2834640"/>
          </a:xfrm>
          <a:prstGeom prst="roundRect">
            <a:avLst>
              <a:gd name="adj" fmla="val 5906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68" name="Image 7" descr="/tmp/claude-0/-home-claude/750ff410-f4aa-5276-9360-1e19d018b112/scratchpad/c/assets/i-handshake-b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1101" y="1709928"/>
            <a:ext cx="310896" cy="310896"/>
          </a:xfrm>
          <a:prstGeom prst="rect">
            <a:avLst/>
          </a:prstGeom>
        </p:spPr>
      </p:pic>
      <p:sp>
        <p:nvSpPr>
          <p:cNvPr id="69" name="Text 59"/>
          <p:cNvSpPr txBox="1"/>
          <p:nvPr/>
        </p:nvSpPr>
        <p:spPr>
          <a:xfrm>
            <a:off x="594360" y="1682496"/>
            <a:ext cx="1481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الشراكات الرئيسية</a:t>
            </a:r>
            <a:endParaRPr lang="en-US" sz="1400" dirty="0"/>
          </a:p>
        </p:txBody>
      </p:sp>
      <p:sp>
        <p:nvSpPr>
          <p:cNvPr id="70" name="Shape 60"/>
          <p:cNvSpPr/>
          <p:nvPr/>
        </p:nvSpPr>
        <p:spPr>
          <a:xfrm>
            <a:off x="2350557" y="229514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71" name="Text 61"/>
          <p:cNvSpPr txBox="1"/>
          <p:nvPr/>
        </p:nvSpPr>
        <p:spPr>
          <a:xfrm>
            <a:off x="594360" y="217627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AWS وAzure وGCP</a:t>
            </a:r>
            <a:endParaRPr lang="en-US" sz="1350" dirty="0"/>
          </a:p>
        </p:txBody>
      </p:sp>
      <p:sp>
        <p:nvSpPr>
          <p:cNvPr id="72" name="Shape 62"/>
          <p:cNvSpPr/>
          <p:nvPr/>
        </p:nvSpPr>
        <p:spPr>
          <a:xfrm>
            <a:off x="2350557" y="266090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73" name="Text 63"/>
          <p:cNvSpPr txBox="1"/>
          <p:nvPr/>
        </p:nvSpPr>
        <p:spPr>
          <a:xfrm>
            <a:off x="594360" y="254203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STC وSCCC وCNTXT</a:t>
            </a:r>
            <a:endParaRPr lang="en-US" sz="1350" dirty="0"/>
          </a:p>
        </p:txBody>
      </p:sp>
      <p:sp>
        <p:nvSpPr>
          <p:cNvPr id="74" name="Shape 64"/>
          <p:cNvSpPr/>
          <p:nvPr/>
        </p:nvSpPr>
        <p:spPr>
          <a:xfrm>
            <a:off x="2350557" y="302666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75" name="Text 65"/>
          <p:cNvSpPr txBox="1"/>
          <p:nvPr/>
        </p:nvSpPr>
        <p:spPr>
          <a:xfrm>
            <a:off x="594360" y="290779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واتساب للأعمال</a:t>
            </a:r>
            <a:endParaRPr lang="en-US" sz="1350" dirty="0"/>
          </a:p>
        </p:txBody>
      </p:sp>
      <p:sp>
        <p:nvSpPr>
          <p:cNvPr id="76" name="Shape 66"/>
          <p:cNvSpPr/>
          <p:nvPr/>
        </p:nvSpPr>
        <p:spPr>
          <a:xfrm>
            <a:off x="6150712" y="4498848"/>
            <a:ext cx="5583784" cy="1600200"/>
          </a:xfrm>
          <a:prstGeom prst="roundRect">
            <a:avLst>
              <a:gd name="adj" fmla="val 8000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77" name="Image 8" descr="/tmp/claude-0/-home-claude/750ff410-f4aa-5276-9360-1e19d018b112/scratchpad/c/assets/i-coins-b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40719" y="4654296"/>
            <a:ext cx="310896" cy="310896"/>
          </a:xfrm>
          <a:prstGeom prst="rect">
            <a:avLst/>
          </a:prstGeom>
        </p:spPr>
      </p:pic>
      <p:sp>
        <p:nvSpPr>
          <p:cNvPr id="78" name="Text 67"/>
          <p:cNvSpPr txBox="1"/>
          <p:nvPr/>
        </p:nvSpPr>
        <p:spPr>
          <a:xfrm>
            <a:off x="6287872" y="4626864"/>
            <a:ext cx="489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مصادر الإيرادات</a:t>
            </a:r>
            <a:endParaRPr lang="en-US" sz="1400" dirty="0"/>
          </a:p>
        </p:txBody>
      </p:sp>
      <p:sp>
        <p:nvSpPr>
          <p:cNvPr id="79" name="Shape 68"/>
          <p:cNvSpPr/>
          <p:nvPr/>
        </p:nvSpPr>
        <p:spPr>
          <a:xfrm>
            <a:off x="11460175" y="5239512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0" name="Text 69"/>
          <p:cNvSpPr txBox="1"/>
          <p:nvPr/>
        </p:nvSpPr>
        <p:spPr>
          <a:xfrm>
            <a:off x="6287872" y="5120640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اشتراك SaaS مرن حسب حجم الفاتورة</a:t>
            </a:r>
            <a:endParaRPr lang="en-US" sz="1300" dirty="0"/>
          </a:p>
        </p:txBody>
      </p:sp>
      <p:sp>
        <p:nvSpPr>
          <p:cNvPr id="81" name="Shape 70"/>
          <p:cNvSpPr/>
          <p:nvPr/>
        </p:nvSpPr>
        <p:spPr>
          <a:xfrm>
            <a:off x="11460175" y="5568696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2" name="Text 71"/>
          <p:cNvSpPr txBox="1"/>
          <p:nvPr/>
        </p:nvSpPr>
        <p:spPr>
          <a:xfrm>
            <a:off x="6287872" y="5449824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أو نسبة من التوفير المحقق</a:t>
            </a:r>
            <a:endParaRPr lang="en-US" sz="1300" dirty="0"/>
          </a:p>
        </p:txBody>
      </p:sp>
      <p:sp>
        <p:nvSpPr>
          <p:cNvPr id="83" name="Shape 72"/>
          <p:cNvSpPr/>
          <p:nvPr/>
        </p:nvSpPr>
        <p:spPr>
          <a:xfrm>
            <a:off x="11460175" y="5897880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4" name="Text 73"/>
          <p:cNvSpPr txBox="1"/>
          <p:nvPr/>
        </p:nvSpPr>
        <p:spPr>
          <a:xfrm>
            <a:off x="6287872" y="5779008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فحص أول مجاني · استشارات FinOps</a:t>
            </a:r>
            <a:endParaRPr lang="en-US" sz="1300" dirty="0"/>
          </a:p>
        </p:txBody>
      </p:sp>
      <p:sp>
        <p:nvSpPr>
          <p:cNvPr id="85" name="Shape 74"/>
          <p:cNvSpPr/>
          <p:nvPr/>
        </p:nvSpPr>
        <p:spPr>
          <a:xfrm>
            <a:off x="457200" y="4498848"/>
            <a:ext cx="5583784" cy="1600200"/>
          </a:xfrm>
          <a:prstGeom prst="roundRect">
            <a:avLst>
              <a:gd name="adj" fmla="val 8000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86" name="Image 9" descr="/tmp/claude-0/-home-claude/750ff410-f4aa-5276-9360-1e19d018b112/scratchpad/c/assets/i-receipt-b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47208" y="4654296"/>
            <a:ext cx="310896" cy="310896"/>
          </a:xfrm>
          <a:prstGeom prst="rect">
            <a:avLst/>
          </a:prstGeom>
        </p:spPr>
      </p:pic>
      <p:sp>
        <p:nvSpPr>
          <p:cNvPr id="87" name="Text 75"/>
          <p:cNvSpPr txBox="1"/>
          <p:nvPr/>
        </p:nvSpPr>
        <p:spPr>
          <a:xfrm>
            <a:off x="594360" y="4626864"/>
            <a:ext cx="489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هيكل التكاليف</a:t>
            </a:r>
            <a:endParaRPr lang="en-US" sz="1400" dirty="0"/>
          </a:p>
        </p:txBody>
      </p:sp>
      <p:sp>
        <p:nvSpPr>
          <p:cNvPr id="88" name="Shape 76"/>
          <p:cNvSpPr/>
          <p:nvPr/>
        </p:nvSpPr>
        <p:spPr>
          <a:xfrm>
            <a:off x="5766664" y="5239512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9" name="Text 77"/>
          <p:cNvSpPr txBox="1"/>
          <p:nvPr/>
        </p:nvSpPr>
        <p:spPr>
          <a:xfrm>
            <a:off x="594360" y="5120640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الاستضافة والذكاء الاصطناعي</a:t>
            </a:r>
            <a:endParaRPr lang="en-US" sz="1350" dirty="0"/>
          </a:p>
        </p:txBody>
      </p:sp>
      <p:sp>
        <p:nvSpPr>
          <p:cNvPr id="90" name="Shape 78"/>
          <p:cNvSpPr/>
          <p:nvPr/>
        </p:nvSpPr>
        <p:spPr>
          <a:xfrm>
            <a:off x="5766664" y="5605272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91" name="Text 79"/>
          <p:cNvSpPr txBox="1"/>
          <p:nvPr/>
        </p:nvSpPr>
        <p:spPr>
          <a:xfrm>
            <a:off x="594360" y="5486400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الفريق والتطوير · التسويق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759391" y="987552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759391" y="98755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قابلية التنفيذ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07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172200" y="1691640"/>
            <a:ext cx="5562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كيف يمكن تنفيذ الحل في الوقت الحالي؟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6172200" y="2423160"/>
            <a:ext cx="5562295" cy="1005840"/>
          </a:xfrm>
          <a:prstGeom prst="roundRect">
            <a:avLst>
              <a:gd name="adj" fmla="val 14545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865815" y="26060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1E4DF"/>
          </a:solidFill>
          <a:ln/>
        </p:spPr>
      </p:sp>
      <p:pic>
        <p:nvPicPr>
          <p:cNvPr id="22" name="Image 1" descr="/tmp/claude-0/-home-claude/750ff410-f4aa-5276-9360-1e19d018b112/scratchpad/c/assets/i-plug-b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2697480"/>
            <a:ext cx="457200" cy="45720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446520" y="2423160"/>
            <a:ext cx="4236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ربط المنصة بحساب الشركة السحابي عبر API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172200" y="3611880"/>
            <a:ext cx="5562295" cy="1005840"/>
          </a:xfrm>
          <a:prstGeom prst="roundRect">
            <a:avLst>
              <a:gd name="adj" fmla="val 14545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0865815" y="37947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1E4DF"/>
          </a:solidFill>
          <a:ln/>
        </p:spPr>
      </p:sp>
      <p:pic>
        <p:nvPicPr>
          <p:cNvPr id="26" name="Image 2" descr="/tmp/claude-0/-home-claude/750ff410-f4aa-5276-9360-1e19d018b112/scratchpad/c/assets/i-bot-b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3886200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446520" y="3611880"/>
            <a:ext cx="4236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الذكاء الاصطناعي يحلل مخرجات الـ APIs ويطبّق قواعد FinOps القياسية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6172200" y="4800600"/>
            <a:ext cx="5562295" cy="1005840"/>
          </a:xfrm>
          <a:prstGeom prst="roundRect">
            <a:avLst>
              <a:gd name="adj" fmla="val 14545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0865815" y="49834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1E4DF"/>
          </a:solidFill>
          <a:ln/>
        </p:spPr>
      </p:sp>
      <p:pic>
        <p:nvPicPr>
          <p:cNvPr id="30" name="Image 3" descr="/tmp/claude-0/-home-claude/750ff410-f4aa-5276-9360-1e19d018b112/scratchpad/c/assets/i-check-b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7255" y="5074920"/>
            <a:ext cx="457200" cy="45720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446520" y="4800600"/>
            <a:ext cx="4236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زر تفاعلي بضغطة واحدة لإيقاف المورد أو تقليصه عبر API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457200" y="1691640"/>
            <a:ext cx="5257800" cy="4114800"/>
          </a:xfrm>
          <a:prstGeom prst="roundRect">
            <a:avLst>
              <a:gd name="adj" fmla="val 4444"/>
            </a:avLst>
          </a:prstGeom>
          <a:solidFill>
            <a:srgbClr val="8E2F3C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777240" y="19202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ما التقنيات المتوفرة لتنفيذه؟</a:t>
            </a:r>
            <a:endParaRPr lang="en-US" sz="2100" dirty="0"/>
          </a:p>
        </p:txBody>
      </p:sp>
      <p:sp>
        <p:nvSpPr>
          <p:cNvPr id="34" name="Shape 28"/>
          <p:cNvSpPr/>
          <p:nvPr/>
        </p:nvSpPr>
        <p:spPr>
          <a:xfrm>
            <a:off x="777240" y="2651760"/>
            <a:ext cx="4617720" cy="804672"/>
          </a:xfrm>
          <a:prstGeom prst="roundRect">
            <a:avLst>
              <a:gd name="adj" fmla="val 15909"/>
            </a:avLst>
          </a:prstGeom>
          <a:solidFill>
            <a:srgbClr val="FBF6EE"/>
          </a:solidFill>
          <a:ln/>
        </p:spPr>
      </p:sp>
      <p:pic>
        <p:nvPicPr>
          <p:cNvPr id="35" name="Image 4" descr="/tmp/claude-0/-home-claude/750ff410-f4aa-5276-9360-1e19d018b112/scratchpad/c/assets/i-cloud-b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825496"/>
            <a:ext cx="457200" cy="45720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005840" y="2651760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 APIs</a:t>
            </a:r>
            <a:endParaRPr lang="en-US" sz="1800" dirty="0"/>
          </a:p>
        </p:txBody>
      </p:sp>
      <p:sp>
        <p:nvSpPr>
          <p:cNvPr id="37" name="Shape 30"/>
          <p:cNvSpPr/>
          <p:nvPr/>
        </p:nvSpPr>
        <p:spPr>
          <a:xfrm>
            <a:off x="777240" y="3639312"/>
            <a:ext cx="4617720" cy="804672"/>
          </a:xfrm>
          <a:prstGeom prst="roundRect">
            <a:avLst>
              <a:gd name="adj" fmla="val 15909"/>
            </a:avLst>
          </a:prstGeom>
          <a:solidFill>
            <a:srgbClr val="FBF6EE"/>
          </a:solidFill>
          <a:ln/>
        </p:spPr>
      </p:sp>
      <p:pic>
        <p:nvPicPr>
          <p:cNvPr id="38" name="Image 5" descr="/tmp/claude-0/-home-claude/750ff410-f4aa-5276-9360-1e19d018b112/scratchpad/c/assets/i-brain-b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813048"/>
            <a:ext cx="457200" cy="45720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005840" y="3639312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AI Models</a:t>
            </a:r>
            <a:endParaRPr lang="en-US" sz="1800" dirty="0"/>
          </a:p>
        </p:txBody>
      </p:sp>
      <p:sp>
        <p:nvSpPr>
          <p:cNvPr id="40" name="Shape 32"/>
          <p:cNvSpPr/>
          <p:nvPr/>
        </p:nvSpPr>
        <p:spPr>
          <a:xfrm>
            <a:off x="777240" y="4626864"/>
            <a:ext cx="4617720" cy="804672"/>
          </a:xfrm>
          <a:prstGeom prst="roundRect">
            <a:avLst>
              <a:gd name="adj" fmla="val 15909"/>
            </a:avLst>
          </a:prstGeom>
          <a:solidFill>
            <a:srgbClr val="FBF6EE"/>
          </a:solidFill>
          <a:ln/>
        </p:spPr>
      </p:sp>
      <p:pic>
        <p:nvPicPr>
          <p:cNvPr id="41" name="Image 6" descr="/tmp/claude-0/-home-claude/750ff410-f4aa-5276-9360-1e19d018b112/scratchpad/c/assets/i-code-b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4800600"/>
            <a:ext cx="457200" cy="45720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005840" y="4626864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أدوات تطوير الواجهات والمواقع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759391" y="987552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759391" y="98755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النموذج الأولي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08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16002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لقطات تجريبية من الواجهات · MVP Design</a:t>
            </a:r>
            <a:endParaRPr lang="en-US" sz="3400" dirty="0"/>
          </a:p>
        </p:txBody>
      </p:sp>
      <p:pic>
        <p:nvPicPr>
          <p:cNvPr id="20" name="Image 1" descr="/tmp/claude-0/-home-claude/750ff410-f4aa-5276-9360-1e19d018b112/scratchpad/c/assets/m-lap-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655" y="2514600"/>
            <a:ext cx="5577840" cy="3420196"/>
          </a:xfrm>
          <a:prstGeom prst="rect">
            <a:avLst/>
          </a:prstGeom>
        </p:spPr>
      </p:pic>
      <p:pic>
        <p:nvPicPr>
          <p:cNvPr id="21" name="Image 2" descr="/tmp/claude-0/-home-claude/750ff410-f4aa-5276-9360-1e19d018b112/scratchpad/c/assets/m-ph-st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163" y="2697480"/>
            <a:ext cx="1569412" cy="324612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40080" y="2606040"/>
            <a:ext cx="2651760" cy="3246120"/>
          </a:xfrm>
          <a:prstGeom prst="roundRect">
            <a:avLst>
              <a:gd name="adj" fmla="val 6207"/>
            </a:avLst>
          </a:prstGeom>
          <a:solidFill>
            <a:srgbClr val="8E2F3C"/>
          </a:solidFill>
          <a:ln/>
        </p:spPr>
      </p:sp>
      <p:sp>
        <p:nvSpPr>
          <p:cNvPr id="23" name="Shape 18"/>
          <p:cNvSpPr/>
          <p:nvPr/>
        </p:nvSpPr>
        <p:spPr>
          <a:xfrm>
            <a:off x="822960" y="2788920"/>
            <a:ext cx="2286000" cy="2286000"/>
          </a:xfrm>
          <a:prstGeom prst="roundRect">
            <a:avLst>
              <a:gd name="adj" fmla="val 4800"/>
            </a:avLst>
          </a:prstGeom>
          <a:solidFill>
            <a:srgbClr val="FFFBF8"/>
          </a:solidFill>
          <a:ln/>
        </p:spPr>
      </p:sp>
      <p:pic>
        <p:nvPicPr>
          <p:cNvPr id="24" name="Image 3" descr="/tmp/claude-0/-home-claude/750ff410-f4aa-5276-9360-1e19d018b112/scratchpad/c/assets/q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80360"/>
            <a:ext cx="2103120" cy="21031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40080" y="5212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امسح وجرّب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8918143" y="987552"/>
            <a:ext cx="2816352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918143" y="98755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الأثر والقيمة المتوقعة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09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16002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أثر بالأرقام</a:t>
            </a:r>
            <a:endParaRPr lang="en-US" sz="3400" dirty="0"/>
          </a:p>
        </p:txBody>
      </p:sp>
      <p:sp>
        <p:nvSpPr>
          <p:cNvPr id="20" name="Shape 17"/>
          <p:cNvSpPr/>
          <p:nvPr/>
        </p:nvSpPr>
        <p:spPr>
          <a:xfrm>
            <a:off x="8188757" y="269748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21" name="Image 1" descr="/tmp/claude-0/-home-claude/750ff410-f4aa-5276-9360-1e19d018b112/scratchpad/c/assets/i-wallet-b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7306" y="2971800"/>
            <a:ext cx="548640" cy="54864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188757" y="356616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10.8%</a:t>
            </a:r>
            <a:endParaRPr lang="en-US" sz="5400" dirty="0"/>
          </a:p>
        </p:txBody>
      </p:sp>
      <p:sp>
        <p:nvSpPr>
          <p:cNvPr id="23" name="Text 19"/>
          <p:cNvSpPr txBox="1"/>
          <p:nvPr/>
        </p:nvSpPr>
        <p:spPr>
          <a:xfrm>
            <a:off x="8463077" y="448056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توفير من الفاتورة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4322978" y="269748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8E2F3C"/>
          </a:solidFill>
          <a:ln/>
        </p:spPr>
      </p:sp>
      <p:pic>
        <p:nvPicPr>
          <p:cNvPr id="25" name="Image 2" descr="/tmp/claude-0/-home-claude/750ff410-f4aa-5276-9360-1e19d018b112/scratchpad/c/assets/i-trend-c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2971800"/>
            <a:ext cx="548640" cy="54864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322978" y="356616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110K</a:t>
            </a:r>
            <a:endParaRPr lang="en-US" sz="5400" dirty="0"/>
          </a:p>
        </p:txBody>
      </p:sp>
      <p:sp>
        <p:nvSpPr>
          <p:cNvPr id="27" name="Text 22"/>
          <p:cNvSpPr txBox="1"/>
          <p:nvPr/>
        </p:nvSpPr>
        <p:spPr>
          <a:xfrm>
            <a:off x="4597298" y="448056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ريال سنوياً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457200" y="269748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29" name="Image 3" descr="/tmp/claude-0/-home-claude/750ff410-f4aa-5276-9360-1e19d018b112/scratchpad/c/assets/i-clock-b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749" y="2971800"/>
            <a:ext cx="548640" cy="54864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57200" y="356616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دقائق</a:t>
            </a:r>
            <a:endParaRPr lang="en-US" sz="5400" dirty="0"/>
          </a:p>
        </p:txBody>
      </p:sp>
      <p:sp>
        <p:nvSpPr>
          <p:cNvPr id="31" name="Text 25"/>
          <p:cNvSpPr txBox="1"/>
          <p:nvPr/>
        </p:nvSpPr>
        <p:spPr>
          <a:xfrm>
            <a:off x="731520" y="448056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بدل أسابيع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457200" y="53492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مثال: شركة افتراضية من 120 موظفاً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759391" y="987552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759391" y="98755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الخطوة التالية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10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16002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خطتنا القادمة</a:t>
            </a:r>
            <a:endParaRPr lang="en-US" sz="3400" dirty="0"/>
          </a:p>
        </p:txBody>
      </p:sp>
      <p:sp>
        <p:nvSpPr>
          <p:cNvPr id="20" name="Shape 17"/>
          <p:cNvSpPr/>
          <p:nvPr/>
        </p:nvSpPr>
        <p:spPr>
          <a:xfrm>
            <a:off x="8188757" y="2697480"/>
            <a:ext cx="3545738" cy="1920240"/>
          </a:xfrm>
          <a:prstGeom prst="roundRect">
            <a:avLst>
              <a:gd name="adj" fmla="val 9524"/>
            </a:avLst>
          </a:prstGeom>
          <a:solidFill>
            <a:srgbClr val="8E2F3C"/>
          </a:solidFill>
          <a:ln/>
        </p:spPr>
      </p:sp>
      <p:pic>
        <p:nvPicPr>
          <p:cNvPr id="21" name="Image 1" descr="/tmp/claude-0/-home-claude/750ff410-f4aa-5276-9360-1e19d018b112/scratchpad/c/assets/i-scale-c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8726" y="3017520"/>
            <a:ext cx="685800" cy="6858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188757" y="3886200"/>
            <a:ext cx="3545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مقارنة السحابات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4322978" y="2697480"/>
            <a:ext cx="3545738" cy="1920240"/>
          </a:xfrm>
          <a:prstGeom prst="roundRect">
            <a:avLst>
              <a:gd name="adj" fmla="val 9524"/>
            </a:avLst>
          </a:prstGeom>
          <a:solidFill>
            <a:srgbClr val="8E2F3C"/>
          </a:solidFill>
          <a:ln/>
        </p:spPr>
      </p:sp>
      <p:pic>
        <p:nvPicPr>
          <p:cNvPr id="24" name="Image 2" descr="/tmp/claude-0/-home-claude/750ff410-f4aa-5276-9360-1e19d018b112/scratchpad/c/assets/i-server-c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2948" y="3017520"/>
            <a:ext cx="685800" cy="6858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4322978" y="3886200"/>
            <a:ext cx="3545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البنية الهجينة</a:t>
            </a:r>
            <a:endParaRPr lang="en-US" sz="2200" dirty="0"/>
          </a:p>
        </p:txBody>
      </p:sp>
      <p:sp>
        <p:nvSpPr>
          <p:cNvPr id="26" name="Shape 21"/>
          <p:cNvSpPr/>
          <p:nvPr/>
        </p:nvSpPr>
        <p:spPr>
          <a:xfrm>
            <a:off x="457200" y="2697480"/>
            <a:ext cx="3545738" cy="1920240"/>
          </a:xfrm>
          <a:prstGeom prst="roundRect">
            <a:avLst>
              <a:gd name="adj" fmla="val 9524"/>
            </a:avLst>
          </a:prstGeom>
          <a:solidFill>
            <a:srgbClr val="8E2F3C"/>
          </a:solidFill>
          <a:ln/>
        </p:spPr>
      </p:sp>
      <p:pic>
        <p:nvPicPr>
          <p:cNvPr id="27" name="Image 3" descr="/tmp/claude-0/-home-claude/750ff410-f4aa-5276-9360-1e19d018b112/scratchpad/c/assets/i-bell-c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7169" y="3017520"/>
            <a:ext cx="685800" cy="6858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57200" y="3886200"/>
            <a:ext cx="3545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إنذار مبكر 24/7</a:t>
            </a:r>
            <a:endParaRPr lang="en-US" sz="2200" dirty="0"/>
          </a:p>
        </p:txBody>
      </p:sp>
      <p:sp>
        <p:nvSpPr>
          <p:cNvPr id="29" name="Text 23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نحتاج: توجيه خبراء · شريك سحابي محلي · 10 شركات للتجربة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0600639" y="987552"/>
            <a:ext cx="1133856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600639" y="98755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الختام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442655" y="1600200"/>
            <a:ext cx="3291840" cy="4069080"/>
          </a:xfrm>
          <a:prstGeom prst="roundRect">
            <a:avLst>
              <a:gd name="adj" fmla="val 5556"/>
            </a:avLst>
          </a:prstGeom>
          <a:solidFill>
            <a:srgbClr val="8E2F3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442655" y="1783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جرّب CloudTrim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8854135" y="2331720"/>
            <a:ext cx="2468880" cy="2468880"/>
          </a:xfrm>
          <a:prstGeom prst="roundRect">
            <a:avLst>
              <a:gd name="adj" fmla="val 5185"/>
            </a:avLst>
          </a:prstGeom>
          <a:solidFill>
            <a:srgbClr val="FFFBF8"/>
          </a:solidFill>
          <a:ln/>
        </p:spPr>
      </p:sp>
      <p:pic>
        <p:nvPicPr>
          <p:cNvPr id="22" name="Image 1" descr="/tmp/claude-0/-home-claude/750ff410-f4aa-5276-9360-1e19d018b112/scratchpad/c/assets/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295" y="2468880"/>
            <a:ext cx="2194560" cy="2194560"/>
          </a:xfrm>
          <a:prstGeom prst="rect">
            <a:avLst/>
          </a:prstGeom>
        </p:spPr>
      </p:pic>
      <p:sp>
        <p:nvSpPr>
          <p:cNvPr id="23" name="Text 19">
            <a:hlinkClick r:id="rId3" tooltip=""/>
          </p:cNvPr>
          <p:cNvSpPr txBox="1"/>
          <p:nvPr/>
        </p:nvSpPr>
        <p:spPr>
          <a:xfrm>
            <a:off x="8442655" y="50292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cloudtrim-sa.vercel.app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457200" y="2194560"/>
            <a:ext cx="75282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60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شكراً لكم</a:t>
            </a:r>
            <a:endParaRPr lang="en-US" sz="6000" dirty="0"/>
          </a:p>
        </p:txBody>
      </p:sp>
      <p:sp>
        <p:nvSpPr>
          <p:cNvPr id="25" name="Text 21"/>
          <p:cNvSpPr txBox="1"/>
          <p:nvPr/>
        </p:nvSpPr>
        <p:spPr>
          <a:xfrm>
            <a:off x="457200" y="3337560"/>
            <a:ext cx="7528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وفّر في سحابتك… والقرار بيدك.</a:t>
            </a:r>
            <a:endParaRPr lang="en-US" sz="2600" dirty="0"/>
          </a:p>
        </p:txBody>
      </p:sp>
      <p:sp>
        <p:nvSpPr>
          <p:cNvPr id="26" name="Text 22"/>
          <p:cNvSpPr txBox="1"/>
          <p:nvPr/>
        </p:nvSpPr>
        <p:spPr>
          <a:xfrm>
            <a:off x="457200" y="3886200"/>
            <a:ext cx="7528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Trim the cloud, keep the control.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 Arab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 Arab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CloudTrim</dc:title>
  <dc:subject>PptxGenJS Presentation</dc:subject>
  <dc:creator>CloudTrim</dc:creator>
  <cp:lastModifiedBy>CloudTrim</cp:lastModifiedBy>
  <cp:revision>1</cp:revision>
  <dcterms:created xsi:type="dcterms:W3CDTF">2026-10-17T07:10:21Z</dcterms:created>
  <dcterms:modified xsi:type="dcterms:W3CDTF">2026-10-17T07:10:21Z</dcterms:modified>
</cp:coreProperties>
</file>