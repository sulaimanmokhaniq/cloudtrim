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hyperlink" Target="https://cloudtrim-sa.vercel.app" TargetMode="External"/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6" Type="http://schemas.openxmlformats.org/officeDocument/2006/relationships/image" Target="../media/image-12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pic>
        <p:nvPicPr>
          <p:cNvPr id="10" name="Image 0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4459" y="274320"/>
            <a:ext cx="1700036" cy="7498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7200" y="1234440"/>
            <a:ext cx="5394960" cy="4526280"/>
          </a:xfrm>
          <a:prstGeom prst="roundRect">
            <a:avLst>
              <a:gd name="adj" fmla="val 4444"/>
            </a:avLst>
          </a:prstGeom>
          <a:solidFill>
            <a:srgbClr val="8E2F3C"/>
          </a:solidFill>
          <a:ln/>
        </p:spPr>
      </p:sp>
      <p:sp>
        <p:nvSpPr>
          <p:cNvPr id="12" name="Shape 9"/>
          <p:cNvSpPr/>
          <p:nvPr/>
        </p:nvSpPr>
        <p:spPr>
          <a:xfrm>
            <a:off x="914400" y="1691640"/>
            <a:ext cx="4480560" cy="3611880"/>
          </a:xfrm>
          <a:prstGeom prst="roundRect">
            <a:avLst>
              <a:gd name="adj" fmla="val 4051"/>
            </a:avLst>
          </a:prstGeom>
          <a:solidFill>
            <a:srgbClr val="FFFBF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8872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فاتورة السحابة الشهرية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325880" y="3108960"/>
            <a:ext cx="457200" cy="1463040"/>
          </a:xfrm>
          <a:prstGeom prst="rect">
            <a:avLst/>
          </a:prstGeom>
          <a:solidFill>
            <a:srgbClr val="8E2F3C"/>
          </a:solidFill>
          <a:ln/>
        </p:spPr>
      </p:sp>
      <p:sp>
        <p:nvSpPr>
          <p:cNvPr id="15" name="Shape 12"/>
          <p:cNvSpPr/>
          <p:nvPr/>
        </p:nvSpPr>
        <p:spPr>
          <a:xfrm>
            <a:off x="1325880" y="2377440"/>
            <a:ext cx="457200" cy="731520"/>
          </a:xfrm>
          <a:prstGeom prst="rect">
            <a:avLst/>
          </a:prstGeom>
          <a:ln w="12700">
            <a:solidFill>
              <a:srgbClr val="C9A46E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1984248" y="3182112"/>
            <a:ext cx="457200" cy="1389888"/>
          </a:xfrm>
          <a:prstGeom prst="rect">
            <a:avLst/>
          </a:prstGeom>
          <a:solidFill>
            <a:srgbClr val="8E2F3C"/>
          </a:solidFill>
          <a:ln/>
        </p:spPr>
      </p:sp>
      <p:sp>
        <p:nvSpPr>
          <p:cNvPr id="17" name="Shape 14"/>
          <p:cNvSpPr/>
          <p:nvPr/>
        </p:nvSpPr>
        <p:spPr>
          <a:xfrm>
            <a:off x="1984248" y="2377440"/>
            <a:ext cx="457200" cy="804672"/>
          </a:xfrm>
          <a:prstGeom prst="rect">
            <a:avLst/>
          </a:prstGeom>
          <a:ln w="12700">
            <a:solidFill>
              <a:srgbClr val="C9A46E"/>
            </a:solidFill>
            <a:prstDash val="dash"/>
          </a:ln>
        </p:spPr>
      </p:sp>
      <p:sp>
        <p:nvSpPr>
          <p:cNvPr id="18" name="Shape 15"/>
          <p:cNvSpPr/>
          <p:nvPr/>
        </p:nvSpPr>
        <p:spPr>
          <a:xfrm>
            <a:off x="2642616" y="3246120"/>
            <a:ext cx="457200" cy="1325880"/>
          </a:xfrm>
          <a:prstGeom prst="rect">
            <a:avLst/>
          </a:prstGeom>
          <a:solidFill>
            <a:srgbClr val="8E2F3C"/>
          </a:solidFill>
          <a:ln/>
        </p:spPr>
      </p:sp>
      <p:sp>
        <p:nvSpPr>
          <p:cNvPr id="19" name="Shape 16"/>
          <p:cNvSpPr/>
          <p:nvPr/>
        </p:nvSpPr>
        <p:spPr>
          <a:xfrm>
            <a:off x="2642616" y="2377440"/>
            <a:ext cx="457200" cy="868680"/>
          </a:xfrm>
          <a:prstGeom prst="rect">
            <a:avLst/>
          </a:prstGeom>
          <a:ln w="12700">
            <a:solidFill>
              <a:srgbClr val="C9A46E"/>
            </a:solidFill>
            <a:prstDash val="dash"/>
          </a:ln>
        </p:spPr>
      </p:sp>
      <p:sp>
        <p:nvSpPr>
          <p:cNvPr id="20" name="Shape 17"/>
          <p:cNvSpPr/>
          <p:nvPr/>
        </p:nvSpPr>
        <p:spPr>
          <a:xfrm>
            <a:off x="3300984" y="2423160"/>
            <a:ext cx="457200" cy="2148840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21" name="Shape 18"/>
          <p:cNvSpPr/>
          <p:nvPr/>
        </p:nvSpPr>
        <p:spPr>
          <a:xfrm>
            <a:off x="3959352" y="2331720"/>
            <a:ext cx="457200" cy="2240280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22" name="Shape 19"/>
          <p:cNvSpPr/>
          <p:nvPr/>
        </p:nvSpPr>
        <p:spPr>
          <a:xfrm>
            <a:off x="4617720" y="2240280"/>
            <a:ext cx="457200" cy="2331720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23" name="Shape 20"/>
          <p:cNvSpPr/>
          <p:nvPr/>
        </p:nvSpPr>
        <p:spPr>
          <a:xfrm>
            <a:off x="1188720" y="4572000"/>
            <a:ext cx="3931920" cy="0"/>
          </a:xfrm>
          <a:prstGeom prst="line">
            <a:avLst/>
          </a:prstGeom>
          <a:noFill/>
          <a:ln w="12700">
            <a:solidFill>
              <a:srgbClr val="E3D5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919472" y="4800600"/>
            <a:ext cx="128016" cy="12801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20624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قبل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3703320" y="4800600"/>
            <a:ext cx="128016" cy="128016"/>
          </a:xfrm>
          <a:prstGeom prst="rect">
            <a:avLst/>
          </a:prstGeom>
          <a:solidFill>
            <a:srgbClr val="8E2F3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377440" y="4736592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 CloudTrim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6400800" y="1417320"/>
            <a:ext cx="5333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مسار الحوسبة السحابية والبنية التحتية</a:t>
            </a:r>
            <a:endParaRPr lang="en-US" sz="1500" dirty="0"/>
          </a:p>
        </p:txBody>
      </p:sp>
      <p:pic>
        <p:nvPicPr>
          <p:cNvPr id="29" name="Image 1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5815" y="1901952"/>
            <a:ext cx="868680" cy="86868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400800" y="1847088"/>
            <a:ext cx="4282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5800" dirty="0"/>
          </a:p>
        </p:txBody>
      </p:sp>
      <p:sp>
        <p:nvSpPr>
          <p:cNvPr id="31" name="Text 27"/>
          <p:cNvSpPr txBox="1"/>
          <p:nvPr/>
        </p:nvSpPr>
        <p:spPr>
          <a:xfrm>
            <a:off x="6400800" y="2971800"/>
            <a:ext cx="53336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وفّر في سحابتك… والقرار بيدك.</a:t>
            </a:r>
            <a:endParaRPr lang="en-US" sz="3200" dirty="0"/>
          </a:p>
        </p:txBody>
      </p:sp>
      <p:sp>
        <p:nvSpPr>
          <p:cNvPr id="32" name="Text 28"/>
          <p:cNvSpPr txBox="1"/>
          <p:nvPr/>
        </p:nvSpPr>
        <p:spPr>
          <a:xfrm>
            <a:off x="6400800" y="3639312"/>
            <a:ext cx="5333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8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Trim the cloud, keep the control.</a:t>
            </a:r>
            <a:endParaRPr lang="en-US" sz="1800" dirty="0"/>
          </a:p>
        </p:txBody>
      </p:sp>
      <p:sp>
        <p:nvSpPr>
          <p:cNvPr id="33" name="Shape 29"/>
          <p:cNvSpPr/>
          <p:nvPr/>
        </p:nvSpPr>
        <p:spPr>
          <a:xfrm>
            <a:off x="10390327" y="4434840"/>
            <a:ext cx="1344168" cy="420624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34" name="Text 30"/>
          <p:cNvSpPr txBox="1"/>
          <p:nvPr/>
        </p:nvSpPr>
        <p:spPr>
          <a:xfrm>
            <a:off x="10390327" y="4434840"/>
            <a:ext cx="1344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فريق SSB</a:t>
            </a:r>
            <a:endParaRPr lang="en-US" sz="1400" dirty="0"/>
          </a:p>
        </p:txBody>
      </p:sp>
      <p:sp>
        <p:nvSpPr>
          <p:cNvPr id="35" name="Shape 31"/>
          <p:cNvSpPr/>
          <p:nvPr/>
        </p:nvSpPr>
        <p:spPr>
          <a:xfrm>
            <a:off x="8515807" y="4434840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36" name="Text 32"/>
          <p:cNvSpPr txBox="1"/>
          <p:nvPr/>
        </p:nvSpPr>
        <p:spPr>
          <a:xfrm>
            <a:off x="8515807" y="44348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</a:t>
            </a:r>
            <a:endParaRPr lang="en-US" sz="1400" dirty="0"/>
          </a:p>
        </p:txBody>
      </p:sp>
      <p:pic>
        <p:nvPicPr>
          <p:cNvPr id="37" name="Image 2" descr="/tmp/claude-0/-home-claude/750ff410-f4aa-5276-9360-1e19d018b112/scratchpad/c/assets/sponso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035040"/>
            <a:ext cx="4023360" cy="548640"/>
          </a:xfrm>
          <a:prstGeom prst="rect">
            <a:avLst/>
          </a:prstGeom>
        </p:spPr>
      </p:pic>
      <p:pic>
        <p:nvPicPr>
          <p:cNvPr id="38" name="Image 3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3910" y="5989320"/>
            <a:ext cx="1400585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707831" y="987552"/>
            <a:ext cx="302666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707831" y="987552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المقدمة والتعريف بالفريق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02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1463040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فريق SSB</a:t>
            </a:r>
            <a:endParaRPr lang="en-US" sz="3000" dirty="0"/>
          </a:p>
        </p:txBody>
      </p:sp>
      <p:sp>
        <p:nvSpPr>
          <p:cNvPr id="23" name="Shape 18"/>
          <p:cNvSpPr/>
          <p:nvPr/>
        </p:nvSpPr>
        <p:spPr>
          <a:xfrm>
            <a:off x="8336128" y="27432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4" name="Image 3" descr="صورة سلمان عبدالرحمن مشعل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668" y="3017520"/>
            <a:ext cx="1600200" cy="16002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51900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سلمان عبدالرحمن مشعل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8519008" y="5230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قائد الفريق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404208" y="27432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8" name="Image 4" descr="صورة سليمان ممدوح مخانق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95748" y="3017520"/>
            <a:ext cx="1600200" cy="160020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58708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سليمان ممدوح مخانق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4587088" y="5230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مطور الواجهات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472288" y="2743200"/>
            <a:ext cx="3383280" cy="3291840"/>
          </a:xfrm>
          <a:prstGeom prst="roundRect">
            <a:avLst>
              <a:gd name="adj" fmla="val 5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32" name="Image 5" descr="صورة بلال أنس زكار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3828" y="3017520"/>
            <a:ext cx="1600200" cy="16002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55168" y="4754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بلال أنس زكار</a:t>
            </a:r>
            <a:endParaRPr lang="en-US" sz="2000" dirty="0"/>
          </a:p>
        </p:txBody>
      </p:sp>
      <p:sp>
        <p:nvSpPr>
          <p:cNvPr id="34" name="Text 26"/>
          <p:cNvSpPr txBox="1"/>
          <p:nvPr/>
        </p:nvSpPr>
        <p:spPr>
          <a:xfrm>
            <a:off x="655168" y="523036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مطور الفكرة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654235" y="987552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654235" y="98755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المشكلة والتحدي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هدر صامت في فاتورة السحابة</a:t>
            </a:r>
            <a:endParaRPr lang="en-US" sz="3400" dirty="0"/>
          </a:p>
        </p:txBody>
      </p:sp>
      <p:sp>
        <p:nvSpPr>
          <p:cNvPr id="23" name="Shape 18"/>
          <p:cNvSpPr/>
          <p:nvPr/>
        </p:nvSpPr>
        <p:spPr>
          <a:xfrm>
            <a:off x="8188757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24" name="Image 3" descr="/tmp/claude-0/-home-claude/750ff410-f4aa-5276-9360-1e19d018b112/scratchpad/c/assets/i-wallet-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7306" y="301752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88757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29%</a:t>
            </a:r>
            <a:endParaRPr lang="en-US" sz="5400" dirty="0"/>
          </a:p>
        </p:txBody>
      </p:sp>
      <p:sp>
        <p:nvSpPr>
          <p:cNvPr id="26" name="Text 20"/>
          <p:cNvSpPr txBox="1"/>
          <p:nvPr/>
        </p:nvSpPr>
        <p:spPr>
          <a:xfrm>
            <a:off x="8463077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 الإنفاق مهدر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4322978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8" name="Image 4" descr="/tmp/claude-0/-home-claude/750ff410-f4aa-5276-9360-1e19d018b112/scratchpad/c/assets/i-trend-b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3017520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22978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17%</a:t>
            </a:r>
            <a:endParaRPr lang="en-US" sz="5400" dirty="0"/>
          </a:p>
        </p:txBody>
      </p:sp>
      <p:sp>
        <p:nvSpPr>
          <p:cNvPr id="30" name="Text 23"/>
          <p:cNvSpPr txBox="1"/>
          <p:nvPr/>
        </p:nvSpPr>
        <p:spPr>
          <a:xfrm>
            <a:off x="4597298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تجاوز للميزانية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457200" y="274320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32" name="Image 5" descr="/tmp/claude-0/-home-claude/750ff410-f4aa-5276-9360-1e19d018b112/scratchpad/c/assets/i-server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749" y="3017520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57200" y="361188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40%</a:t>
            </a:r>
            <a:endParaRPr lang="en-US" sz="5400" dirty="0"/>
          </a:p>
        </p:txBody>
      </p:sp>
      <p:sp>
        <p:nvSpPr>
          <p:cNvPr id="34" name="Text 26"/>
          <p:cNvSpPr txBox="1"/>
          <p:nvPr/>
        </p:nvSpPr>
        <p:spPr>
          <a:xfrm>
            <a:off x="731520" y="452628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أعطال سببها خطأ بشري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534924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والأدوات العالمية معقدة وباهظة ومصممة للمؤسسات الكبرى، بلا دعم محلي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598932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Flexera State of the Cloud 2026 · Uptime Institute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810951" y="987552"/>
            <a:ext cx="92354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0810951" y="987552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الحل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 يكتشف الهدر… وأنت تقرّر</a:t>
            </a:r>
            <a:endParaRPr lang="en-US" sz="3400" dirty="0"/>
          </a:p>
        </p:txBody>
      </p:sp>
      <p:sp>
        <p:nvSpPr>
          <p:cNvPr id="23" name="Shape 18"/>
          <p:cNvSpPr/>
          <p:nvPr/>
        </p:nvSpPr>
        <p:spPr>
          <a:xfrm>
            <a:off x="11167567" y="274320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11167567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6766560" y="265176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نربط حسابك السحابي بصلاحية قراءة فقط</a:t>
            </a:r>
            <a:endParaRPr lang="en-US" sz="2000" dirty="0"/>
          </a:p>
        </p:txBody>
      </p:sp>
      <p:sp>
        <p:nvSpPr>
          <p:cNvPr id="26" name="Shape 21"/>
          <p:cNvSpPr/>
          <p:nvPr/>
        </p:nvSpPr>
        <p:spPr>
          <a:xfrm>
            <a:off x="11167567" y="374904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11167567" y="3749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3"/>
          <p:cNvSpPr txBox="1"/>
          <p:nvPr/>
        </p:nvSpPr>
        <p:spPr>
          <a:xfrm>
            <a:off x="6766560" y="365760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الذكاء الاصطناعي يكتشف الهدر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11167567" y="4754880"/>
            <a:ext cx="566928" cy="566928"/>
          </a:xfrm>
          <a:prstGeom prst="ellipse">
            <a:avLst/>
          </a:prstGeom>
          <a:solidFill>
            <a:srgbClr val="8E2F3C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1167567" y="4754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3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6766560" y="4663440"/>
            <a:ext cx="419069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توصيات ذكية وتنفيذ بموافقة مسبقة</a:t>
            </a:r>
            <a:endParaRPr lang="en-US" sz="2000" dirty="0"/>
          </a:p>
        </p:txBody>
      </p:sp>
      <p:sp>
        <p:nvSpPr>
          <p:cNvPr id="32" name="Text 27"/>
          <p:cNvSpPr txBox="1"/>
          <p:nvPr/>
        </p:nvSpPr>
        <p:spPr>
          <a:xfrm>
            <a:off x="6766560" y="5321808"/>
            <a:ext cx="4190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 أتمتة مشروطة، لتفادي أخطاء الإنتاج</a:t>
            </a:r>
            <a:endParaRPr lang="en-US" sz="1500" dirty="0"/>
          </a:p>
        </p:txBody>
      </p:sp>
      <p:pic>
        <p:nvPicPr>
          <p:cNvPr id="33" name="Image 3" descr="/tmp/claude-0/-home-claude/750ff410-f4aa-5276-9360-1e19d018b112/scratchpad/c/assets/m-lap-dem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14600"/>
            <a:ext cx="5852160" cy="35884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285171" y="987552"/>
            <a:ext cx="144932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0285171" y="987552"/>
            <a:ext cx="14493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المنافسون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السحب في لوحة واحدة، بسعر يناسب الشركات المتوسطة</a:t>
            </a:r>
            <a:endParaRPr lang="en-US" sz="3400" dirty="0"/>
          </a:p>
        </p:txBody>
      </p:sp>
      <p:sp>
        <p:nvSpPr>
          <p:cNvPr id="23" name="Shape 18"/>
          <p:cNvSpPr/>
          <p:nvPr/>
        </p:nvSpPr>
        <p:spPr>
          <a:xfrm>
            <a:off x="6382512" y="2423160"/>
            <a:ext cx="2779776" cy="3337560"/>
          </a:xfrm>
          <a:prstGeom prst="roundRect">
            <a:avLst>
              <a:gd name="adj" fmla="val 4605"/>
            </a:avLst>
          </a:prstGeom>
          <a:solidFill>
            <a:srgbClr val="F1E4DF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6309360" y="2468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3383280" y="24871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أدوات المزودين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3383280" y="2816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AWS / Azure Cost Management</a:t>
            </a:r>
            <a:endParaRPr lang="en-US" sz="1050" dirty="0"/>
          </a:p>
        </p:txBody>
      </p:sp>
      <p:sp>
        <p:nvSpPr>
          <p:cNvPr id="27" name="Text 22"/>
          <p:cNvSpPr txBox="1"/>
          <p:nvPr/>
        </p:nvSpPr>
        <p:spPr>
          <a:xfrm>
            <a:off x="457200" y="24871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حلول المؤسسات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28163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STC Multi-Cloud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57200" y="320040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9418320" y="320040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الجمهور المستهدف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64008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الشركات الناشئة والمتوسطة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347472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مستخدمو سحابة واحدة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54864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المؤسسات والجهات الحكومية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457200" y="370332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9418320" y="370332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السحب المدعومة</a:t>
            </a:r>
            <a:endParaRPr lang="en-US" sz="1500" dirty="0"/>
          </a:p>
        </p:txBody>
      </p:sp>
      <p:sp>
        <p:nvSpPr>
          <p:cNvPr id="36" name="Text 31"/>
          <p:cNvSpPr txBox="1"/>
          <p:nvPr/>
        </p:nvSpPr>
        <p:spPr>
          <a:xfrm>
            <a:off x="640080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العالمية والمحلية معاً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347472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سحابة المزود فقط</a:t>
            </a:r>
            <a:endParaRPr lang="en-US" sz="1400" dirty="0"/>
          </a:p>
        </p:txBody>
      </p:sp>
      <p:sp>
        <p:nvSpPr>
          <p:cNvPr id="38" name="Text 33"/>
          <p:cNvSpPr txBox="1"/>
          <p:nvPr/>
        </p:nvSpPr>
        <p:spPr>
          <a:xfrm>
            <a:off x="548640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متعددة بعقد مؤسسي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457200" y="420624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9418320" y="420624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سرعة التفعيل</a:t>
            </a:r>
            <a:endParaRPr lang="en-US" sz="1500" dirty="0"/>
          </a:p>
        </p:txBody>
      </p:sp>
      <p:sp>
        <p:nvSpPr>
          <p:cNvPr id="41" name="Text 36"/>
          <p:cNvSpPr txBox="1"/>
          <p:nvPr/>
        </p:nvSpPr>
        <p:spPr>
          <a:xfrm>
            <a:off x="640080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ذاتي خلال دقائق</a:t>
            </a:r>
            <a:endParaRPr lang="en-US" sz="1500" dirty="0"/>
          </a:p>
        </p:txBody>
      </p:sp>
      <p:sp>
        <p:nvSpPr>
          <p:cNvPr id="42" name="Text 37"/>
          <p:cNvSpPr txBox="1"/>
          <p:nvPr/>
        </p:nvSpPr>
        <p:spPr>
          <a:xfrm>
            <a:off x="347472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إعداد هندسي معقد</a:t>
            </a:r>
            <a:endParaRPr lang="en-US" sz="1400" dirty="0"/>
          </a:p>
        </p:txBody>
      </p:sp>
      <p:sp>
        <p:nvSpPr>
          <p:cNvPr id="43" name="Text 38"/>
          <p:cNvSpPr txBox="1"/>
          <p:nvPr/>
        </p:nvSpPr>
        <p:spPr>
          <a:xfrm>
            <a:off x="548640" y="4206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عقود واجتماعات طويلة</a:t>
            </a:r>
            <a:endParaRPr lang="en-US" sz="1400" dirty="0"/>
          </a:p>
        </p:txBody>
      </p:sp>
      <p:sp>
        <p:nvSpPr>
          <p:cNvPr id="44" name="Shape 39"/>
          <p:cNvSpPr/>
          <p:nvPr/>
        </p:nvSpPr>
        <p:spPr>
          <a:xfrm>
            <a:off x="457200" y="470916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9418320" y="470916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التسعير</a:t>
            </a:r>
            <a:endParaRPr lang="en-US" sz="1500" dirty="0"/>
          </a:p>
        </p:txBody>
      </p:sp>
      <p:sp>
        <p:nvSpPr>
          <p:cNvPr id="46" name="Text 41"/>
          <p:cNvSpPr txBox="1"/>
          <p:nvPr/>
        </p:nvSpPr>
        <p:spPr>
          <a:xfrm>
            <a:off x="6400800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اشتراك SaaS مرن</a:t>
            </a:r>
            <a:endParaRPr lang="en-US" sz="1500" dirty="0"/>
          </a:p>
        </p:txBody>
      </p:sp>
      <p:sp>
        <p:nvSpPr>
          <p:cNvPr id="47" name="Text 42"/>
          <p:cNvSpPr txBox="1"/>
          <p:nvPr/>
        </p:nvSpPr>
        <p:spPr>
          <a:xfrm>
            <a:off x="3474720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مجاني ضمن السحابة</a:t>
            </a:r>
            <a:endParaRPr lang="en-US" sz="1400" dirty="0"/>
          </a:p>
        </p:txBody>
      </p:sp>
      <p:sp>
        <p:nvSpPr>
          <p:cNvPr id="48" name="Text 43"/>
          <p:cNvSpPr txBox="1"/>
          <p:nvPr/>
        </p:nvSpPr>
        <p:spPr>
          <a:xfrm>
            <a:off x="548640" y="4709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خدمات مدارة مكلفة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457200" y="5212080"/>
            <a:ext cx="11277295" cy="0"/>
          </a:xfrm>
          <a:prstGeom prst="line">
            <a:avLst/>
          </a:prstGeom>
          <a:noFill/>
          <a:ln w="9525">
            <a:solidFill>
              <a:srgbClr val="E3D5CC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9418320" y="5212080"/>
            <a:ext cx="2316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التركيز</a:t>
            </a:r>
            <a:endParaRPr lang="en-US" sz="1500" dirty="0"/>
          </a:p>
        </p:txBody>
      </p:sp>
      <p:sp>
        <p:nvSpPr>
          <p:cNvPr id="51" name="Text 46"/>
          <p:cNvSpPr txBox="1"/>
          <p:nvPr/>
        </p:nvSpPr>
        <p:spPr>
          <a:xfrm>
            <a:off x="640080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توفير فوري ومبسط</a:t>
            </a:r>
            <a:endParaRPr lang="en-US" sz="1500" dirty="0"/>
          </a:p>
        </p:txBody>
      </p:sp>
      <p:sp>
        <p:nvSpPr>
          <p:cNvPr id="52" name="Text 47"/>
          <p:cNvSpPr txBox="1"/>
          <p:nvPr/>
        </p:nvSpPr>
        <p:spPr>
          <a:xfrm>
            <a:off x="347472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أدوات لمهندسي البنية</a:t>
            </a:r>
            <a:endParaRPr lang="en-US" sz="1400" dirty="0"/>
          </a:p>
        </p:txBody>
      </p:sp>
      <p:sp>
        <p:nvSpPr>
          <p:cNvPr id="53" name="Text 48"/>
          <p:cNvSpPr txBox="1"/>
          <p:nvPr/>
        </p:nvSpPr>
        <p:spPr>
          <a:xfrm>
            <a:off x="548640" y="52120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4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البنية والسيادة</a:t>
            </a:r>
            <a:endParaRPr lang="en-US" sz="1400" dirty="0"/>
          </a:p>
        </p:txBody>
      </p:sp>
      <p:sp>
        <p:nvSpPr>
          <p:cNvPr id="54" name="Text 49"/>
          <p:cNvSpPr txBox="1"/>
          <p:nvPr/>
        </p:nvSpPr>
        <p:spPr>
          <a:xfrm>
            <a:off x="457200" y="587044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ميزتنا ليست تقنية مستحيلة، بل البساطة والسعر المرن، بلا عقود Enterprise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654235" y="987552"/>
            <a:ext cx="2080260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654235" y="987552"/>
            <a:ext cx="2080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الفئة المستهدفة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06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فاتورتها السحابية عشرات الآلاف شهرياً</a:t>
            </a:r>
            <a:endParaRPr lang="en-US" sz="3400" dirty="0"/>
          </a:p>
        </p:txBody>
      </p:sp>
      <p:sp>
        <p:nvSpPr>
          <p:cNvPr id="23" name="Text 18"/>
          <p:cNvSpPr txBox="1"/>
          <p:nvPr/>
        </p:nvSpPr>
        <p:spPr>
          <a:xfrm>
            <a:off x="457200" y="2331720"/>
            <a:ext cx="112772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50 إلى 250 موظفاً، وهدر مؤلم يجعل عائد الاشتراك واضحاً</a:t>
            </a:r>
            <a:endParaRPr lang="en-US" sz="1800" dirty="0"/>
          </a:p>
        </p:txBody>
      </p:sp>
      <p:sp>
        <p:nvSpPr>
          <p:cNvPr id="24" name="Shape 19"/>
          <p:cNvSpPr/>
          <p:nvPr/>
        </p:nvSpPr>
        <p:spPr>
          <a:xfrm>
            <a:off x="8188757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5" name="Image 3" descr="/tmp/claude-0/-home-claude/750ff410-f4aa-5276-9360-1e19d018b112/scratchpad/c/assets/i-building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7306" y="333756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188757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50-250</a:t>
            </a:r>
            <a:endParaRPr lang="en-US" sz="4600" dirty="0"/>
          </a:p>
        </p:txBody>
      </p:sp>
      <p:sp>
        <p:nvSpPr>
          <p:cNvPr id="27" name="Text 21"/>
          <p:cNvSpPr txBox="1"/>
          <p:nvPr/>
        </p:nvSpPr>
        <p:spPr>
          <a:xfrm>
            <a:off x="8463077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موظفاً</a:t>
            </a:r>
            <a:endParaRPr lang="en-US" sz="1800" dirty="0"/>
          </a:p>
        </p:txBody>
      </p:sp>
      <p:sp>
        <p:nvSpPr>
          <p:cNvPr id="28" name="Shape 22"/>
          <p:cNvSpPr/>
          <p:nvPr/>
        </p:nvSpPr>
        <p:spPr>
          <a:xfrm>
            <a:off x="4322978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9" name="Image 4" descr="/tmp/claude-0/-home-claude/750ff410-f4aa-5276-9360-1e19d018b112/scratchpad/c/assets/i-cloud-b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3337560"/>
            <a:ext cx="548640" cy="5486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322978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$5.1B</a:t>
            </a:r>
            <a:endParaRPr lang="en-US" sz="4600" dirty="0"/>
          </a:p>
        </p:txBody>
      </p:sp>
      <p:sp>
        <p:nvSpPr>
          <p:cNvPr id="31" name="Text 24"/>
          <p:cNvSpPr txBox="1"/>
          <p:nvPr/>
        </p:nvSpPr>
        <p:spPr>
          <a:xfrm>
            <a:off x="4597298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سوق السحابة السعودي 2025</a:t>
            </a:r>
            <a:endParaRPr lang="en-US" sz="1800" dirty="0"/>
          </a:p>
        </p:txBody>
      </p:sp>
      <p:sp>
        <p:nvSpPr>
          <p:cNvPr id="32" name="Shape 25"/>
          <p:cNvSpPr/>
          <p:nvPr/>
        </p:nvSpPr>
        <p:spPr>
          <a:xfrm>
            <a:off x="457200" y="306324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33" name="Image 5" descr="/tmp/claude-0/-home-claude/750ff410-f4aa-5276-9360-1e19d018b112/scratchpad/c/assets/i-trend-c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749" y="3337560"/>
            <a:ext cx="548640" cy="54864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457200" y="393192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$14.6B</a:t>
            </a:r>
            <a:endParaRPr lang="en-US" sz="4600" dirty="0"/>
          </a:p>
        </p:txBody>
      </p:sp>
      <p:sp>
        <p:nvSpPr>
          <p:cNvPr id="35" name="Text 27"/>
          <p:cNvSpPr txBox="1"/>
          <p:nvPr/>
        </p:nvSpPr>
        <p:spPr>
          <a:xfrm>
            <a:off x="731520" y="484632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المتوقع 2030</a:t>
            </a:r>
            <a:endParaRPr lang="en-US" sz="1800" dirty="0"/>
          </a:p>
        </p:txBody>
      </p:sp>
      <p:sp>
        <p:nvSpPr>
          <p:cNvPr id="36" name="Text 28"/>
          <p:cNvSpPr txBox="1"/>
          <p:nvPr/>
        </p:nvSpPr>
        <p:spPr>
          <a:xfrm>
            <a:off x="457200" y="5989320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MarketsandMarkets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074859" y="987552"/>
            <a:ext cx="1659636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0074859" y="987552"/>
            <a:ext cx="16596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العمل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07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566819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3" name="Image 3" descr="/tmp/claude-0/-home-claude/750ff410-f4aa-5276-9360-1e19d018b112/scratchpad/c/assets/i-users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0719" y="1709928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703979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شرائح العملاء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11460175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9703979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50 إلى 250 موظفاً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11460175" y="266090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703979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شركات ناشئة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11460175" y="302666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9703979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بلا فريق FinOps</a:t>
            </a:r>
            <a:endParaRPr lang="en-US" sz="1350" dirty="0"/>
          </a:p>
        </p:txBody>
      </p:sp>
      <p:sp>
        <p:nvSpPr>
          <p:cNvPr id="31" name="Shape 25"/>
          <p:cNvSpPr/>
          <p:nvPr/>
        </p:nvSpPr>
        <p:spPr>
          <a:xfrm>
            <a:off x="7289414" y="1554480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32" name="Image 4" descr="/tmp/claude-0/-home-claude/750ff410-f4aa-5276-9360-1e19d018b112/scratchpad/c/assets/i-msg-b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315" y="1709928"/>
            <a:ext cx="310896" cy="310896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426574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العلاقات مع العملاء</a:t>
            </a:r>
            <a:endParaRPr lang="en-US" sz="1400" dirty="0"/>
          </a:p>
        </p:txBody>
      </p:sp>
      <p:sp>
        <p:nvSpPr>
          <p:cNvPr id="34" name="Shape 27"/>
          <p:cNvSpPr/>
          <p:nvPr/>
        </p:nvSpPr>
        <p:spPr>
          <a:xfrm>
            <a:off x="9182771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7426574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تنبيهات واتساب</a:t>
            </a:r>
            <a:endParaRPr lang="en-US" sz="1250" dirty="0"/>
          </a:p>
        </p:txBody>
      </p:sp>
      <p:sp>
        <p:nvSpPr>
          <p:cNvPr id="36" name="Shape 29"/>
          <p:cNvSpPr/>
          <p:nvPr/>
        </p:nvSpPr>
        <p:spPr>
          <a:xfrm>
            <a:off x="9182771" y="2624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426574" y="2505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دعم بالعربي</a:t>
            </a:r>
            <a:endParaRPr lang="en-US" sz="1250" dirty="0"/>
          </a:p>
        </p:txBody>
      </p:sp>
      <p:sp>
        <p:nvSpPr>
          <p:cNvPr id="38" name="Shape 31"/>
          <p:cNvSpPr/>
          <p:nvPr/>
        </p:nvSpPr>
        <p:spPr>
          <a:xfrm>
            <a:off x="7289414" y="3026664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39" name="Image 5" descr="/tmp/claude-0/-home-claude/750ff410-f4aa-5276-9360-1e19d018b112/scratchpad/c/assets/i-mega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3315" y="3182112"/>
            <a:ext cx="310896" cy="310896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7426574" y="3154680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القنوات</a:t>
            </a:r>
            <a:endParaRPr lang="en-US" sz="1400" dirty="0"/>
          </a:p>
        </p:txBody>
      </p:sp>
      <p:sp>
        <p:nvSpPr>
          <p:cNvPr id="41" name="Shape 33"/>
          <p:cNvSpPr/>
          <p:nvPr/>
        </p:nvSpPr>
        <p:spPr>
          <a:xfrm>
            <a:off x="9182771" y="3767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42" name="Text 34"/>
          <p:cNvSpPr txBox="1"/>
          <p:nvPr/>
        </p:nvSpPr>
        <p:spPr>
          <a:xfrm>
            <a:off x="7426574" y="3648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الموقع والفحص</a:t>
            </a:r>
            <a:endParaRPr lang="en-US" sz="1250" dirty="0"/>
          </a:p>
        </p:txBody>
      </p:sp>
      <p:sp>
        <p:nvSpPr>
          <p:cNvPr id="43" name="Shape 35"/>
          <p:cNvSpPr/>
          <p:nvPr/>
        </p:nvSpPr>
        <p:spPr>
          <a:xfrm>
            <a:off x="9182771" y="4096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7426574" y="3977640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شركاء السحابة</a:t>
            </a:r>
            <a:endParaRPr lang="en-US" sz="1250" dirty="0"/>
          </a:p>
        </p:txBody>
      </p:sp>
      <p:sp>
        <p:nvSpPr>
          <p:cNvPr id="45" name="Shape 37"/>
          <p:cNvSpPr/>
          <p:nvPr/>
        </p:nvSpPr>
        <p:spPr>
          <a:xfrm>
            <a:off x="5012009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8E2F3C"/>
          </a:solidFill>
          <a:ln/>
        </p:spPr>
      </p:sp>
      <p:pic>
        <p:nvPicPr>
          <p:cNvPr id="46" name="Image 6" descr="/tmp/claude-0/-home-claude/750ff410-f4aa-5276-9360-1e19d018b112/scratchpad/c/assets/i-gem-c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5910" y="1709928"/>
            <a:ext cx="310896" cy="310896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5149169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القيم المقترحة</a:t>
            </a:r>
            <a:endParaRPr lang="en-US" sz="1400" dirty="0"/>
          </a:p>
        </p:txBody>
      </p:sp>
      <p:sp>
        <p:nvSpPr>
          <p:cNvPr id="48" name="Shape 39"/>
          <p:cNvSpPr/>
          <p:nvPr/>
        </p:nvSpPr>
        <p:spPr>
          <a:xfrm>
            <a:off x="6905366" y="229514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5149169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فاتورة سحابة أقل</a:t>
            </a:r>
            <a:endParaRPr lang="en-US" sz="1350" dirty="0"/>
          </a:p>
        </p:txBody>
      </p:sp>
      <p:sp>
        <p:nvSpPr>
          <p:cNvPr id="50" name="Shape 41"/>
          <p:cNvSpPr/>
          <p:nvPr/>
        </p:nvSpPr>
        <p:spPr>
          <a:xfrm>
            <a:off x="6905366" y="266090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51" name="Text 42"/>
          <p:cNvSpPr txBox="1"/>
          <p:nvPr/>
        </p:nvSpPr>
        <p:spPr>
          <a:xfrm>
            <a:off x="5149169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قراءة فقط وآمن</a:t>
            </a:r>
            <a:endParaRPr lang="en-US" sz="1350" dirty="0"/>
          </a:p>
        </p:txBody>
      </p:sp>
      <p:sp>
        <p:nvSpPr>
          <p:cNvPr id="52" name="Shape 43"/>
          <p:cNvSpPr/>
          <p:nvPr/>
        </p:nvSpPr>
        <p:spPr>
          <a:xfrm>
            <a:off x="6905366" y="302666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5149169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تنفيذ بموافقتك</a:t>
            </a:r>
            <a:endParaRPr lang="en-US" sz="1350" dirty="0"/>
          </a:p>
        </p:txBody>
      </p:sp>
      <p:sp>
        <p:nvSpPr>
          <p:cNvPr id="54" name="Shape 45"/>
          <p:cNvSpPr/>
          <p:nvPr/>
        </p:nvSpPr>
        <p:spPr>
          <a:xfrm>
            <a:off x="6905366" y="3392424"/>
            <a:ext cx="82296" cy="82296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5149169" y="327355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السحب المحلية والعالمية</a:t>
            </a:r>
            <a:endParaRPr lang="en-US" sz="1350" dirty="0"/>
          </a:p>
        </p:txBody>
      </p:sp>
      <p:sp>
        <p:nvSpPr>
          <p:cNvPr id="56" name="Shape 47"/>
          <p:cNvSpPr/>
          <p:nvPr/>
        </p:nvSpPr>
        <p:spPr>
          <a:xfrm>
            <a:off x="2734605" y="1554480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57" name="Image 7" descr="/tmp/claude-0/-home-claude/750ff410-f4aa-5276-9360-1e19d018b112/scratchpad/c/assets/i-act-b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8505" y="1709928"/>
            <a:ext cx="310896" cy="310896"/>
          </a:xfrm>
          <a:prstGeom prst="rect">
            <a:avLst/>
          </a:prstGeom>
        </p:spPr>
      </p:pic>
      <p:sp>
        <p:nvSpPr>
          <p:cNvPr id="58" name="Text 48"/>
          <p:cNvSpPr txBox="1"/>
          <p:nvPr/>
        </p:nvSpPr>
        <p:spPr>
          <a:xfrm>
            <a:off x="2871765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الأنشطة الرئيسية</a:t>
            </a:r>
            <a:endParaRPr lang="en-US" sz="1400" dirty="0"/>
          </a:p>
        </p:txBody>
      </p:sp>
      <p:sp>
        <p:nvSpPr>
          <p:cNvPr id="59" name="Shape 49"/>
          <p:cNvSpPr/>
          <p:nvPr/>
        </p:nvSpPr>
        <p:spPr>
          <a:xfrm>
            <a:off x="4627961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0" name="Text 50"/>
          <p:cNvSpPr txBox="1"/>
          <p:nvPr/>
        </p:nvSpPr>
        <p:spPr>
          <a:xfrm>
            <a:off x="2871765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كشف الهدر وتحليله</a:t>
            </a:r>
            <a:endParaRPr lang="en-US" sz="1250" dirty="0"/>
          </a:p>
        </p:txBody>
      </p:sp>
      <p:sp>
        <p:nvSpPr>
          <p:cNvPr id="61" name="Shape 51"/>
          <p:cNvSpPr/>
          <p:nvPr/>
        </p:nvSpPr>
        <p:spPr>
          <a:xfrm>
            <a:off x="4627961" y="2624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2" name="Text 52"/>
          <p:cNvSpPr txBox="1"/>
          <p:nvPr/>
        </p:nvSpPr>
        <p:spPr>
          <a:xfrm>
            <a:off x="2871765" y="2505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تطوير المنصة</a:t>
            </a:r>
            <a:endParaRPr lang="en-US" sz="1250" dirty="0"/>
          </a:p>
        </p:txBody>
      </p:sp>
      <p:sp>
        <p:nvSpPr>
          <p:cNvPr id="63" name="Shape 53"/>
          <p:cNvSpPr/>
          <p:nvPr/>
        </p:nvSpPr>
        <p:spPr>
          <a:xfrm>
            <a:off x="2734605" y="3026664"/>
            <a:ext cx="2167677" cy="1362456"/>
          </a:xfrm>
          <a:prstGeom prst="roundRect">
            <a:avLst>
              <a:gd name="adj" fmla="val 939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64" name="Image 8" descr="/tmp/claude-0/-home-claude/750ff410-f4aa-5276-9360-1e19d018b112/scratchpad/c/assets/i-box-b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08505" y="3182112"/>
            <a:ext cx="310896" cy="310896"/>
          </a:xfrm>
          <a:prstGeom prst="rect">
            <a:avLst/>
          </a:prstGeom>
        </p:spPr>
      </p:pic>
      <p:sp>
        <p:nvSpPr>
          <p:cNvPr id="65" name="Text 54"/>
          <p:cNvSpPr txBox="1"/>
          <p:nvPr/>
        </p:nvSpPr>
        <p:spPr>
          <a:xfrm>
            <a:off x="2871765" y="3154680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الموارد الرئيسية</a:t>
            </a:r>
            <a:endParaRPr lang="en-US" sz="1400" dirty="0"/>
          </a:p>
        </p:txBody>
      </p:sp>
      <p:sp>
        <p:nvSpPr>
          <p:cNvPr id="66" name="Shape 55"/>
          <p:cNvSpPr/>
          <p:nvPr/>
        </p:nvSpPr>
        <p:spPr>
          <a:xfrm>
            <a:off x="4627961" y="3767328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7" name="Text 56"/>
          <p:cNvSpPr txBox="1"/>
          <p:nvPr/>
        </p:nvSpPr>
        <p:spPr>
          <a:xfrm>
            <a:off x="2871765" y="3648456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نموذج الذكاء الاصطناعي</a:t>
            </a:r>
            <a:endParaRPr lang="en-US" sz="1250" dirty="0"/>
          </a:p>
        </p:txBody>
      </p:sp>
      <p:sp>
        <p:nvSpPr>
          <p:cNvPr id="68" name="Shape 57"/>
          <p:cNvSpPr/>
          <p:nvPr/>
        </p:nvSpPr>
        <p:spPr>
          <a:xfrm>
            <a:off x="4627961" y="4096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9" name="Text 58"/>
          <p:cNvSpPr txBox="1"/>
          <p:nvPr/>
        </p:nvSpPr>
        <p:spPr>
          <a:xfrm>
            <a:off x="2871765" y="3977640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فريق تقني وFinOps</a:t>
            </a:r>
            <a:endParaRPr lang="en-US" sz="1250" dirty="0"/>
          </a:p>
        </p:txBody>
      </p:sp>
      <p:sp>
        <p:nvSpPr>
          <p:cNvPr id="70" name="Shape 59"/>
          <p:cNvSpPr/>
          <p:nvPr/>
        </p:nvSpPr>
        <p:spPr>
          <a:xfrm>
            <a:off x="457200" y="1554480"/>
            <a:ext cx="2167677" cy="2834640"/>
          </a:xfrm>
          <a:prstGeom prst="roundRect">
            <a:avLst>
              <a:gd name="adj" fmla="val 5906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71" name="Image 9" descr="/tmp/claude-0/-home-claude/750ff410-f4aa-5276-9360-1e19d018b112/scratchpad/c/assets/i-handshake-b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1101" y="1709928"/>
            <a:ext cx="310896" cy="310896"/>
          </a:xfrm>
          <a:prstGeom prst="rect">
            <a:avLst/>
          </a:prstGeom>
        </p:spPr>
      </p:pic>
      <p:sp>
        <p:nvSpPr>
          <p:cNvPr id="72" name="Text 60"/>
          <p:cNvSpPr txBox="1"/>
          <p:nvPr/>
        </p:nvSpPr>
        <p:spPr>
          <a:xfrm>
            <a:off x="594360" y="1682496"/>
            <a:ext cx="148187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الشراكات الرئيسية</a:t>
            </a:r>
            <a:endParaRPr lang="en-US" sz="1400" dirty="0"/>
          </a:p>
        </p:txBody>
      </p:sp>
      <p:sp>
        <p:nvSpPr>
          <p:cNvPr id="73" name="Shape 61"/>
          <p:cNvSpPr/>
          <p:nvPr/>
        </p:nvSpPr>
        <p:spPr>
          <a:xfrm>
            <a:off x="2350557" y="229514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4" name="Text 62"/>
          <p:cNvSpPr txBox="1"/>
          <p:nvPr/>
        </p:nvSpPr>
        <p:spPr>
          <a:xfrm>
            <a:off x="594360" y="217627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AWS وAzure وGCP</a:t>
            </a:r>
            <a:endParaRPr lang="en-US" sz="1350" dirty="0"/>
          </a:p>
        </p:txBody>
      </p:sp>
      <p:sp>
        <p:nvSpPr>
          <p:cNvPr id="75" name="Shape 63"/>
          <p:cNvSpPr/>
          <p:nvPr/>
        </p:nvSpPr>
        <p:spPr>
          <a:xfrm>
            <a:off x="2350557" y="266090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6" name="Text 64"/>
          <p:cNvSpPr txBox="1"/>
          <p:nvPr/>
        </p:nvSpPr>
        <p:spPr>
          <a:xfrm>
            <a:off x="594360" y="254203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STC وSCCC وCNTXT</a:t>
            </a:r>
            <a:endParaRPr lang="en-US" sz="1350" dirty="0"/>
          </a:p>
        </p:txBody>
      </p:sp>
      <p:sp>
        <p:nvSpPr>
          <p:cNvPr id="77" name="Shape 65"/>
          <p:cNvSpPr/>
          <p:nvPr/>
        </p:nvSpPr>
        <p:spPr>
          <a:xfrm>
            <a:off x="2350557" y="3026664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78" name="Text 66"/>
          <p:cNvSpPr txBox="1"/>
          <p:nvPr/>
        </p:nvSpPr>
        <p:spPr>
          <a:xfrm>
            <a:off x="594360" y="2907792"/>
            <a:ext cx="166475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واتساب للأعمال</a:t>
            </a:r>
            <a:endParaRPr lang="en-US" sz="1350" dirty="0"/>
          </a:p>
        </p:txBody>
      </p:sp>
      <p:sp>
        <p:nvSpPr>
          <p:cNvPr id="79" name="Shape 67"/>
          <p:cNvSpPr/>
          <p:nvPr/>
        </p:nvSpPr>
        <p:spPr>
          <a:xfrm>
            <a:off x="6150712" y="4498848"/>
            <a:ext cx="5583784" cy="1600200"/>
          </a:xfrm>
          <a:prstGeom prst="roundRect">
            <a:avLst>
              <a:gd name="adj" fmla="val 8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80" name="Image 10" descr="/tmp/claude-0/-home-claude/750ff410-f4aa-5276-9360-1e19d018b112/scratchpad/c/assets/i-coins-br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40719" y="4654296"/>
            <a:ext cx="310896" cy="310896"/>
          </a:xfrm>
          <a:prstGeom prst="rect">
            <a:avLst/>
          </a:prstGeom>
        </p:spPr>
      </p:pic>
      <p:sp>
        <p:nvSpPr>
          <p:cNvPr id="81" name="Text 68"/>
          <p:cNvSpPr txBox="1"/>
          <p:nvPr/>
        </p:nvSpPr>
        <p:spPr>
          <a:xfrm>
            <a:off x="6287872" y="4626864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مصادر الإيرادات</a:t>
            </a:r>
            <a:endParaRPr lang="en-US" sz="1400" dirty="0"/>
          </a:p>
        </p:txBody>
      </p:sp>
      <p:sp>
        <p:nvSpPr>
          <p:cNvPr id="82" name="Shape 69"/>
          <p:cNvSpPr/>
          <p:nvPr/>
        </p:nvSpPr>
        <p:spPr>
          <a:xfrm>
            <a:off x="11460175" y="5239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3" name="Text 70"/>
          <p:cNvSpPr txBox="1"/>
          <p:nvPr/>
        </p:nvSpPr>
        <p:spPr>
          <a:xfrm>
            <a:off x="6287872" y="512064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اشتراك SaaS مرن حسب حجم الفاتورة</a:t>
            </a:r>
            <a:endParaRPr lang="en-US" sz="1300" dirty="0"/>
          </a:p>
        </p:txBody>
      </p:sp>
      <p:sp>
        <p:nvSpPr>
          <p:cNvPr id="84" name="Shape 71"/>
          <p:cNvSpPr/>
          <p:nvPr/>
        </p:nvSpPr>
        <p:spPr>
          <a:xfrm>
            <a:off x="11460175" y="5568696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5" name="Text 72"/>
          <p:cNvSpPr txBox="1"/>
          <p:nvPr/>
        </p:nvSpPr>
        <p:spPr>
          <a:xfrm>
            <a:off x="6287872" y="5449824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 نسبة من التوفير المحقق</a:t>
            </a:r>
            <a:endParaRPr lang="en-US" sz="1300" dirty="0"/>
          </a:p>
        </p:txBody>
      </p:sp>
      <p:sp>
        <p:nvSpPr>
          <p:cNvPr id="86" name="Shape 73"/>
          <p:cNvSpPr/>
          <p:nvPr/>
        </p:nvSpPr>
        <p:spPr>
          <a:xfrm>
            <a:off x="11460175" y="5897880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7" name="Text 74"/>
          <p:cNvSpPr txBox="1"/>
          <p:nvPr/>
        </p:nvSpPr>
        <p:spPr>
          <a:xfrm>
            <a:off x="6287872" y="5779008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فحص أول مجاني · استشارات FinOps</a:t>
            </a:r>
            <a:endParaRPr lang="en-US" sz="1300" dirty="0"/>
          </a:p>
        </p:txBody>
      </p:sp>
      <p:sp>
        <p:nvSpPr>
          <p:cNvPr id="88" name="Shape 75"/>
          <p:cNvSpPr/>
          <p:nvPr/>
        </p:nvSpPr>
        <p:spPr>
          <a:xfrm>
            <a:off x="457200" y="4498848"/>
            <a:ext cx="5583784" cy="1600200"/>
          </a:xfrm>
          <a:prstGeom prst="roundRect">
            <a:avLst>
              <a:gd name="adj" fmla="val 8000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89" name="Image 11" descr="/tmp/claude-0/-home-claude/750ff410-f4aa-5276-9360-1e19d018b112/scratchpad/c/assets/i-receipt-b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7208" y="4654296"/>
            <a:ext cx="310896" cy="310896"/>
          </a:xfrm>
          <a:prstGeom prst="rect">
            <a:avLst/>
          </a:prstGeom>
        </p:spPr>
      </p:pic>
      <p:sp>
        <p:nvSpPr>
          <p:cNvPr id="90" name="Text 76"/>
          <p:cNvSpPr txBox="1"/>
          <p:nvPr/>
        </p:nvSpPr>
        <p:spPr>
          <a:xfrm>
            <a:off x="594360" y="4626864"/>
            <a:ext cx="489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هيكل التكاليف</a:t>
            </a:r>
            <a:endParaRPr lang="en-US" sz="1400" dirty="0"/>
          </a:p>
        </p:txBody>
      </p:sp>
      <p:sp>
        <p:nvSpPr>
          <p:cNvPr id="91" name="Shape 77"/>
          <p:cNvSpPr/>
          <p:nvPr/>
        </p:nvSpPr>
        <p:spPr>
          <a:xfrm>
            <a:off x="5766664" y="523951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92" name="Text 78"/>
          <p:cNvSpPr txBox="1"/>
          <p:nvPr/>
        </p:nvSpPr>
        <p:spPr>
          <a:xfrm>
            <a:off x="594360" y="512064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الاستضافة والذكاء الاصطناعي</a:t>
            </a:r>
            <a:endParaRPr lang="en-US" sz="1350" dirty="0"/>
          </a:p>
        </p:txBody>
      </p:sp>
      <p:sp>
        <p:nvSpPr>
          <p:cNvPr id="93" name="Shape 79"/>
          <p:cNvSpPr/>
          <p:nvPr/>
        </p:nvSpPr>
        <p:spPr>
          <a:xfrm>
            <a:off x="5766664" y="5605272"/>
            <a:ext cx="82296" cy="82296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94" name="Text 80"/>
          <p:cNvSpPr txBox="1"/>
          <p:nvPr/>
        </p:nvSpPr>
        <p:spPr>
          <a:xfrm>
            <a:off x="594360" y="5486400"/>
            <a:ext cx="508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الفريق والتطوير · التسويق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قابلية التنفيذ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08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6172200" y="1691640"/>
            <a:ext cx="5562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يمكن تنفيذ الحل في الوقت الحالي؟</a:t>
            </a:r>
            <a:endParaRPr lang="en-US" sz="2100" dirty="0"/>
          </a:p>
        </p:txBody>
      </p:sp>
      <p:sp>
        <p:nvSpPr>
          <p:cNvPr id="23" name="Shape 18"/>
          <p:cNvSpPr/>
          <p:nvPr/>
        </p:nvSpPr>
        <p:spPr>
          <a:xfrm>
            <a:off x="6172200" y="242316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10865815" y="260604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25" name="Image 3" descr="/tmp/claude-0/-home-claude/750ff410-f4aa-5276-9360-1e19d018b112/scratchpad/c/assets/i-plug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69748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446520" y="242316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ربط المنصة بحساب الشركة السحابي عبر API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172200" y="361188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10865815" y="379476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29" name="Image 4" descr="/tmp/claude-0/-home-claude/750ff410-f4aa-5276-9360-1e19d018b112/scratchpad/c/assets/i-bot-b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7255" y="388620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446520" y="361188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الذكاء الاصطناعي يحلل مخرجات الـ APIs ويطبّق قواعد FinOps القياسية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6172200" y="4800600"/>
            <a:ext cx="5562295" cy="1005840"/>
          </a:xfrm>
          <a:prstGeom prst="roundRect">
            <a:avLst>
              <a:gd name="adj" fmla="val 14545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0865815" y="4983480"/>
            <a:ext cx="640080" cy="640080"/>
          </a:xfrm>
          <a:prstGeom prst="roundRect">
            <a:avLst>
              <a:gd name="adj" fmla="val 20000"/>
            </a:avLst>
          </a:prstGeom>
          <a:solidFill>
            <a:srgbClr val="F1E4DF"/>
          </a:solidFill>
          <a:ln/>
        </p:spPr>
      </p:sp>
      <p:pic>
        <p:nvPicPr>
          <p:cNvPr id="33" name="Image 5" descr="/tmp/claude-0/-home-claude/750ff410-f4aa-5276-9360-1e19d018b112/scratchpad/c/assets/i-check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57255" y="5074920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446520" y="4800600"/>
            <a:ext cx="4236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زر تفاعلي بضغطة واحدة لإيقاف المورد أو تقليصه عبر API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457200" y="1691640"/>
            <a:ext cx="5257800" cy="4114800"/>
          </a:xfrm>
          <a:prstGeom prst="roundRect">
            <a:avLst>
              <a:gd name="adj" fmla="val 4444"/>
            </a:avLst>
          </a:prstGeom>
          <a:solidFill>
            <a:srgbClr val="8E2F3C"/>
          </a:solidFill>
          <a:ln/>
        </p:spPr>
      </p:sp>
      <p:sp>
        <p:nvSpPr>
          <p:cNvPr id="36" name="Text 28"/>
          <p:cNvSpPr txBox="1"/>
          <p:nvPr/>
        </p:nvSpPr>
        <p:spPr>
          <a:xfrm>
            <a:off x="777240" y="1920240"/>
            <a:ext cx="4617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1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التقنيات المتوفرة لتنفيذه؟</a:t>
            </a:r>
            <a:endParaRPr lang="en-US" sz="2100" dirty="0"/>
          </a:p>
        </p:txBody>
      </p:sp>
      <p:sp>
        <p:nvSpPr>
          <p:cNvPr id="37" name="Shape 29"/>
          <p:cNvSpPr/>
          <p:nvPr/>
        </p:nvSpPr>
        <p:spPr>
          <a:xfrm>
            <a:off x="777240" y="2651760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38" name="Image 6" descr="/tmp/claude-0/-home-claude/750ff410-f4aa-5276-9360-1e19d018b112/scratchpad/c/assets/i-cloud-b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825496"/>
            <a:ext cx="457200" cy="457200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1005840" y="265176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 APIs</a:t>
            </a:r>
            <a:endParaRPr lang="en-US" sz="1800" dirty="0"/>
          </a:p>
        </p:txBody>
      </p:sp>
      <p:sp>
        <p:nvSpPr>
          <p:cNvPr id="40" name="Shape 31"/>
          <p:cNvSpPr/>
          <p:nvPr/>
        </p:nvSpPr>
        <p:spPr>
          <a:xfrm>
            <a:off x="777240" y="3639312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41" name="Image 7" descr="/tmp/claude-0/-home-claude/750ff410-f4aa-5276-9360-1e19d018b112/scratchpad/c/assets/i-brain-b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813048"/>
            <a:ext cx="457200" cy="457200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1005840" y="3639312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AI Models</a:t>
            </a:r>
            <a:endParaRPr lang="en-US" sz="1800" dirty="0"/>
          </a:p>
        </p:txBody>
      </p:sp>
      <p:sp>
        <p:nvSpPr>
          <p:cNvPr id="43" name="Shape 33"/>
          <p:cNvSpPr/>
          <p:nvPr/>
        </p:nvSpPr>
        <p:spPr>
          <a:xfrm>
            <a:off x="777240" y="4626864"/>
            <a:ext cx="4617720" cy="804672"/>
          </a:xfrm>
          <a:prstGeom prst="roundRect">
            <a:avLst>
              <a:gd name="adj" fmla="val 15909"/>
            </a:avLst>
          </a:prstGeom>
          <a:solidFill>
            <a:srgbClr val="FBF6EE"/>
          </a:solidFill>
          <a:ln/>
        </p:spPr>
      </p:sp>
      <p:pic>
        <p:nvPicPr>
          <p:cNvPr id="44" name="Image 8" descr="/tmp/claude-0/-home-claude/750ff410-f4aa-5276-9360-1e19d018b112/scratchpad/c/assets/i-code-b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4880" y="4800600"/>
            <a:ext cx="457200" cy="457200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1005840" y="4626864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أدوات تطوير الواجهات والمواقع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النموذج الأولي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09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لقطات تجريبية من الواجهات · MVP Design</a:t>
            </a:r>
            <a:endParaRPr lang="en-US" sz="3400" dirty="0"/>
          </a:p>
        </p:txBody>
      </p:sp>
      <p:pic>
        <p:nvPicPr>
          <p:cNvPr id="23" name="Image 3" descr="/tmp/claude-0/-home-claude/750ff410-f4aa-5276-9360-1e19d018b112/scratchpad/c/assets/m-lap-her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6655" y="2514600"/>
            <a:ext cx="5577840" cy="3420196"/>
          </a:xfrm>
          <a:prstGeom prst="rect">
            <a:avLst/>
          </a:prstGeom>
        </p:spPr>
      </p:pic>
      <p:pic>
        <p:nvPicPr>
          <p:cNvPr id="24" name="Image 4" descr="/tmp/claude-0/-home-claude/750ff410-f4aa-5276-9360-1e19d018b112/scratchpad/c/assets/m-ph-st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90163" y="2697480"/>
            <a:ext cx="1569412" cy="324612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640080" y="2606040"/>
            <a:ext cx="2651760" cy="3246120"/>
          </a:xfrm>
          <a:prstGeom prst="roundRect">
            <a:avLst>
              <a:gd name="adj" fmla="val 6207"/>
            </a:avLst>
          </a:prstGeom>
          <a:solidFill>
            <a:srgbClr val="8E2F3C"/>
          </a:solidFill>
          <a:ln/>
        </p:spPr>
      </p:sp>
      <p:sp>
        <p:nvSpPr>
          <p:cNvPr id="26" name="Shape 19"/>
          <p:cNvSpPr/>
          <p:nvPr/>
        </p:nvSpPr>
        <p:spPr>
          <a:xfrm>
            <a:off x="822960" y="2788920"/>
            <a:ext cx="2286000" cy="2286000"/>
          </a:xfrm>
          <a:prstGeom prst="roundRect">
            <a:avLst>
              <a:gd name="adj" fmla="val 4800"/>
            </a:avLst>
          </a:prstGeom>
          <a:solidFill>
            <a:srgbClr val="FFFBF8"/>
          </a:solidFill>
          <a:ln/>
        </p:spPr>
      </p:sp>
      <p:pic>
        <p:nvPicPr>
          <p:cNvPr id="27" name="Image 5" descr="/tmp/claude-0/-home-claude/750ff410-f4aa-5276-9360-1e19d018b112/scratchpad/c/assets/q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2880360"/>
            <a:ext cx="2103120" cy="21031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40080" y="5212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6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وجرّب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8918143" y="987552"/>
            <a:ext cx="2816352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918143" y="987552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الأثر والقيمة المتوقعة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أثر بالأرقام</a:t>
            </a:r>
            <a:endParaRPr lang="en-US" sz="3400" dirty="0"/>
          </a:p>
        </p:txBody>
      </p:sp>
      <p:sp>
        <p:nvSpPr>
          <p:cNvPr id="23" name="Shape 18"/>
          <p:cNvSpPr/>
          <p:nvPr/>
        </p:nvSpPr>
        <p:spPr>
          <a:xfrm>
            <a:off x="8188757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24" name="Image 3" descr="/tmp/claude-0/-home-claude/750ff410-f4aa-5276-9360-1e19d018b112/scratchpad/c/assets/i-wallet-b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7306" y="2971800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88757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10.8%</a:t>
            </a:r>
            <a:endParaRPr lang="en-US" sz="5400" dirty="0"/>
          </a:p>
        </p:txBody>
      </p:sp>
      <p:sp>
        <p:nvSpPr>
          <p:cNvPr id="26" name="Text 20"/>
          <p:cNvSpPr txBox="1"/>
          <p:nvPr/>
        </p:nvSpPr>
        <p:spPr>
          <a:xfrm>
            <a:off x="8463077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توفير من الفاتورة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4322978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8E2F3C"/>
          </a:solidFill>
          <a:ln/>
        </p:spPr>
      </p:sp>
      <p:pic>
        <p:nvPicPr>
          <p:cNvPr id="28" name="Image 4" descr="/tmp/claude-0/-home-claude/750ff410-f4aa-5276-9360-1e19d018b112/scratchpad/c/assets/i-trend-c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1528" y="2971800"/>
            <a:ext cx="548640" cy="54864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322978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110K</a:t>
            </a:r>
            <a:endParaRPr lang="en-US" sz="5400" dirty="0"/>
          </a:p>
        </p:txBody>
      </p:sp>
      <p:sp>
        <p:nvSpPr>
          <p:cNvPr id="30" name="Text 23"/>
          <p:cNvSpPr txBox="1"/>
          <p:nvPr/>
        </p:nvSpPr>
        <p:spPr>
          <a:xfrm>
            <a:off x="4597298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ريال سنوياً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457200" y="2697480"/>
            <a:ext cx="3545738" cy="2377440"/>
          </a:xfrm>
          <a:prstGeom prst="roundRect">
            <a:avLst>
              <a:gd name="adj" fmla="val 7692"/>
            </a:avLst>
          </a:prstGeom>
          <a:solidFill>
            <a:srgbClr val="FFFBF8"/>
          </a:solidFill>
          <a:ln w="9525">
            <a:solidFill>
              <a:srgbClr val="E3D5CC"/>
            </a:solidFill>
            <a:prstDash val="solid"/>
          </a:ln>
        </p:spPr>
      </p:sp>
      <p:pic>
        <p:nvPicPr>
          <p:cNvPr id="32" name="Image 5" descr="/tmp/claude-0/-home-claude/750ff410-f4aa-5276-9360-1e19d018b112/scratchpad/c/assets/i-clock-b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55749" y="2971800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457200" y="3566160"/>
            <a:ext cx="354573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دقائق</a:t>
            </a:r>
            <a:endParaRPr lang="en-US" sz="5400" dirty="0"/>
          </a:p>
        </p:txBody>
      </p:sp>
      <p:sp>
        <p:nvSpPr>
          <p:cNvPr id="34" name="Text 26"/>
          <p:cNvSpPr txBox="1"/>
          <p:nvPr/>
        </p:nvSpPr>
        <p:spPr>
          <a:xfrm>
            <a:off x="731520" y="4480560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بدل أسابيع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534924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مثال: شركة افتراضية من 120 موظفاً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9759391" y="987552"/>
            <a:ext cx="1975104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9759391" y="987552"/>
            <a:ext cx="1975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الخطوة التالية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11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1600200"/>
            <a:ext cx="11277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4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بعد التحدي</a:t>
            </a:r>
            <a:endParaRPr lang="en-US" sz="3400" dirty="0"/>
          </a:p>
        </p:txBody>
      </p:sp>
      <p:sp>
        <p:nvSpPr>
          <p:cNvPr id="23" name="Shape 18"/>
          <p:cNvSpPr/>
          <p:nvPr/>
        </p:nvSpPr>
        <p:spPr>
          <a:xfrm>
            <a:off x="8188757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4" name="Image 3" descr="/tmp/claude-0/-home-claude/750ff410-f4aa-5276-9360-1e19d018b112/scratchpad/c/assets/i-scale-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8726" y="3017520"/>
            <a:ext cx="685800" cy="6858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8188757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مقارنة السحابات</a:t>
            </a:r>
            <a:endParaRPr lang="en-US" sz="2200" dirty="0"/>
          </a:p>
        </p:txBody>
      </p:sp>
      <p:sp>
        <p:nvSpPr>
          <p:cNvPr id="26" name="Shape 20"/>
          <p:cNvSpPr/>
          <p:nvPr/>
        </p:nvSpPr>
        <p:spPr>
          <a:xfrm>
            <a:off x="4322978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27" name="Image 4" descr="/tmp/claude-0/-home-claude/750ff410-f4aa-5276-9360-1e19d018b112/scratchpad/c/assets/i-server-c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948" y="3017520"/>
            <a:ext cx="685800" cy="68580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322978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البنية الهجينة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457200" y="2697480"/>
            <a:ext cx="3545738" cy="1920240"/>
          </a:xfrm>
          <a:prstGeom prst="roundRect">
            <a:avLst>
              <a:gd name="adj" fmla="val 9524"/>
            </a:avLst>
          </a:prstGeom>
          <a:solidFill>
            <a:srgbClr val="8E2F3C"/>
          </a:solidFill>
          <a:ln/>
        </p:spPr>
      </p:sp>
      <p:pic>
        <p:nvPicPr>
          <p:cNvPr id="30" name="Image 5" descr="/tmp/claude-0/-home-claude/750ff410-f4aa-5276-9360-1e19d018b112/scratchpad/c/assets/i-bell-c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7169" y="3017520"/>
            <a:ext cx="685800" cy="6858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57200" y="3886200"/>
            <a:ext cx="35457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إنذار مبكر 24/7</a:t>
            </a:r>
            <a:endParaRPr lang="en-US" sz="22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نحتاج: توجيه خبراء · شريك سحابي محلي · 10 شركات للتجربة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17520" y="384048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3" name="Shape 1"/>
          <p:cNvSpPr/>
          <p:nvPr/>
        </p:nvSpPr>
        <p:spPr>
          <a:xfrm>
            <a:off x="3429000" y="658368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329184"/>
            <a:ext cx="82296" cy="82296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5" name="Shape 3"/>
          <p:cNvSpPr/>
          <p:nvPr/>
        </p:nvSpPr>
        <p:spPr>
          <a:xfrm>
            <a:off x="4937760" y="603504"/>
            <a:ext cx="54864" cy="5486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6" name="Shape 4"/>
          <p:cNvSpPr/>
          <p:nvPr/>
        </p:nvSpPr>
        <p:spPr>
          <a:xfrm>
            <a:off x="7223760" y="365760"/>
            <a:ext cx="73152" cy="73152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0" y="640080"/>
            <a:ext cx="100584" cy="100584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0" y="329184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566928"/>
            <a:ext cx="73152" cy="73152"/>
          </a:xfrm>
          <a:prstGeom prst="rect">
            <a:avLst/>
          </a:prstGeom>
          <a:solidFill>
            <a:srgbClr val="E3D5CC"/>
          </a:solidFill>
          <a:ln/>
        </p:spPr>
      </p:sp>
      <p:sp>
        <p:nvSpPr>
          <p:cNvPr id="10" name="Shape 8"/>
          <p:cNvSpPr/>
          <p:nvPr/>
        </p:nvSpPr>
        <p:spPr>
          <a:xfrm>
            <a:off x="2194560" y="6473952"/>
            <a:ext cx="64008" cy="64008"/>
          </a:xfrm>
          <a:prstGeom prst="rect">
            <a:avLst/>
          </a:prstGeom>
          <a:solidFill>
            <a:srgbClr val="C9A46E"/>
          </a:solidFill>
          <a:ln/>
        </p:spPr>
      </p:sp>
      <p:sp>
        <p:nvSpPr>
          <p:cNvPr id="11" name="Shape 9"/>
          <p:cNvSpPr/>
          <p:nvPr/>
        </p:nvSpPr>
        <p:spPr>
          <a:xfrm>
            <a:off x="4480560" y="6547104"/>
            <a:ext cx="45720" cy="45720"/>
          </a:xfrm>
          <a:prstGeom prst="rect">
            <a:avLst/>
          </a:prstGeom>
          <a:solidFill>
            <a:srgbClr val="D48A93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0" y="6492240"/>
            <a:ext cx="54864" cy="54864"/>
          </a:xfrm>
          <a:prstGeom prst="rect">
            <a:avLst/>
          </a:prstGeom>
          <a:solidFill>
            <a:srgbClr val="7FB27A"/>
          </a:solidFill>
          <a:ln/>
        </p:spPr>
      </p:sp>
      <p:sp>
        <p:nvSpPr>
          <p:cNvPr id="13" name="Shape 11"/>
          <p:cNvSpPr/>
          <p:nvPr/>
        </p:nvSpPr>
        <p:spPr>
          <a:xfrm>
            <a:off x="9692640" y="6528816"/>
            <a:ext cx="73152" cy="73152"/>
          </a:xfrm>
          <a:prstGeom prst="rect">
            <a:avLst/>
          </a:prstGeom>
          <a:solidFill>
            <a:srgbClr val="D48A93"/>
          </a:solidFill>
          <a:ln/>
        </p:spPr>
      </p:sp>
      <p:pic>
        <p:nvPicPr>
          <p:cNvPr id="14" name="Image 0" descr="/tmp/claude-0/-home-claude/750ff410-f4aa-5276-9360-1e19d018b112/scratchpad/c/assets/ct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9184"/>
            <a:ext cx="384048" cy="38404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932688" y="3200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CloudTrim</a:t>
            </a:r>
            <a:endParaRPr lang="en-US" sz="1800" dirty="0"/>
          </a:p>
        </p:txBody>
      </p:sp>
      <p:pic>
        <p:nvPicPr>
          <p:cNvPr id="16" name="Image 1" descr="/tmp/claude-0/-home-claude/750ff410-f4aa-5276-9360-1e19d018b112/scratchpad/c/assets/venturex-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0566" y="256032"/>
            <a:ext cx="1243929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600639" y="987552"/>
            <a:ext cx="1133856" cy="384048"/>
          </a:xfrm>
          <a:prstGeom prst="roundRect">
            <a:avLst>
              <a:gd name="adj" fmla="val 50000"/>
            </a:avLst>
          </a:prstGeom>
          <a:solidFill>
            <a:srgbClr val="8E2F3C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10600639" y="98755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الختام</a:t>
            </a:r>
            <a:endParaRPr lang="en-US" sz="1300" dirty="0"/>
          </a:p>
        </p:txBody>
      </p:sp>
      <p:pic>
        <p:nvPicPr>
          <p:cNvPr id="19" name="Image 2" descr="/tmp/claude-0/-home-claude/750ff410-f4aa-5276-9360-1e19d018b112/scratchpad/c/assets/organizers-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09360"/>
            <a:ext cx="848839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70248" y="6382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VentureX 2026 · فريق SSB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1118585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12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442655" y="1600200"/>
            <a:ext cx="3291840" cy="4069080"/>
          </a:xfrm>
          <a:prstGeom prst="roundRect">
            <a:avLst>
              <a:gd name="adj" fmla="val 5556"/>
            </a:avLst>
          </a:prstGeom>
          <a:solidFill>
            <a:srgbClr val="8E2F3C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442655" y="17830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جرّب CloudTrim</a:t>
            </a:r>
            <a:endParaRPr lang="en-US" sz="1900" dirty="0"/>
          </a:p>
        </p:txBody>
      </p:sp>
      <p:sp>
        <p:nvSpPr>
          <p:cNvPr id="24" name="Shape 19"/>
          <p:cNvSpPr/>
          <p:nvPr/>
        </p:nvSpPr>
        <p:spPr>
          <a:xfrm>
            <a:off x="8854135" y="2331720"/>
            <a:ext cx="2468880" cy="2468880"/>
          </a:xfrm>
          <a:prstGeom prst="roundRect">
            <a:avLst>
              <a:gd name="adj" fmla="val 5185"/>
            </a:avLst>
          </a:prstGeom>
          <a:solidFill>
            <a:srgbClr val="FFFBF8"/>
          </a:solidFill>
          <a:ln/>
        </p:spPr>
      </p:sp>
      <p:pic>
        <p:nvPicPr>
          <p:cNvPr id="25" name="Image 3" descr="/tmp/claude-0/-home-claude/750ff410-f4aa-5276-9360-1e19d018b112/scratchpad/c/assets/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1295" y="2468880"/>
            <a:ext cx="2194560" cy="2194560"/>
          </a:xfrm>
          <a:prstGeom prst="rect">
            <a:avLst/>
          </a:prstGeom>
        </p:spPr>
      </p:pic>
      <p:sp>
        <p:nvSpPr>
          <p:cNvPr id="26" name="Text 20">
            <a:hlinkClick r:id="rId5" tooltip=""/>
          </p:cNvPr>
          <p:cNvSpPr txBox="1"/>
          <p:nvPr/>
        </p:nvSpPr>
        <p:spPr>
          <a:xfrm>
            <a:off x="8442655" y="5029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BF6E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cloudtrim-sa.vercel.app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2194560"/>
            <a:ext cx="75282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6000" b="1" dirty="0">
                <a:solidFill>
                  <a:srgbClr val="8E2F3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شكراً لكم</a:t>
            </a:r>
            <a:endParaRPr lang="en-US" sz="6000" dirty="0"/>
          </a:p>
        </p:txBody>
      </p:sp>
      <p:sp>
        <p:nvSpPr>
          <p:cNvPr id="28" name="Text 22"/>
          <p:cNvSpPr txBox="1"/>
          <p:nvPr/>
        </p:nvSpPr>
        <p:spPr>
          <a:xfrm>
            <a:off x="457200" y="3337560"/>
            <a:ext cx="7528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21141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وفّر في سحابتك… والقرار بيدك.</a:t>
            </a:r>
            <a:endParaRPr lang="en-US" sz="26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3886200"/>
            <a:ext cx="7528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600" dirty="0">
                <a:solidFill>
                  <a:srgbClr val="7F6C72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Trim the cloud, keep the control.</a:t>
            </a:r>
            <a:endParaRPr lang="en-US" sz="1600" dirty="0"/>
          </a:p>
        </p:txBody>
      </p:sp>
      <p:pic>
        <p:nvPicPr>
          <p:cNvPr id="30" name="Image 4" descr="/tmp/claude-0/-home-claude/750ff410-f4aa-5276-9360-1e19d018b112/scratchpad/c/assets/sponsors-in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532120"/>
            <a:ext cx="33528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Arab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Arab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CloudTrim · SSB · VentureX</dc:title>
  <dc:subject>PptxGenJS Presentation</dc:subject>
  <dc:creator>SSB</dc:creator>
  <cp:lastModifiedBy>SSB</cp:lastModifiedBy>
  <cp:revision>1</cp:revision>
  <dcterms:created xsi:type="dcterms:W3CDTF">2026-10-16T17:15:57Z</dcterms:created>
  <dcterms:modified xsi:type="dcterms:W3CDTF">2026-10-16T17:15:57Z</dcterms:modified>
</cp:coreProperties>
</file>