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6" Type="http://schemas.openxmlformats.org/officeDocument/2006/relationships/image" Target="../media/image-14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6400800" y="4160520"/>
            <a:ext cx="5333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منصة FinOps ذكية تكتشف الهدر في فاتورة السحابة وتشرحه، ولا تغيّر شيئاً قبل موافقة فريقكم بنقرة واحدة.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10390327" y="516636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10390327" y="516636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515807" y="516636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515807" y="516636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8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9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SSB: ثلاثة أعضاء، ومنتج يعمل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اسم المشروع: CloudTrim · مسار الحوسبة السحابية والبنية التحتية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ellipse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ellipse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1" name="Text 24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2" name="Shape 25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3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ellipse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5" name="Text 27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لماذا تخرج تكاليف السحابة عن السيطرة؟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457200" y="2331720"/>
            <a:ext cx="11277295" cy="2011680"/>
          </a:xfrm>
          <a:prstGeom prst="roundRect">
            <a:avLst>
              <a:gd name="adj" fmla="val 9091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915171" y="2560320"/>
            <a:ext cx="28193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4600" dirty="0"/>
          </a:p>
        </p:txBody>
      </p:sp>
      <p:sp>
        <p:nvSpPr>
          <p:cNvPr id="25" name="Text 20"/>
          <p:cNvSpPr txBox="1"/>
          <p:nvPr/>
        </p:nvSpPr>
        <p:spPr>
          <a:xfrm>
            <a:off x="9189491" y="3429000"/>
            <a:ext cx="22706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السحابي مهدر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095848" y="2560320"/>
            <a:ext cx="28193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4600" dirty="0"/>
          </a:p>
        </p:txBody>
      </p:sp>
      <p:sp>
        <p:nvSpPr>
          <p:cNvPr id="27" name="Text 22"/>
          <p:cNvSpPr txBox="1"/>
          <p:nvPr/>
        </p:nvSpPr>
        <p:spPr>
          <a:xfrm>
            <a:off x="6370168" y="3429000"/>
            <a:ext cx="22706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متوسط تجاوز ميزانية السحابة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3276524" y="2560320"/>
            <a:ext cx="28193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4600" dirty="0"/>
          </a:p>
        </p:txBody>
      </p:sp>
      <p:sp>
        <p:nvSpPr>
          <p:cNvPr id="29" name="Text 24"/>
          <p:cNvSpPr txBox="1"/>
          <p:nvPr/>
        </p:nvSpPr>
        <p:spPr>
          <a:xfrm>
            <a:off x="3550844" y="3429000"/>
            <a:ext cx="22706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المؤسسات تعرضت لعطل كبير سببه خطأ بشري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457200" y="2560320"/>
            <a:ext cx="28193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600" dirty="0"/>
          </a:p>
        </p:txBody>
      </p:sp>
      <p:sp>
        <p:nvSpPr>
          <p:cNvPr id="31" name="Text 26"/>
          <p:cNvSpPr txBox="1"/>
          <p:nvPr/>
        </p:nvSpPr>
        <p:spPr>
          <a:xfrm>
            <a:off x="731520" y="3429000"/>
            <a:ext cx="22706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حجم سوق السحابة السعودي في 2025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457200" y="4572000"/>
            <a:ext cx="112772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المشكلة: </a:t>
            </a:r>
            <a:pPr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هدر مالي صامت في فواتير السحابة للشركات الصغيرة والمتوسطة، من سيرفرات منسية وموارد زائدة، مع أدوات عالمية معقدة لا ترى السحب المحلية.</a:t>
            </a:r>
            <a:endParaRPr lang="en-US" sz="1600" dirty="0"/>
          </a:p>
          <a:p>
            <a:pPr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الفجوة: </a:t>
            </a:r>
            <a:pPr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توجد منصة محلية مستقلة تجمع السحب السعودية مع العالمية، وتنفّذ الحل بموافقة بشرية بدل تقارير لا ينفذها أحد.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المصادر: Flexera State of the Cloud 2026 (29%، 17%) · Uptime Institute, Annual Outage Analysis (40%) · MarketsandMarkets, Saudi Arabia Cloud Computing Market (5.1 مليار دولار)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ليست غلاء الفاتورة: لا رؤية، لا مالك، وخوف من التصرف</a:t>
            </a:r>
            <a:endParaRPr lang="en-US" sz="2700" dirty="0"/>
          </a:p>
        </p:txBody>
      </p:sp>
      <p:sp>
        <p:nvSpPr>
          <p:cNvPr id="23" name="Text 18"/>
          <p:cNvSpPr txBox="1"/>
          <p:nvPr/>
        </p:nvSpPr>
        <p:spPr>
          <a:xfrm>
            <a:off x="6309360" y="2331720"/>
            <a:ext cx="5425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الأسباب الجذرية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11231575" y="2852928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8E2F3C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11231575" y="2852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816352"/>
            <a:ext cx="4739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أحد يملك حذف الموارد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6309360" y="3154680"/>
            <a:ext cx="4739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إنشاء المورد سهل وحذفه بلا مالك، والفاتورة تصل للمالية لا للمهندس.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11231575" y="3694176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8E2F3C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11231575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6309360" y="3657600"/>
            <a:ext cx="4739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يوجد مختص FinOps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6309360" y="3995928"/>
            <a:ext cx="4739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شركة من 50 إلى 250 موظفاً لا توظف فريقاً لتكاليف السحابة.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11231575" y="4535424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8E2F3C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11231575" y="4535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6309360" y="4498848"/>
            <a:ext cx="4739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الأدوات لا ترى السحب المحلية</a:t>
            </a:r>
            <a:endParaRPr lang="en-US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6309360" y="4837176"/>
            <a:ext cx="4739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Cloud وSCCC وCNTXT خارج أدوات FinOps العالمية.</a:t>
            </a:r>
            <a:endParaRPr lang="en-US" sz="1300" dirty="0"/>
          </a:p>
        </p:txBody>
      </p:sp>
      <p:sp>
        <p:nvSpPr>
          <p:cNvPr id="36" name="Shape 31"/>
          <p:cNvSpPr/>
          <p:nvPr/>
        </p:nvSpPr>
        <p:spPr>
          <a:xfrm>
            <a:off x="11231575" y="5376672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8E2F3C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11231575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6309360" y="5340096"/>
            <a:ext cx="4739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الخوف من التوقف</a:t>
            </a:r>
            <a:endParaRPr lang="en-US" sz="1600" dirty="0"/>
          </a:p>
        </p:txBody>
      </p:sp>
      <p:sp>
        <p:nvSpPr>
          <p:cNvPr id="39" name="Text 34"/>
          <p:cNvSpPr txBox="1"/>
          <p:nvPr/>
        </p:nvSpPr>
        <p:spPr>
          <a:xfrm>
            <a:off x="6309360" y="5678424"/>
            <a:ext cx="4739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نقرة خاطئة قد توقف خدمة حيوية، فلا أحد يجرؤ على الإيقاف.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457200" y="2331720"/>
            <a:ext cx="5303520" cy="3703320"/>
          </a:xfrm>
          <a:prstGeom prst="roundRect">
            <a:avLst>
              <a:gd name="adj" fmla="val 444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777240" y="25603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يتأثر؟</a:t>
            </a:r>
            <a:endParaRPr lang="en-US" sz="1900" dirty="0"/>
          </a:p>
        </p:txBody>
      </p:sp>
      <p:sp>
        <p:nvSpPr>
          <p:cNvPr id="42" name="Shape 37"/>
          <p:cNvSpPr/>
          <p:nvPr/>
        </p:nvSpPr>
        <p:spPr>
          <a:xfrm>
            <a:off x="5276088" y="3246120"/>
            <a:ext cx="164592" cy="164592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77240" y="315468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المدير المالي</a:t>
            </a:r>
            <a:endParaRPr lang="en-US" sz="1700" dirty="0"/>
          </a:p>
        </p:txBody>
      </p:sp>
      <p:sp>
        <p:nvSpPr>
          <p:cNvPr id="44" name="Text 39"/>
          <p:cNvSpPr txBox="1"/>
          <p:nvPr/>
        </p:nvSpPr>
        <p:spPr>
          <a:xfrm>
            <a:off x="777240" y="35204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ميزانية غير متوقعة كل شهر</a:t>
            </a:r>
            <a:endParaRPr lang="en-US" sz="1400" dirty="0"/>
          </a:p>
        </p:txBody>
      </p:sp>
      <p:sp>
        <p:nvSpPr>
          <p:cNvPr id="45" name="Shape 40"/>
          <p:cNvSpPr/>
          <p:nvPr/>
        </p:nvSpPr>
        <p:spPr>
          <a:xfrm>
            <a:off x="5276088" y="4160520"/>
            <a:ext cx="164592" cy="16459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777240" y="406908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المؤسس</a:t>
            </a:r>
            <a:endParaRPr lang="en-US" sz="1700" dirty="0"/>
          </a:p>
        </p:txBody>
      </p:sp>
      <p:sp>
        <p:nvSpPr>
          <p:cNvPr id="47" name="Text 42"/>
          <p:cNvSpPr txBox="1"/>
          <p:nvPr/>
        </p:nvSpPr>
        <p:spPr>
          <a:xfrm>
            <a:off x="777240" y="4434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السيولة تنفد أسرع مما يجب</a:t>
            </a:r>
            <a:endParaRPr lang="en-US" sz="1400" dirty="0"/>
          </a:p>
        </p:txBody>
      </p:sp>
      <p:sp>
        <p:nvSpPr>
          <p:cNvPr id="48" name="Shape 43"/>
          <p:cNvSpPr/>
          <p:nvPr/>
        </p:nvSpPr>
        <p:spPr>
          <a:xfrm>
            <a:off x="5276088" y="5074920"/>
            <a:ext cx="164592" cy="164592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777240" y="498348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مهندس DevOps</a:t>
            </a:r>
            <a:endParaRPr lang="en-US" sz="1700" dirty="0"/>
          </a:p>
        </p:txBody>
      </p:sp>
      <p:sp>
        <p:nvSpPr>
          <p:cNvPr id="50" name="Text 45"/>
          <p:cNvSpPr txBox="1"/>
          <p:nvPr/>
        </p:nvSpPr>
        <p:spPr>
          <a:xfrm>
            <a:off x="777240" y="5349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يُلام على أي توقف، فيتجنب الإيقاف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نكتشف الهدر، ونشرحه، وأنتم تقررون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منصة SaaS بوكيل ذكاء اصطناعي للعمل اليومي، مع استشارات FinOps بشرية للحالات المعقدة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818120" y="26974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2697480"/>
            <a:ext cx="662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المكوّن الذي يحلها في CloudTrim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7818120" y="3063240"/>
            <a:ext cx="3916375" cy="621792"/>
          </a:xfrm>
          <a:prstGeom prst="roundRect">
            <a:avLst>
              <a:gd name="adj" fmla="val 17647"/>
            </a:avLst>
          </a:prstGeom>
          <a:solidFill>
            <a:srgbClr val="F1E4DF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46720" y="3063240"/>
            <a:ext cx="34591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رؤية لأين يذهب المال</a:t>
            </a:r>
            <a:endParaRPr lang="en-US" sz="1600" dirty="0"/>
          </a:p>
        </p:txBody>
      </p:sp>
      <p:sp>
        <p:nvSpPr>
          <p:cNvPr id="28" name="Text 23"/>
          <p:cNvSpPr txBox="1"/>
          <p:nvPr/>
        </p:nvSpPr>
        <p:spPr>
          <a:xfrm>
            <a:off x="7086600" y="3063240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457200" y="3063240"/>
            <a:ext cx="6629400" cy="621792"/>
          </a:xfrm>
          <a:prstGeom prst="roundRect">
            <a:avLst>
              <a:gd name="adj" fmla="val 1764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3063240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موصلات للقراءة فقط ولوحة واحدة لكل السحابات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7818120" y="3822192"/>
            <a:ext cx="3916375" cy="621792"/>
          </a:xfrm>
          <a:prstGeom prst="roundRect">
            <a:avLst>
              <a:gd name="adj" fmla="val 17647"/>
            </a:avLst>
          </a:prstGeom>
          <a:solidFill>
            <a:srgbClr val="F1E4DF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46720" y="3822192"/>
            <a:ext cx="34591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أحد يملك المشكلة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7086600" y="3822192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34" name="Shape 29"/>
          <p:cNvSpPr/>
          <p:nvPr/>
        </p:nvSpPr>
        <p:spPr>
          <a:xfrm>
            <a:off x="457200" y="3822192"/>
            <a:ext cx="6629400" cy="621792"/>
          </a:xfrm>
          <a:prstGeom prst="roundRect">
            <a:avLst>
              <a:gd name="adj" fmla="val 1764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85800" y="3822192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 واتساب أو تيليجرام لشخص محدد، مع رابط الموافقة</a:t>
            </a:r>
            <a:endParaRPr lang="en-US" sz="1600" dirty="0"/>
          </a:p>
        </p:txBody>
      </p:sp>
      <p:sp>
        <p:nvSpPr>
          <p:cNvPr id="36" name="Shape 31"/>
          <p:cNvSpPr/>
          <p:nvPr/>
        </p:nvSpPr>
        <p:spPr>
          <a:xfrm>
            <a:off x="7818120" y="4581144"/>
            <a:ext cx="3916375" cy="621792"/>
          </a:xfrm>
          <a:prstGeom prst="roundRect">
            <a:avLst>
              <a:gd name="adj" fmla="val 17647"/>
            </a:avLst>
          </a:prstGeom>
          <a:solidFill>
            <a:srgbClr val="F1E4DF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46720" y="4581144"/>
            <a:ext cx="34591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الخوف من التوقف</a:t>
            </a:r>
            <a:endParaRPr lang="en-US" sz="1600" dirty="0"/>
          </a:p>
        </p:txBody>
      </p:sp>
      <p:sp>
        <p:nvSpPr>
          <p:cNvPr id="38" name="Text 33"/>
          <p:cNvSpPr txBox="1"/>
          <p:nvPr/>
        </p:nvSpPr>
        <p:spPr>
          <a:xfrm>
            <a:off x="7086600" y="4581144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39" name="Shape 34"/>
          <p:cNvSpPr/>
          <p:nvPr/>
        </p:nvSpPr>
        <p:spPr>
          <a:xfrm>
            <a:off x="457200" y="4581144"/>
            <a:ext cx="6629400" cy="621792"/>
          </a:xfrm>
          <a:prstGeom prst="roundRect">
            <a:avLst>
              <a:gd name="adj" fmla="val 1764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685800" y="4581144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موافقة بشرية، صلاحية مؤقتة، Snapshot، وتراجع بنقرة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7818120" y="5340096"/>
            <a:ext cx="3916375" cy="621792"/>
          </a:xfrm>
          <a:prstGeom prst="roundRect">
            <a:avLst>
              <a:gd name="adj" fmla="val 17647"/>
            </a:avLst>
          </a:prstGeom>
          <a:solidFill>
            <a:srgbClr val="F1E4DF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8046720" y="5340096"/>
            <a:ext cx="34591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الأدوات غالية وباشتراك ثابت</a:t>
            </a:r>
            <a:endParaRPr lang="en-US" sz="1600" dirty="0"/>
          </a:p>
        </p:txBody>
      </p:sp>
      <p:sp>
        <p:nvSpPr>
          <p:cNvPr id="43" name="Text 38"/>
          <p:cNvSpPr txBox="1"/>
          <p:nvPr/>
        </p:nvSpPr>
        <p:spPr>
          <a:xfrm>
            <a:off x="7086600" y="5340096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44" name="Shape 39"/>
          <p:cNvSpPr/>
          <p:nvPr/>
        </p:nvSpPr>
        <p:spPr>
          <a:xfrm>
            <a:off x="457200" y="5340096"/>
            <a:ext cx="6629400" cy="621792"/>
          </a:xfrm>
          <a:prstGeom prst="roundRect">
            <a:avLst>
              <a:gd name="adj" fmla="val 1764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685800" y="5340096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أول مجاني، ثم دفع حسب الاستخدام بسقف شهري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يقترح، والإنسان يقرر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الاتصال للقراءة فقط افتراضياً. أي تغيير يحتاج صلاحية منفصلة لإجراء واحد وتنتهي تلقائياً.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9992106" y="2743200"/>
            <a:ext cx="1742389" cy="2514600"/>
          </a:xfrm>
          <a:prstGeom prst="roundRect">
            <a:avLst>
              <a:gd name="adj" fmla="val 839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002975" y="2971800"/>
            <a:ext cx="502920" cy="50292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11002975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10174986" y="3657600"/>
            <a:ext cx="1376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للقراءة فقط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10174986" y="4224528"/>
            <a:ext cx="13766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دور IAM يقرأ التكاليف والموارد فقط، ولا يغيّر أي شيء.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085125" y="2743200"/>
            <a:ext cx="1742389" cy="2514600"/>
          </a:xfrm>
          <a:prstGeom prst="roundRect">
            <a:avLst>
              <a:gd name="adj" fmla="val 839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095994" y="2971800"/>
            <a:ext cx="502920" cy="50292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095994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8268005" y="3657600"/>
            <a:ext cx="1376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توصية الذكاء الاصطناعي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8268005" y="4224528"/>
            <a:ext cx="13766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كل توفير مع الدليل ومستوى المخاطرة وسبب واضح.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6178144" y="2743200"/>
            <a:ext cx="1742389" cy="2514600"/>
          </a:xfrm>
          <a:prstGeom prst="roundRect">
            <a:avLst>
              <a:gd name="adj" fmla="val 8397"/>
            </a:avLst>
          </a:prstGeom>
          <a:solidFill>
            <a:srgbClr val="8E2F3C"/>
          </a:solidFill>
          <a:ln/>
        </p:spPr>
      </p:sp>
      <p:sp>
        <p:nvSpPr>
          <p:cNvPr id="35" name="Shape 30"/>
          <p:cNvSpPr/>
          <p:nvPr/>
        </p:nvSpPr>
        <p:spPr>
          <a:xfrm>
            <a:off x="7189013" y="2971800"/>
            <a:ext cx="502920" cy="502920"/>
          </a:xfrm>
          <a:prstGeom prst="ellipse">
            <a:avLst/>
          </a:prstGeom>
          <a:solidFill>
            <a:srgbClr val="FBF6EE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7189013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6361024" y="3657600"/>
            <a:ext cx="1376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موافقة بشرية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6361024" y="4224528"/>
            <a:ext cx="13766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يراجع المهندس ويوافق بنقرة من الموقع أو واتساب.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4271162" y="2743200"/>
            <a:ext cx="1742389" cy="2514600"/>
          </a:xfrm>
          <a:prstGeom prst="roundRect">
            <a:avLst>
              <a:gd name="adj" fmla="val 839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282032" y="2971800"/>
            <a:ext cx="502920" cy="50292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5282032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</a:t>
            </a:r>
            <a:endParaRPr lang="en-US" sz="1600" dirty="0"/>
          </a:p>
        </p:txBody>
      </p:sp>
      <p:sp>
        <p:nvSpPr>
          <p:cNvPr id="42" name="Text 37"/>
          <p:cNvSpPr txBox="1"/>
          <p:nvPr/>
        </p:nvSpPr>
        <p:spPr>
          <a:xfrm>
            <a:off x="4454042" y="3657600"/>
            <a:ext cx="1376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صلاحية مؤقتة</a:t>
            </a:r>
            <a:endParaRPr lang="en-US" sz="1500" dirty="0"/>
          </a:p>
        </p:txBody>
      </p:sp>
      <p:sp>
        <p:nvSpPr>
          <p:cNvPr id="43" name="Text 38"/>
          <p:cNvSpPr txBox="1"/>
          <p:nvPr/>
        </p:nvSpPr>
        <p:spPr>
          <a:xfrm>
            <a:off x="4454042" y="4224528"/>
            <a:ext cx="13766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صلاحية لهذا الإجراء وحده لمدة 15 دقيقة.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2364181" y="2743200"/>
            <a:ext cx="1742389" cy="2514600"/>
          </a:xfrm>
          <a:prstGeom prst="roundRect">
            <a:avLst>
              <a:gd name="adj" fmla="val 839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3375050" y="2971800"/>
            <a:ext cx="502920" cy="50292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37505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</a:t>
            </a:r>
            <a:endParaRPr lang="en-US" sz="1600" dirty="0"/>
          </a:p>
        </p:txBody>
      </p:sp>
      <p:sp>
        <p:nvSpPr>
          <p:cNvPr id="47" name="Text 42"/>
          <p:cNvSpPr txBox="1"/>
          <p:nvPr/>
        </p:nvSpPr>
        <p:spPr>
          <a:xfrm>
            <a:off x="2547061" y="3657600"/>
            <a:ext cx="1376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آمن</a:t>
            </a:r>
            <a:endParaRPr lang="en-US" sz="1500" dirty="0"/>
          </a:p>
        </p:txBody>
      </p:sp>
      <p:sp>
        <p:nvSpPr>
          <p:cNvPr id="48" name="Text 43"/>
          <p:cNvSpPr txBox="1"/>
          <p:nvPr/>
        </p:nvSpPr>
        <p:spPr>
          <a:xfrm>
            <a:off x="2547061" y="4224528"/>
            <a:ext cx="13766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إيقاف بدل الحذف، مع التراجع بنقرة.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457200" y="2743200"/>
            <a:ext cx="1742389" cy="2514600"/>
          </a:xfrm>
          <a:prstGeom prst="roundRect">
            <a:avLst>
              <a:gd name="adj" fmla="val 839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1468069" y="2971800"/>
            <a:ext cx="502920" cy="50292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1468069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6</a:t>
            </a:r>
            <a:endParaRPr lang="en-US" sz="1600" dirty="0"/>
          </a:p>
        </p:txBody>
      </p:sp>
      <p:sp>
        <p:nvSpPr>
          <p:cNvPr id="52" name="Text 47"/>
          <p:cNvSpPr txBox="1"/>
          <p:nvPr/>
        </p:nvSpPr>
        <p:spPr>
          <a:xfrm>
            <a:off x="640080" y="3657600"/>
            <a:ext cx="1376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سحب الصلاحية والتدقيق</a:t>
            </a:r>
            <a:endParaRPr lang="en-US" sz="1500" dirty="0"/>
          </a:p>
        </p:txBody>
      </p:sp>
      <p:sp>
        <p:nvSpPr>
          <p:cNvPr id="53" name="Text 48"/>
          <p:cNvSpPr txBox="1"/>
          <p:nvPr/>
        </p:nvSpPr>
        <p:spPr>
          <a:xfrm>
            <a:off x="640080" y="4224528"/>
            <a:ext cx="13766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تعود للقراءة فقط، وتُسجّل كل خطوة للتدقيق.</a:t>
            </a:r>
            <a:endParaRPr lang="en-US" sz="1200" dirty="0"/>
          </a:p>
        </p:txBody>
      </p:sp>
      <p:sp>
        <p:nvSpPr>
          <p:cNvPr id="54" name="Text 49"/>
          <p:cNvSpPr txBox="1"/>
          <p:nvPr/>
        </p:nvSpPr>
        <p:spPr>
          <a:xfrm>
            <a:off x="7863840" y="5559552"/>
            <a:ext cx="3870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متوافق مع (دون ادّعاء شهادة):</a:t>
            </a:r>
            <a:endParaRPr lang="en-US" sz="1300" dirty="0"/>
          </a:p>
        </p:txBody>
      </p:sp>
      <p:sp>
        <p:nvSpPr>
          <p:cNvPr id="55" name="Shape 50"/>
          <p:cNvSpPr/>
          <p:nvPr/>
        </p:nvSpPr>
        <p:spPr>
          <a:xfrm>
            <a:off x="6739128" y="5559552"/>
            <a:ext cx="1033272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6739128" y="5559552"/>
            <a:ext cx="103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NCA ECC</a:t>
            </a:r>
            <a:endParaRPr lang="en-US" sz="1200" dirty="0"/>
          </a:p>
        </p:txBody>
      </p:sp>
      <p:sp>
        <p:nvSpPr>
          <p:cNvPr id="57" name="Shape 52"/>
          <p:cNvSpPr/>
          <p:nvPr/>
        </p:nvSpPr>
        <p:spPr>
          <a:xfrm>
            <a:off x="5843016" y="5559552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5843016" y="5559552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PDPL</a:t>
            </a:r>
            <a:endParaRPr lang="en-US" sz="1200" dirty="0"/>
          </a:p>
        </p:txBody>
      </p:sp>
      <p:sp>
        <p:nvSpPr>
          <p:cNvPr id="59" name="Shape 54"/>
          <p:cNvSpPr/>
          <p:nvPr/>
        </p:nvSpPr>
        <p:spPr>
          <a:xfrm>
            <a:off x="4535424" y="5559552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4535424" y="5559552"/>
            <a:ext cx="119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ISO 27001</a:t>
            </a:r>
            <a:endParaRPr lang="en-US" sz="1200" dirty="0"/>
          </a:p>
        </p:txBody>
      </p:sp>
      <p:sp>
        <p:nvSpPr>
          <p:cNvPr id="61" name="Shape 56"/>
          <p:cNvSpPr/>
          <p:nvPr/>
        </p:nvSpPr>
        <p:spPr>
          <a:xfrm>
            <a:off x="3227832" y="5559552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62" name="Text 57"/>
          <p:cNvSpPr txBox="1"/>
          <p:nvPr/>
        </p:nvSpPr>
        <p:spPr>
          <a:xfrm>
            <a:off x="3227832" y="5559552"/>
            <a:ext cx="119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ISO 27017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موظفاً، بلا فريق FinOps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رواد الأعمال والشركات الناشئة والمتوسطة التي تفتقر لخبراء سحابة، وفاتورتها عشرات الآلاف شهرياً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6263640" y="2743200"/>
            <a:ext cx="5470855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583680" y="2926080"/>
            <a:ext cx="4830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شخصية العرض: "نخلة تك"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6583680" y="3310128"/>
            <a:ext cx="4830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شركة افتراضية نستخدمها في النموذج الأولي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9804197" y="370332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120</a:t>
            </a:r>
            <a:endParaRPr lang="en-US" sz="2600" dirty="0"/>
          </a:p>
        </p:txBody>
      </p:sp>
      <p:sp>
        <p:nvSpPr>
          <p:cNvPr id="28" name="Text 23"/>
          <p:cNvSpPr txBox="1"/>
          <p:nvPr/>
        </p:nvSpPr>
        <p:spPr>
          <a:xfrm>
            <a:off x="9804197" y="4206240"/>
            <a:ext cx="1610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8193938" y="370332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85,400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193938" y="4206240"/>
            <a:ext cx="1610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فاتورة شهرية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6583680" y="370332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342</a:t>
            </a:r>
            <a:endParaRPr lang="en-US" sz="2600" dirty="0"/>
          </a:p>
        </p:txBody>
      </p:sp>
      <p:sp>
        <p:nvSpPr>
          <p:cNvPr id="32" name="Text 27"/>
          <p:cNvSpPr txBox="1"/>
          <p:nvPr/>
        </p:nvSpPr>
        <p:spPr>
          <a:xfrm>
            <a:off x="6583680" y="4206240"/>
            <a:ext cx="1610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مورداً سحابياً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9859061" y="4709160"/>
            <a:ext cx="1500530" cy="1051560"/>
          </a:xfrm>
          <a:prstGeom prst="roundRect">
            <a:avLst>
              <a:gd name="adj" fmla="val 10435"/>
            </a:avLst>
          </a:prstGeom>
          <a:solidFill>
            <a:srgbClr val="F1E4DF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9895637" y="4846320"/>
            <a:ext cx="1427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المهندس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9895637" y="5212080"/>
            <a:ext cx="1427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يستلم التنبيه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8248802" y="4709160"/>
            <a:ext cx="1500530" cy="1051560"/>
          </a:xfrm>
          <a:prstGeom prst="roundRect">
            <a:avLst>
              <a:gd name="adj" fmla="val 10435"/>
            </a:avLst>
          </a:prstGeom>
          <a:solidFill>
            <a:srgbClr val="F1E4DF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285378" y="4846320"/>
            <a:ext cx="1427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المدير التقني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8285378" y="5212080"/>
            <a:ext cx="1427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يوافق بنقرة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6638544" y="4709160"/>
            <a:ext cx="1500530" cy="1051560"/>
          </a:xfrm>
          <a:prstGeom prst="roundRect">
            <a:avLst>
              <a:gd name="adj" fmla="val 10435"/>
            </a:avLst>
          </a:prstGeom>
          <a:solidFill>
            <a:srgbClr val="F1E4DF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6675120" y="4846320"/>
            <a:ext cx="1427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المدير المالي</a:t>
            </a:r>
            <a:endParaRPr lang="en-US" sz="1500" dirty="0"/>
          </a:p>
        </p:txBody>
      </p:sp>
      <p:sp>
        <p:nvSpPr>
          <p:cNvPr id="41" name="Text 36"/>
          <p:cNvSpPr txBox="1"/>
          <p:nvPr/>
        </p:nvSpPr>
        <p:spPr>
          <a:xfrm>
            <a:off x="6675120" y="5212080"/>
            <a:ext cx="1427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يقرأ التقرير ويدفع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457200" y="274320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8E2F3C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822960" y="292608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حجم السوق</a:t>
            </a:r>
            <a:endParaRPr lang="en-US" sz="1800" dirty="0"/>
          </a:p>
        </p:txBody>
      </p:sp>
      <p:sp>
        <p:nvSpPr>
          <p:cNvPr id="44" name="Text 39"/>
          <p:cNvSpPr txBox="1"/>
          <p:nvPr/>
        </p:nvSpPr>
        <p:spPr>
          <a:xfrm>
            <a:off x="822960" y="3383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800" dirty="0"/>
          </a:p>
        </p:txBody>
      </p:sp>
      <p:sp>
        <p:nvSpPr>
          <p:cNvPr id="45" name="Text 40"/>
          <p:cNvSpPr txBox="1"/>
          <p:nvPr/>
        </p:nvSpPr>
        <p:spPr>
          <a:xfrm>
            <a:off x="822960" y="4160520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الحوسبة السحابية في السعودية، 2025</a:t>
            </a:r>
            <a:endParaRPr lang="en-US" sz="1500" dirty="0"/>
          </a:p>
        </p:txBody>
      </p:sp>
      <p:sp>
        <p:nvSpPr>
          <p:cNvPr id="46" name="Text 41"/>
          <p:cNvSpPr txBox="1"/>
          <p:nvPr/>
        </p:nvSpPr>
        <p:spPr>
          <a:xfrm>
            <a:off x="822960" y="4617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9A46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3000" dirty="0"/>
          </a:p>
        </p:txBody>
      </p:sp>
      <p:sp>
        <p:nvSpPr>
          <p:cNvPr id="47" name="Text 42"/>
          <p:cNvSpPr txBox="1"/>
          <p:nvPr/>
        </p:nvSpPr>
        <p:spPr>
          <a:xfrm>
            <a:off x="822960" y="516636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بحلول 2030</a:t>
            </a:r>
            <a:endParaRPr lang="en-US" sz="1500" dirty="0"/>
          </a:p>
        </p:txBody>
      </p:sp>
      <p:sp>
        <p:nvSpPr>
          <p:cNvPr id="48" name="Text 43"/>
          <p:cNvSpPr txBox="1"/>
          <p:nvPr/>
        </p:nvSpPr>
        <p:spPr>
          <a:xfrm>
            <a:off x="822960" y="557784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F1E4D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المصدر: MarketsandMarkets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285171" y="987552"/>
            <a:ext cx="144932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285171" y="987552"/>
            <a:ext cx="14493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المنافسون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مصمم للشركات السعودية من البداية، وليس معدّلاً لها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5242560" y="2194560"/>
            <a:ext cx="2164080" cy="3291840"/>
          </a:xfrm>
          <a:prstGeom prst="roundRect">
            <a:avLst>
              <a:gd name="adj" fmla="val 5915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5242560" y="2240280"/>
            <a:ext cx="216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2895600" y="2240280"/>
            <a:ext cx="216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منصات FinOps العالمية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2240280"/>
            <a:ext cx="216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أدوات التكلفة المدمجة في السحابة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7680960" y="2240280"/>
            <a:ext cx="4053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الميزة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457200" y="2880360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680960" y="2880360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141720" y="2953512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14172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3794760" y="2953512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379476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1447800" y="2953512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144780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36" name="Shape 31"/>
          <p:cNvSpPr/>
          <p:nvPr/>
        </p:nvSpPr>
        <p:spPr>
          <a:xfrm>
            <a:off x="457200" y="3392424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680960" y="3392424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موافقة بشرية قبل أي تغيير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141720" y="3465576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1417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40" name="Shape 35"/>
          <p:cNvSpPr/>
          <p:nvPr/>
        </p:nvSpPr>
        <p:spPr>
          <a:xfrm>
            <a:off x="3794760" y="3465576"/>
            <a:ext cx="365760" cy="36576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79476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400" dirty="0"/>
          </a:p>
        </p:txBody>
      </p:sp>
      <p:sp>
        <p:nvSpPr>
          <p:cNvPr id="42" name="Shape 37"/>
          <p:cNvSpPr/>
          <p:nvPr/>
        </p:nvSpPr>
        <p:spPr>
          <a:xfrm>
            <a:off x="1447800" y="3465576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144780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457200" y="3904488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680960" y="3904488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إصلاحات، وليس تقارير فقط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141720" y="3977640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14172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48" name="Shape 43"/>
          <p:cNvSpPr/>
          <p:nvPr/>
        </p:nvSpPr>
        <p:spPr>
          <a:xfrm>
            <a:off x="3794760" y="3977640"/>
            <a:ext cx="365760" cy="36576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79476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400" dirty="0"/>
          </a:p>
        </p:txBody>
      </p:sp>
      <p:sp>
        <p:nvSpPr>
          <p:cNvPr id="50" name="Shape 45"/>
          <p:cNvSpPr/>
          <p:nvPr/>
        </p:nvSpPr>
        <p:spPr>
          <a:xfrm>
            <a:off x="1447800" y="3977640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144780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52" name="Shape 47"/>
          <p:cNvSpPr/>
          <p:nvPr/>
        </p:nvSpPr>
        <p:spPr>
          <a:xfrm>
            <a:off x="457200" y="4416552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7680960" y="4416552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وواجهة عربية</a:t>
            </a:r>
            <a:endParaRPr lang="en-US" sz="1500" dirty="0"/>
          </a:p>
        </p:txBody>
      </p:sp>
      <p:sp>
        <p:nvSpPr>
          <p:cNvPr id="54" name="Shape 49"/>
          <p:cNvSpPr/>
          <p:nvPr/>
        </p:nvSpPr>
        <p:spPr>
          <a:xfrm>
            <a:off x="6141720" y="4489704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614172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56" name="Shape 51"/>
          <p:cNvSpPr/>
          <p:nvPr/>
        </p:nvSpPr>
        <p:spPr>
          <a:xfrm>
            <a:off x="3794760" y="4489704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379476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58" name="Shape 53"/>
          <p:cNvSpPr/>
          <p:nvPr/>
        </p:nvSpPr>
        <p:spPr>
          <a:xfrm>
            <a:off x="1447800" y="4489704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144780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60" name="Shape 55"/>
          <p:cNvSpPr/>
          <p:nvPr/>
        </p:nvSpPr>
        <p:spPr>
          <a:xfrm>
            <a:off x="457200" y="4928616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7680960" y="4928616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أسعار مناسبة لـ 50 إلى 250 موظفاً</a:t>
            </a:r>
            <a:endParaRPr lang="en-US" sz="1500" dirty="0"/>
          </a:p>
        </p:txBody>
      </p:sp>
      <p:sp>
        <p:nvSpPr>
          <p:cNvPr id="62" name="Shape 57"/>
          <p:cNvSpPr/>
          <p:nvPr/>
        </p:nvSpPr>
        <p:spPr>
          <a:xfrm>
            <a:off x="6141720" y="5001768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614172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64" name="Shape 59"/>
          <p:cNvSpPr/>
          <p:nvPr/>
        </p:nvSpPr>
        <p:spPr>
          <a:xfrm>
            <a:off x="3794760" y="5001768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379476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66" name="Shape 61"/>
          <p:cNvSpPr/>
          <p:nvPr/>
        </p:nvSpPr>
        <p:spPr>
          <a:xfrm>
            <a:off x="1447800" y="5001768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7" name="Text 62"/>
          <p:cNvSpPr txBox="1"/>
          <p:nvPr/>
        </p:nvSpPr>
        <p:spPr>
          <a:xfrm>
            <a:off x="144780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68" name="Shape 63"/>
          <p:cNvSpPr/>
          <p:nvPr/>
        </p:nvSpPr>
        <p:spPr>
          <a:xfrm>
            <a:off x="3200400" y="5779008"/>
            <a:ext cx="182880" cy="18288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9" name="Text 64"/>
          <p:cNvSpPr txBox="1"/>
          <p:nvPr/>
        </p:nvSpPr>
        <p:spPr>
          <a:xfrm>
            <a:off x="2514600" y="5715000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نعم</a:t>
            </a:r>
            <a:endParaRPr lang="en-US" sz="1200" dirty="0"/>
          </a:p>
        </p:txBody>
      </p:sp>
      <p:sp>
        <p:nvSpPr>
          <p:cNvPr id="70" name="Shape 65"/>
          <p:cNvSpPr/>
          <p:nvPr/>
        </p:nvSpPr>
        <p:spPr>
          <a:xfrm>
            <a:off x="2240280" y="5779008"/>
            <a:ext cx="182880" cy="18288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71" name="Text 66"/>
          <p:cNvSpPr txBox="1"/>
          <p:nvPr/>
        </p:nvSpPr>
        <p:spPr>
          <a:xfrm>
            <a:off x="1554480" y="5715000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جزئياً</a:t>
            </a:r>
            <a:endParaRPr lang="en-US" sz="1200" dirty="0"/>
          </a:p>
        </p:txBody>
      </p:sp>
      <p:sp>
        <p:nvSpPr>
          <p:cNvPr id="72" name="Shape 67"/>
          <p:cNvSpPr/>
          <p:nvPr/>
        </p:nvSpPr>
        <p:spPr>
          <a:xfrm>
            <a:off x="1280160" y="5779008"/>
            <a:ext cx="182880" cy="18288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594360" y="5715000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</a:t>
            </a:r>
            <a:endParaRPr lang="en-US" sz="1200" dirty="0"/>
          </a:p>
        </p:txBody>
      </p:sp>
      <p:sp>
        <p:nvSpPr>
          <p:cNvPr id="74" name="Text 69"/>
          <p:cNvSpPr txBox="1"/>
          <p:nvPr/>
        </p:nvSpPr>
        <p:spPr>
          <a:xfrm>
            <a:off x="3657600" y="5687568"/>
            <a:ext cx="8076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الابتكار الأوضح: </a:t>
            </a:r>
            <a:pPr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صلاحية مؤقتة لإجراء واحد (Just-in-time access) بدل صلاحيات كتابة دائمة.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 للتنفيذ اليوم: AWS أولاً، والمزودون المحليون في المرحلة الثانية</a:t>
            </a:r>
            <a:endParaRPr lang="en-US" sz="2600" dirty="0"/>
          </a:p>
        </p:txBody>
      </p:sp>
      <p:sp>
        <p:nvSpPr>
          <p:cNvPr id="23" name="Text 18"/>
          <p:cNvSpPr txBox="1"/>
          <p:nvPr/>
        </p:nvSpPr>
        <p:spPr>
          <a:xfrm>
            <a:off x="6263640" y="2286000"/>
            <a:ext cx="5470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يعمل الآن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11588191" y="2834640"/>
            <a:ext cx="146304" cy="14630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263640" y="274320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عبر API بصلاحيات قراءة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263640" y="3072384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ce:GetCostAndUsage · ec2:DescribeVolumes · cloudwatch:GetMetricStatistics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11588191" y="3566160"/>
            <a:ext cx="146304" cy="146304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263640" y="347472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قواعد هدر + نموذج ذكاء اصطناعي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6263640" y="3803904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القواعد ترشّح الموارد، والنموذج يرتب التوصيات ويشرحها بالعربية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11588191" y="4297680"/>
            <a:ext cx="146304" cy="14630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420624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زر موافقة واحد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6263640" y="4535424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يمنح صلاحية مؤقتة لـ 15 دقيقة لتنفيذ الإجراء ثم تُسحب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45720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التقنيات المتوفرة</a:t>
            </a:r>
            <a:endParaRPr lang="en-US" sz="1700" dirty="0"/>
          </a:p>
        </p:txBody>
      </p:sp>
      <p:sp>
        <p:nvSpPr>
          <p:cNvPr id="34" name="Shape 29"/>
          <p:cNvSpPr/>
          <p:nvPr/>
        </p:nvSpPr>
        <p:spPr>
          <a:xfrm>
            <a:off x="4663440" y="278892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663440" y="27889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2665476" y="2788920"/>
            <a:ext cx="1888236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2665476" y="2788920"/>
            <a:ext cx="1888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 IAM (قراءة فقط)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745236" y="2788920"/>
            <a:ext cx="1810512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45236" y="278892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ذكاء اصطناعي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4896612" y="3337560"/>
            <a:ext cx="955548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4896612" y="3337560"/>
            <a:ext cx="955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Next.js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3909060" y="333756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3909060" y="333756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Vercel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1911096" y="3337560"/>
            <a:ext cx="1888236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1911096" y="3337560"/>
            <a:ext cx="1888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WhatsApp / Telegram</a:t>
            </a:r>
            <a:endParaRPr lang="en-US" sz="1200" dirty="0"/>
          </a:p>
        </p:txBody>
      </p:sp>
      <p:sp>
        <p:nvSpPr>
          <p:cNvPr id="46" name="Text 41"/>
          <p:cNvSpPr txBox="1"/>
          <p:nvPr/>
        </p:nvSpPr>
        <p:spPr>
          <a:xfrm>
            <a:off x="457200" y="39319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 يعمل الآن على Vercel، والقراءة عبر APIs رسمية منخفضة التكلفة.</a:t>
            </a:r>
            <a:endParaRPr lang="en-US" sz="1300" dirty="0"/>
          </a:p>
        </p:txBody>
      </p:sp>
      <p:sp>
        <p:nvSpPr>
          <p:cNvPr id="47" name="Shape 42"/>
          <p:cNvSpPr/>
          <p:nvPr/>
        </p:nvSpPr>
        <p:spPr>
          <a:xfrm>
            <a:off x="8097317" y="4983480"/>
            <a:ext cx="3637178" cy="1143000"/>
          </a:xfrm>
          <a:prstGeom prst="roundRect">
            <a:avLst>
              <a:gd name="adj" fmla="val 11200"/>
            </a:avLst>
          </a:prstGeom>
          <a:solidFill>
            <a:srgbClr val="8E2F3C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8325917" y="5120640"/>
            <a:ext cx="31799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المرحلة 1 · الآن</a:t>
            </a:r>
            <a:endParaRPr lang="en-US" sz="1500" dirty="0"/>
          </a:p>
        </p:txBody>
      </p:sp>
      <p:sp>
        <p:nvSpPr>
          <p:cNvPr id="49" name="Text 44"/>
          <p:cNvSpPr txBox="1"/>
          <p:nvPr/>
        </p:nvSpPr>
        <p:spPr>
          <a:xfrm>
            <a:off x="8325917" y="5458968"/>
            <a:ext cx="31799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 + تيليجرام + 7 قواعد هدر + الموافقة بنقرة</a:t>
            </a:r>
            <a:endParaRPr lang="en-US" sz="1250" dirty="0"/>
          </a:p>
        </p:txBody>
      </p:sp>
      <p:sp>
        <p:nvSpPr>
          <p:cNvPr id="50" name="Shape 45"/>
          <p:cNvSpPr/>
          <p:nvPr/>
        </p:nvSpPr>
        <p:spPr>
          <a:xfrm>
            <a:off x="4277258" y="4983480"/>
            <a:ext cx="3637178" cy="1143000"/>
          </a:xfrm>
          <a:prstGeom prst="roundRect">
            <a:avLst>
              <a:gd name="adj" fmla="val 112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4505858" y="5120640"/>
            <a:ext cx="31799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المرحلة 2</a:t>
            </a:r>
            <a:endParaRPr lang="en-US" sz="1500" dirty="0"/>
          </a:p>
        </p:txBody>
      </p:sp>
      <p:sp>
        <p:nvSpPr>
          <p:cNvPr id="52" name="Text 47"/>
          <p:cNvSpPr txBox="1"/>
          <p:nvPr/>
        </p:nvSpPr>
        <p:spPr>
          <a:xfrm>
            <a:off x="4505858" y="5458968"/>
            <a:ext cx="31799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Azure وGCP + STC Cloud وSCCC وCNTXT عبر API أو رفع ملف الفاتورة</a:t>
            </a:r>
            <a:endParaRPr lang="en-US" sz="1250" dirty="0"/>
          </a:p>
        </p:txBody>
      </p:sp>
      <p:sp>
        <p:nvSpPr>
          <p:cNvPr id="53" name="Shape 48"/>
          <p:cNvSpPr/>
          <p:nvPr/>
        </p:nvSpPr>
        <p:spPr>
          <a:xfrm>
            <a:off x="457200" y="4983480"/>
            <a:ext cx="3637178" cy="1143000"/>
          </a:xfrm>
          <a:prstGeom prst="roundRect">
            <a:avLst>
              <a:gd name="adj" fmla="val 112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685800" y="5120640"/>
            <a:ext cx="31799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المرحلة 3</a:t>
            </a:r>
            <a:endParaRPr lang="en-US" sz="1500" dirty="0"/>
          </a:p>
        </p:txBody>
      </p:sp>
      <p:sp>
        <p:nvSpPr>
          <p:cNvPr id="55" name="Text 50"/>
          <p:cNvSpPr txBox="1"/>
          <p:nvPr/>
        </p:nvSpPr>
        <p:spPr>
          <a:xfrm>
            <a:off x="685800" y="5458968"/>
            <a:ext cx="31799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واتساب للأعمال + استضافة داخل المملكة + مسار ISO 27001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بنيناه فعلاً خلال التحدي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457200" y="2286000"/>
            <a:ext cx="5760720" cy="3135769"/>
          </a:xfrm>
          <a:prstGeom prst="roundRect">
            <a:avLst>
              <a:gd name="adj" fmla="val 3499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s-overvi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359152"/>
            <a:ext cx="5614416" cy="298946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57200" y="549492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لوحة التحكم: الفاتورة والهدر والتوقع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8945575" y="2286000"/>
            <a:ext cx="2788920" cy="3058467"/>
          </a:xfrm>
          <a:prstGeom prst="roundRect">
            <a:avLst>
              <a:gd name="adj" fmla="val 39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7" name="Image 4" descr="/tmp/claude-0/-home-claude/750ff410-f4aa-5276-9360-1e19d018b112/scratchpad/c/assets/s-appro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727" y="2359152"/>
            <a:ext cx="2642616" cy="291216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945575" y="5417619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نافذة الموافقة والصلاحية المؤقتة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446520" y="2286000"/>
            <a:ext cx="2270455" cy="3108960"/>
          </a:xfrm>
          <a:prstGeom prst="roundRect">
            <a:avLst>
              <a:gd name="adj" fmla="val 644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446520" y="2468880"/>
            <a:ext cx="2270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العرض الحي</a:t>
            </a:r>
            <a:endParaRPr lang="en-US" sz="1500" dirty="0"/>
          </a:p>
        </p:txBody>
      </p:sp>
      <p:pic>
        <p:nvPicPr>
          <p:cNvPr id="31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2880360"/>
            <a:ext cx="1813255" cy="1813255"/>
          </a:xfrm>
          <a:prstGeom prst="rect">
            <a:avLst/>
          </a:prstGeom>
        </p:spPr>
      </p:pic>
      <p:sp>
        <p:nvSpPr>
          <p:cNvPr id="32" name="Text 24">
            <a:hlinkClick r:id="rId7" tooltip=""/>
          </p:cNvPr>
          <p:cNvSpPr txBox="1"/>
          <p:nvPr/>
        </p:nvSpPr>
        <p:spPr>
          <a:xfrm>
            <a:off x="6446520" y="4739335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العرض على بيانات شركة افتراضية، والصلاحيات المعروضة هي صلاحيات AWS الحقيقية للقراءة.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 محسوب: نحو 110 آلاف ريال سنوياً لشركة من 120 موظفاً</a:t>
            </a:r>
            <a:endParaRPr lang="en-US" sz="2700" dirty="0"/>
          </a:p>
        </p:txBody>
      </p:sp>
      <p:sp>
        <p:nvSpPr>
          <p:cNvPr id="23" name="Shape 18"/>
          <p:cNvSpPr/>
          <p:nvPr/>
        </p:nvSpPr>
        <p:spPr>
          <a:xfrm>
            <a:off x="9223781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223781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85,400</a:t>
            </a:r>
            <a:endParaRPr lang="en-US" sz="3600" dirty="0"/>
          </a:p>
        </p:txBody>
      </p:sp>
      <p:sp>
        <p:nvSpPr>
          <p:cNvPr id="25" name="Text 20"/>
          <p:cNvSpPr txBox="1"/>
          <p:nvPr/>
        </p:nvSpPr>
        <p:spPr>
          <a:xfrm>
            <a:off x="9360941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فاتورة شهرية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812301" y="2331720"/>
            <a:ext cx="411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27" name="Shape 22"/>
          <p:cNvSpPr/>
          <p:nvPr/>
        </p:nvSpPr>
        <p:spPr>
          <a:xfrm>
            <a:off x="6301588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301588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7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6438748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توصيات من الوكيل الذكي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5890108" y="2331720"/>
            <a:ext cx="411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31" name="Shape 26"/>
          <p:cNvSpPr/>
          <p:nvPr/>
        </p:nvSpPr>
        <p:spPr>
          <a:xfrm>
            <a:off x="3379394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379394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9,202</a:t>
            </a:r>
            <a:endParaRPr lang="en-US" sz="3600" dirty="0"/>
          </a:p>
        </p:txBody>
      </p:sp>
      <p:sp>
        <p:nvSpPr>
          <p:cNvPr id="33" name="Text 28"/>
          <p:cNvSpPr txBox="1"/>
          <p:nvPr/>
        </p:nvSpPr>
        <p:spPr>
          <a:xfrm>
            <a:off x="3516554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توفير شهري (10.8%)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2967914" y="2331720"/>
            <a:ext cx="411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35" name="Shape 30"/>
          <p:cNvSpPr/>
          <p:nvPr/>
        </p:nvSpPr>
        <p:spPr>
          <a:xfrm>
            <a:off x="457200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8E2F3C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457200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110,424</a:t>
            </a:r>
            <a:endParaRPr lang="en-US" sz="3600" dirty="0"/>
          </a:p>
        </p:txBody>
      </p:sp>
      <p:sp>
        <p:nvSpPr>
          <p:cNvPr id="37" name="Text 32"/>
          <p:cNvSpPr txBox="1"/>
          <p:nvPr/>
        </p:nvSpPr>
        <p:spPr>
          <a:xfrm>
            <a:off x="594360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توفير سنوي</a:t>
            </a:r>
            <a:endParaRPr lang="en-US" sz="1400" dirty="0"/>
          </a:p>
        </p:txBody>
      </p:sp>
      <p:sp>
        <p:nvSpPr>
          <p:cNvPr id="38" name="Text 33"/>
          <p:cNvSpPr txBox="1"/>
          <p:nvPr/>
        </p:nvSpPr>
        <p:spPr>
          <a:xfrm>
            <a:off x="457200" y="4069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نقيس الأثر</a:t>
            </a:r>
            <a:endParaRPr lang="en-US" sz="1700" dirty="0"/>
          </a:p>
        </p:txBody>
      </p:sp>
      <p:sp>
        <p:nvSpPr>
          <p:cNvPr id="39" name="Shape 34"/>
          <p:cNvSpPr/>
          <p:nvPr/>
        </p:nvSpPr>
        <p:spPr>
          <a:xfrm>
            <a:off x="8127797" y="4526280"/>
            <a:ext cx="3606698" cy="960120"/>
          </a:xfrm>
          <a:prstGeom prst="roundRect">
            <a:avLst>
              <a:gd name="adj" fmla="val 13333"/>
            </a:avLst>
          </a:prstGeom>
          <a:solidFill>
            <a:srgbClr val="F1E4DF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8356397" y="4663440"/>
            <a:ext cx="31494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الريالات الموفرة فعلياً</a:t>
            </a:r>
            <a:endParaRPr lang="en-US" sz="1500" dirty="0"/>
          </a:p>
        </p:txBody>
      </p:sp>
      <p:sp>
        <p:nvSpPr>
          <p:cNvPr id="41" name="Text 36"/>
          <p:cNvSpPr txBox="1"/>
          <p:nvPr/>
        </p:nvSpPr>
        <p:spPr>
          <a:xfrm>
            <a:off x="8356397" y="502920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فاتورة المزود نفسها قبل وبعد</a:t>
            </a:r>
            <a:endParaRPr lang="en-US" sz="1250" dirty="0"/>
          </a:p>
        </p:txBody>
      </p:sp>
      <p:sp>
        <p:nvSpPr>
          <p:cNvPr id="42" name="Shape 37"/>
          <p:cNvSpPr/>
          <p:nvPr/>
        </p:nvSpPr>
        <p:spPr>
          <a:xfrm>
            <a:off x="4292498" y="4526280"/>
            <a:ext cx="3606698" cy="960120"/>
          </a:xfrm>
          <a:prstGeom prst="roundRect">
            <a:avLst>
              <a:gd name="adj" fmla="val 13333"/>
            </a:avLst>
          </a:prstGeom>
          <a:solidFill>
            <a:srgbClr val="F1E4DF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4521098" y="4663440"/>
            <a:ext cx="31494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نسبة التوصيات المنفذة</a:t>
            </a:r>
            <a:endParaRPr lang="en-US" sz="1500" dirty="0"/>
          </a:p>
        </p:txBody>
      </p:sp>
      <p:sp>
        <p:nvSpPr>
          <p:cNvPr id="44" name="Text 39"/>
          <p:cNvSpPr txBox="1"/>
          <p:nvPr/>
        </p:nvSpPr>
        <p:spPr>
          <a:xfrm>
            <a:off x="4521098" y="502920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كم توصية تحولت إلى توفير حقيقي</a:t>
            </a:r>
            <a:endParaRPr lang="en-US" sz="1250" dirty="0"/>
          </a:p>
        </p:txBody>
      </p:sp>
      <p:sp>
        <p:nvSpPr>
          <p:cNvPr id="45" name="Shape 40"/>
          <p:cNvSpPr/>
          <p:nvPr/>
        </p:nvSpPr>
        <p:spPr>
          <a:xfrm>
            <a:off x="457200" y="4526280"/>
            <a:ext cx="3606698" cy="960120"/>
          </a:xfrm>
          <a:prstGeom prst="roundRect">
            <a:avLst>
              <a:gd name="adj" fmla="val 13333"/>
            </a:avLst>
          </a:prstGeom>
          <a:solidFill>
            <a:srgbClr val="F1E4DF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685800" y="4663440"/>
            <a:ext cx="31494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زمن إزالة الهدر</a:t>
            </a:r>
            <a:endParaRPr lang="en-US" sz="1500" dirty="0"/>
          </a:p>
        </p:txBody>
      </p:sp>
      <p:sp>
        <p:nvSpPr>
          <p:cNvPr id="47" name="Text 42"/>
          <p:cNvSpPr txBox="1"/>
          <p:nvPr/>
        </p:nvSpPr>
        <p:spPr>
          <a:xfrm>
            <a:off x="685800" y="502920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أسابيع إلى دقائق بعد التنبيه</a:t>
            </a:r>
            <a:endParaRPr lang="en-US" sz="1250" dirty="0"/>
          </a:p>
        </p:txBody>
      </p:sp>
      <p:sp>
        <p:nvSpPr>
          <p:cNvPr id="48" name="Text 43"/>
          <p:cNvSpPr txBox="1"/>
          <p:nvPr/>
        </p:nvSpPr>
        <p:spPr>
          <a:xfrm>
            <a:off x="457200" y="566928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المال الموفر يبقى في الشركة، ودعم السحب المحلية يخدم سيادة البيانات. الأرقام من النموذج الأولي على بيانات شركة افتراضية.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074859" y="987552"/>
            <a:ext cx="165963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074859" y="987552"/>
            <a:ext cx="16596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العمل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ابدأ مجاناً، ثم ادفع لكل مورد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بدون اشتراكات ثابتة: الدفع حسب الموارد المُدارة، ورسوم منفصلة للاستشارات المتقدمة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188757" y="2743200"/>
            <a:ext cx="3545738" cy="3063240"/>
          </a:xfrm>
          <a:prstGeom prst="roundRect">
            <a:avLst>
              <a:gd name="adj" fmla="val 5373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63077" y="2971800"/>
            <a:ext cx="2997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الفحص الأول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8463077" y="3337560"/>
            <a:ext cx="29970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مجاني</a:t>
            </a:r>
            <a:endParaRPr lang="en-US" sz="3000" dirty="0"/>
          </a:p>
        </p:txBody>
      </p:sp>
      <p:sp>
        <p:nvSpPr>
          <p:cNvPr id="27" name="Text 22"/>
          <p:cNvSpPr txBox="1"/>
          <p:nvPr/>
        </p:nvSpPr>
        <p:spPr>
          <a:xfrm>
            <a:off x="8463077" y="3904488"/>
            <a:ext cx="2997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مرة واحدة، بدون بطاقة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463077" y="4297680"/>
            <a:ext cx="2997098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68735" y="4498848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463077" y="4389120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حسابات سحابية متعددة</a:t>
            </a:r>
            <a:endParaRPr lang="en-US" sz="1300" dirty="0"/>
          </a:p>
        </p:txBody>
      </p:sp>
      <p:sp>
        <p:nvSpPr>
          <p:cNvPr id="31" name="Shape 26"/>
          <p:cNvSpPr/>
          <p:nvPr/>
        </p:nvSpPr>
        <p:spPr>
          <a:xfrm>
            <a:off x="11368735" y="4837176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463077" y="4727448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تقرير كامل عن الهدر PDF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11368735" y="5175504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463077" y="5065776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أعلى فرص التوفير وقيمتها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4322978" y="2743200"/>
            <a:ext cx="3545738" cy="3063240"/>
          </a:xfrm>
          <a:prstGeom prst="roundRect">
            <a:avLst>
              <a:gd name="adj" fmla="val 5373"/>
            </a:avLst>
          </a:prstGeom>
          <a:solidFill>
            <a:srgbClr val="8E2F3C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4597298" y="2971800"/>
            <a:ext cx="2997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حسب الاستخدام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4597298" y="3337560"/>
            <a:ext cx="29970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15 ريال</a:t>
            </a:r>
            <a:endParaRPr lang="en-US" sz="3000" dirty="0"/>
          </a:p>
        </p:txBody>
      </p:sp>
      <p:sp>
        <p:nvSpPr>
          <p:cNvPr id="38" name="Text 33"/>
          <p:cNvSpPr txBox="1"/>
          <p:nvPr/>
        </p:nvSpPr>
        <p:spPr>
          <a:xfrm>
            <a:off x="4597298" y="3904488"/>
            <a:ext cx="2997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1E4D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لكل مورد مُدار شهرياً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4597298" y="4297680"/>
            <a:ext cx="2997098" cy="0"/>
          </a:xfrm>
          <a:prstGeom prst="line">
            <a:avLst/>
          </a:prstGeom>
          <a:noFill/>
          <a:ln w="9525">
            <a:solidFill>
              <a:srgbClr val="D48A93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7502957" y="4498848"/>
            <a:ext cx="91440" cy="914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4597298" y="4389120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مستمر وتوقع للفاتورة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7502957" y="4837176"/>
            <a:ext cx="91440" cy="914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4597298" y="4727448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وتيليجرام</a:t>
            </a:r>
            <a:endParaRPr lang="en-US" sz="1300" dirty="0"/>
          </a:p>
        </p:txBody>
      </p:sp>
      <p:sp>
        <p:nvSpPr>
          <p:cNvPr id="44" name="Shape 39"/>
          <p:cNvSpPr/>
          <p:nvPr/>
        </p:nvSpPr>
        <p:spPr>
          <a:xfrm>
            <a:off x="7502957" y="5175504"/>
            <a:ext cx="91440" cy="914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7298" y="5065776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إصلاح بنقرة مع سجل تدقيق</a:t>
            </a:r>
            <a:endParaRPr lang="en-US" sz="1300" dirty="0"/>
          </a:p>
        </p:txBody>
      </p:sp>
      <p:sp>
        <p:nvSpPr>
          <p:cNvPr id="46" name="Shape 41"/>
          <p:cNvSpPr/>
          <p:nvPr/>
        </p:nvSpPr>
        <p:spPr>
          <a:xfrm>
            <a:off x="7502957" y="5513832"/>
            <a:ext cx="91440" cy="914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4597298" y="5404104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سقف شهري تحدده أنت</a:t>
            </a:r>
            <a:endParaRPr lang="en-US" sz="1300" dirty="0"/>
          </a:p>
        </p:txBody>
      </p:sp>
      <p:sp>
        <p:nvSpPr>
          <p:cNvPr id="48" name="Shape 43"/>
          <p:cNvSpPr/>
          <p:nvPr/>
        </p:nvSpPr>
        <p:spPr>
          <a:xfrm>
            <a:off x="457200" y="2743200"/>
            <a:ext cx="3545738" cy="3063240"/>
          </a:xfrm>
          <a:prstGeom prst="roundRect">
            <a:avLst>
              <a:gd name="adj" fmla="val 5373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731520" y="2971800"/>
            <a:ext cx="2997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استشارات FinOps</a:t>
            </a:r>
            <a:endParaRPr lang="en-US" sz="1600" dirty="0"/>
          </a:p>
        </p:txBody>
      </p:sp>
      <p:sp>
        <p:nvSpPr>
          <p:cNvPr id="50" name="Text 45"/>
          <p:cNvSpPr txBox="1"/>
          <p:nvPr/>
        </p:nvSpPr>
        <p:spPr>
          <a:xfrm>
            <a:off x="731520" y="3337560"/>
            <a:ext cx="29970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حسب الطلب</a:t>
            </a:r>
            <a:endParaRPr lang="en-US" sz="3000" dirty="0"/>
          </a:p>
        </p:txBody>
      </p:sp>
      <p:sp>
        <p:nvSpPr>
          <p:cNvPr id="51" name="Text 46"/>
          <p:cNvSpPr txBox="1"/>
          <p:nvPr/>
        </p:nvSpPr>
        <p:spPr>
          <a:xfrm>
            <a:off x="731520" y="3904488"/>
            <a:ext cx="2997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لكل مشروع</a:t>
            </a:r>
            <a:endParaRPr lang="en-US" sz="1200" dirty="0"/>
          </a:p>
        </p:txBody>
      </p:sp>
      <p:sp>
        <p:nvSpPr>
          <p:cNvPr id="52" name="Shape 47"/>
          <p:cNvSpPr/>
          <p:nvPr/>
        </p:nvSpPr>
        <p:spPr>
          <a:xfrm>
            <a:off x="731520" y="4297680"/>
            <a:ext cx="2997098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3" name="Shape 48"/>
          <p:cNvSpPr/>
          <p:nvPr/>
        </p:nvSpPr>
        <p:spPr>
          <a:xfrm>
            <a:off x="3637178" y="4498848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31520" y="4389120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مهندس FinOps مخصص</a:t>
            </a:r>
            <a:endParaRPr lang="en-US" sz="1300" dirty="0"/>
          </a:p>
        </p:txBody>
      </p:sp>
      <p:sp>
        <p:nvSpPr>
          <p:cNvPr id="55" name="Shape 50"/>
          <p:cNvSpPr/>
          <p:nvPr/>
        </p:nvSpPr>
        <p:spPr>
          <a:xfrm>
            <a:off x="3637178" y="4837176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731520" y="4727448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خطط الالتزام والحجوزات</a:t>
            </a:r>
            <a:endParaRPr lang="en-US" sz="1300" dirty="0"/>
          </a:p>
        </p:txBody>
      </p:sp>
      <p:sp>
        <p:nvSpPr>
          <p:cNvPr id="57" name="Shape 52"/>
          <p:cNvSpPr/>
          <p:nvPr/>
        </p:nvSpPr>
        <p:spPr>
          <a:xfrm>
            <a:off x="3637178" y="5175504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731520" y="5065776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حوكمة التكاليف بين الفرق</a:t>
            </a:r>
            <a:endParaRPr lang="en-US" sz="1300" dirty="0"/>
          </a:p>
        </p:txBody>
      </p:sp>
      <p:sp>
        <p:nvSpPr>
          <p:cNvPr id="59" name="Text 54"/>
          <p:cNvSpPr txBox="1"/>
          <p:nvPr/>
        </p:nvSpPr>
        <p:spPr>
          <a:xfrm>
            <a:off x="457200" y="58978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العميل يوفر أكثر مما يدفع: في المثال المحسوب 9,202 ريال توفير شهري.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نطوّر الحل، وما الدعم الذي نحتاجه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6035040" y="228600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التطوير المستقبلي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6035040" y="2743200"/>
            <a:ext cx="5699455" cy="932688"/>
          </a:xfrm>
          <a:prstGeom prst="roundRect">
            <a:avLst>
              <a:gd name="adj" fmla="val 1372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309360" y="2862072"/>
            <a:ext cx="51508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3200400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التكاليف بين المزودين واقتراح الانتقال للسحابة الأوفر بناءً على التحليل المالي.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6035040" y="3822192"/>
            <a:ext cx="5699455" cy="932688"/>
          </a:xfrm>
          <a:prstGeom prst="roundRect">
            <a:avLst>
              <a:gd name="adj" fmla="val 1372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309360" y="3941064"/>
            <a:ext cx="51508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6309360" y="4279392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السيرفرات المحلية (On-Premises) مع المنصات السحابية في لوحة واحدة.</a:t>
            </a:r>
            <a:endParaRPr lang="en-US" sz="1250" dirty="0"/>
          </a:p>
        </p:txBody>
      </p:sp>
      <p:sp>
        <p:nvSpPr>
          <p:cNvPr id="30" name="Shape 25"/>
          <p:cNvSpPr/>
          <p:nvPr/>
        </p:nvSpPr>
        <p:spPr>
          <a:xfrm>
            <a:off x="6035040" y="4901184"/>
            <a:ext cx="5699455" cy="932688"/>
          </a:xfrm>
          <a:prstGeom prst="roundRect">
            <a:avLst>
              <a:gd name="adj" fmla="val 1372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09360" y="5020056"/>
            <a:ext cx="51508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مراقبة وإنذار مبكر 24/7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6309360" y="5358384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 واتساب فوري عند أي ارتفاع مفاجئ في الاستهلاك (Cost Spike).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457200" y="2286000"/>
            <a:ext cx="5303520" cy="3712464"/>
          </a:xfrm>
          <a:prstGeom prst="roundRect">
            <a:avLst>
              <a:gd name="adj" fmla="val 4433"/>
            </a:avLst>
          </a:prstGeom>
          <a:solidFill>
            <a:srgbClr val="8E2F3C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777240" y="251460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التوجيه والدعم</a:t>
            </a:r>
            <a:endParaRPr lang="en-US" sz="1800" dirty="0"/>
          </a:p>
        </p:txBody>
      </p:sp>
      <p:sp>
        <p:nvSpPr>
          <p:cNvPr id="35" name="Shape 30"/>
          <p:cNvSpPr/>
          <p:nvPr/>
        </p:nvSpPr>
        <p:spPr>
          <a:xfrm>
            <a:off x="5321808" y="3154680"/>
            <a:ext cx="118872" cy="11887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777240" y="306324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توجيه من خبراء السحابة وأمن المعلومات لتطوير نموذج الذكاء الاصطناعي ورفع كفاءة الأمان وتوطين البيانات.</a:t>
            </a:r>
            <a:endParaRPr lang="en-US" sz="1350" dirty="0"/>
          </a:p>
        </p:txBody>
      </p:sp>
      <p:sp>
        <p:nvSpPr>
          <p:cNvPr id="37" name="Shape 32"/>
          <p:cNvSpPr/>
          <p:nvPr/>
        </p:nvSpPr>
        <p:spPr>
          <a:xfrm>
            <a:off x="5321808" y="4069080"/>
            <a:ext cx="118872" cy="11887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777240" y="397764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شراكة مع مزود سحابة محلي لاختبار الربط مع STC Cloud أو SCCC أو CNTXT.</a:t>
            </a:r>
            <a:endParaRPr lang="en-US" sz="1350" dirty="0"/>
          </a:p>
        </p:txBody>
      </p:sp>
      <p:sp>
        <p:nvSpPr>
          <p:cNvPr id="39" name="Shape 34"/>
          <p:cNvSpPr/>
          <p:nvPr/>
        </p:nvSpPr>
        <p:spPr>
          <a:xfrm>
            <a:off x="5321808" y="4983480"/>
            <a:ext cx="118872" cy="11887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777240" y="489204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تجربة الفحص المجاني مع 10 شركات حقيقية للتحقق من حجم الهدر.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14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1737360"/>
            <a:ext cx="7528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48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269748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24612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6156655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الموقع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457200" y="3931920"/>
            <a:ext cx="5562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cloudtrim-sa.vercel.app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156655" y="4407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العرض التجريبي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457200" y="4407408"/>
            <a:ext cx="5562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cloudtrim-sa.vercel.app/demo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6156655" y="48828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الفريق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457200" y="4882896"/>
            <a:ext cx="5562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SSB · مسار الحوسبة السحابية والبنية التحتية</a:t>
            </a:r>
            <a:endParaRPr lang="en-US" sz="1400" dirty="0"/>
          </a:p>
        </p:txBody>
      </p:sp>
      <p:pic>
        <p:nvPicPr>
          <p:cNvPr id="36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2026-10-02T18:08:13Z</dcterms:created>
  <dcterms:modified xsi:type="dcterms:W3CDTF">2026-10-02T18:08:13Z</dcterms:modified>
</cp:coreProperties>
</file>