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hyperlink" Target="https://cloudtrim-sa.vercel.app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0" y="4160520"/>
            <a:ext cx="5333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FinOps ذكية تكتشف الهدر في فاتورة السحابة وتشرحه، ولا تغيّر شيئاً قبل موافقة فريقكم بنقرة واحدة.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0390327" y="516636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390327" y="516636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515807" y="516636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515807" y="5166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8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9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SSB: ثلاثة أعضاء، ومنتج يعمل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اسم المشروع: CloudTrim · مسار الحوسبة السحابية والبنية التحتية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2" name="Shape 25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3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5" name="Text 27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لماذا تخرج تكاليف السحابة عن السيطرة؟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40280"/>
            <a:ext cx="11277295" cy="1298448"/>
          </a:xfrm>
          <a:prstGeom prst="roundRect">
            <a:avLst>
              <a:gd name="adj" fmla="val 12676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915171" y="2304288"/>
            <a:ext cx="28193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9189491" y="292608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السحابي مهدر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6095848" y="2304288"/>
            <a:ext cx="28193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3600" dirty="0"/>
          </a:p>
        </p:txBody>
      </p:sp>
      <p:sp>
        <p:nvSpPr>
          <p:cNvPr id="27" name="Text 22"/>
          <p:cNvSpPr txBox="1"/>
          <p:nvPr/>
        </p:nvSpPr>
        <p:spPr>
          <a:xfrm>
            <a:off x="6370168" y="292608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متوسط تجاوز ميزانية السحابة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276524" y="2304288"/>
            <a:ext cx="28193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3550844" y="292608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المؤسسات تعرضت لعطل كبير سببه خطأ بشري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457200" y="2304288"/>
            <a:ext cx="28193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3600" dirty="0"/>
          </a:p>
        </p:txBody>
      </p:sp>
      <p:sp>
        <p:nvSpPr>
          <p:cNvPr id="31" name="Text 26"/>
          <p:cNvSpPr txBox="1"/>
          <p:nvPr/>
        </p:nvSpPr>
        <p:spPr>
          <a:xfrm>
            <a:off x="731520" y="292608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سوق السحابة السعودي في 2025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3675888"/>
            <a:ext cx="5470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الأسباب الجذرية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11350447" y="407822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11350447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041648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حذف الموارد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288536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إنشاء المورد سهل وحذفه بلا مالك، والفاتورة تصل للمالية لا للمهندس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11350447" y="45537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11350447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263640" y="4517136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يوجد مختص FinOps</a:t>
            </a:r>
            <a:endParaRPr lang="en-US" sz="1350" dirty="0"/>
          </a:p>
        </p:txBody>
      </p:sp>
      <p:sp>
        <p:nvSpPr>
          <p:cNvPr id="40" name="Text 35"/>
          <p:cNvSpPr txBox="1"/>
          <p:nvPr/>
        </p:nvSpPr>
        <p:spPr>
          <a:xfrm>
            <a:off x="6263640" y="4764024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من 50 إلى 250 موظفاً لا توظف فريقاً لتكاليف السحابة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11350447" y="50292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11350447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6263640" y="4992624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لا ترى السحب المحلية</a:t>
            </a:r>
            <a:endParaRPr lang="en-US" sz="1350" dirty="0"/>
          </a:p>
        </p:txBody>
      </p:sp>
      <p:sp>
        <p:nvSpPr>
          <p:cNvPr id="44" name="Text 39"/>
          <p:cNvSpPr txBox="1"/>
          <p:nvPr/>
        </p:nvSpPr>
        <p:spPr>
          <a:xfrm>
            <a:off x="6263640" y="5239512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Cloud وSCCC وCNTXT خارج أدوات FinOps العالمية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11350447" y="5504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11350447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6263640" y="5468112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6263640" y="5715000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نقرة خاطئة قد توقف خدمة حيوية، فلا أحد يجرؤ على الإيقاف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457200" y="3703320"/>
            <a:ext cx="5440680" cy="2212848"/>
          </a:xfrm>
          <a:prstGeom prst="roundRect">
            <a:avLst>
              <a:gd name="adj" fmla="val 661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31520" y="3822192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يتأثر؟</a:t>
            </a:r>
            <a:endParaRPr lang="en-US" sz="1600" dirty="0"/>
          </a:p>
        </p:txBody>
      </p:sp>
      <p:sp>
        <p:nvSpPr>
          <p:cNvPr id="51" name="Shape 46"/>
          <p:cNvSpPr/>
          <p:nvPr/>
        </p:nvSpPr>
        <p:spPr>
          <a:xfrm>
            <a:off x="5477256" y="4315968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731520" y="4251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400" dirty="0"/>
          </a:p>
        </p:txBody>
      </p:sp>
      <p:sp>
        <p:nvSpPr>
          <p:cNvPr id="53" name="Text 48"/>
          <p:cNvSpPr txBox="1"/>
          <p:nvPr/>
        </p:nvSpPr>
        <p:spPr>
          <a:xfrm>
            <a:off x="731520" y="45079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ميزانية غير متوقعة كل شهر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5477256" y="484632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731520" y="4782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المؤسس</a:t>
            </a:r>
            <a:endParaRPr lang="en-US" sz="1400" dirty="0"/>
          </a:p>
        </p:txBody>
      </p:sp>
      <p:sp>
        <p:nvSpPr>
          <p:cNvPr id="56" name="Text 51"/>
          <p:cNvSpPr txBox="1"/>
          <p:nvPr/>
        </p:nvSpPr>
        <p:spPr>
          <a:xfrm>
            <a:off x="731520" y="503834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السيولة تنفد أسرع مما يجب</a:t>
            </a:r>
            <a:endParaRPr lang="en-US" sz="1200" dirty="0"/>
          </a:p>
        </p:txBody>
      </p:sp>
      <p:sp>
        <p:nvSpPr>
          <p:cNvPr id="57" name="Shape 52"/>
          <p:cNvSpPr/>
          <p:nvPr/>
        </p:nvSpPr>
        <p:spPr>
          <a:xfrm>
            <a:off x="5477256" y="5376672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731520" y="53126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DevOps</a:t>
            </a:r>
            <a:endParaRPr lang="en-US" sz="1400" dirty="0"/>
          </a:p>
        </p:txBody>
      </p:sp>
      <p:sp>
        <p:nvSpPr>
          <p:cNvPr id="59" name="Text 54"/>
          <p:cNvSpPr txBox="1"/>
          <p:nvPr/>
        </p:nvSpPr>
        <p:spPr>
          <a:xfrm>
            <a:off x="731520" y="556869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يُلام على أي توقف، فيتجنب الإيقاف</a:t>
            </a:r>
            <a:endParaRPr lang="en-US" sz="1200" dirty="0"/>
          </a:p>
        </p:txBody>
      </p:sp>
      <p:sp>
        <p:nvSpPr>
          <p:cNvPr id="60" name="Text 55"/>
          <p:cNvSpPr txBox="1"/>
          <p:nvPr/>
        </p:nvSpPr>
        <p:spPr>
          <a:xfrm>
            <a:off x="457200" y="60350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المصادر: Flexera State of the Cloud 2026 · Uptime Institute Annual Outage Analysis · MarketsandMarkets Saudi Arabia Cloud Computing Market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نكتشف الهدر، ونشرحه، وأنتم تقررون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SaaS بوكيل ذكاء اصطناعي، مع استشارات FinOps بشرية للحالات المعقدة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9052331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62059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280931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رؤية لأين يذهب المال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9280931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موصلات للقراءة فقط ولوحة واحدة لكل السحابات</a:t>
            </a:r>
            <a:endParaRPr lang="en-US" sz="1350" dirty="0"/>
          </a:p>
        </p:txBody>
      </p:sp>
      <p:sp>
        <p:nvSpPr>
          <p:cNvPr id="28" name="Shape 23"/>
          <p:cNvSpPr/>
          <p:nvPr/>
        </p:nvSpPr>
        <p:spPr>
          <a:xfrm>
            <a:off x="6187288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97016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415888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المشكلة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6415888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أو تيليجرام لشخص محدد مع رابط الموافقة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322244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3431972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550844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3550844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بشرية، صلاحية مؤقتة، Snapshot، وتراجع بنقرة</a:t>
            </a:r>
            <a:endParaRPr lang="en-US" sz="1350" dirty="0"/>
          </a:p>
        </p:txBody>
      </p:sp>
      <p:sp>
        <p:nvSpPr>
          <p:cNvPr id="36" name="Shape 31"/>
          <p:cNvSpPr/>
          <p:nvPr/>
        </p:nvSpPr>
        <p:spPr>
          <a:xfrm>
            <a:off x="457200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66928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85800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غالية وباشتراك ثابت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85800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مجاني، ثم دفع حسب الاستخدام بسقف شهري</a:t>
            </a:r>
            <a:endParaRPr lang="en-US" sz="135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251960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يقترح، والإنسان يقرر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969246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231575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1231575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10078974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للقراءة فقط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8066837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329166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9329166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8176565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توصية الذكاء الاصطناعي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6164428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8E2F3C"/>
          </a:solidFill>
          <a:ln/>
        </p:spPr>
      </p:sp>
      <p:sp>
        <p:nvSpPr>
          <p:cNvPr id="50" name="Shape 45"/>
          <p:cNvSpPr/>
          <p:nvPr/>
        </p:nvSpPr>
        <p:spPr>
          <a:xfrm>
            <a:off x="7426757" y="4855464"/>
            <a:ext cx="365760" cy="36576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7426757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274156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</a:t>
            </a:r>
            <a:endParaRPr lang="en-US" sz="1200" dirty="0"/>
          </a:p>
        </p:txBody>
      </p:sp>
      <p:sp>
        <p:nvSpPr>
          <p:cNvPr id="53" name="Shape 48"/>
          <p:cNvSpPr/>
          <p:nvPr/>
        </p:nvSpPr>
        <p:spPr>
          <a:xfrm>
            <a:off x="4262018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5524348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5524348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1"/>
          <p:cNvSpPr txBox="1"/>
          <p:nvPr/>
        </p:nvSpPr>
        <p:spPr>
          <a:xfrm>
            <a:off x="4371746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 15 دقيقة</a:t>
            </a:r>
            <a:endParaRPr lang="en-US" sz="1200" dirty="0"/>
          </a:p>
        </p:txBody>
      </p:sp>
      <p:sp>
        <p:nvSpPr>
          <p:cNvPr id="57" name="Shape 52"/>
          <p:cNvSpPr/>
          <p:nvPr/>
        </p:nvSpPr>
        <p:spPr>
          <a:xfrm>
            <a:off x="2359609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3621938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621938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</a:t>
            </a:r>
            <a:endParaRPr lang="en-US" sz="1300" dirty="0"/>
          </a:p>
        </p:txBody>
      </p:sp>
      <p:sp>
        <p:nvSpPr>
          <p:cNvPr id="60" name="Text 55"/>
          <p:cNvSpPr txBox="1"/>
          <p:nvPr/>
        </p:nvSpPr>
        <p:spPr>
          <a:xfrm>
            <a:off x="2469337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آمن مع تراجع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457200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1719529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1719529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6</a:t>
            </a:r>
            <a:endParaRPr lang="en-US" sz="1300" dirty="0"/>
          </a:p>
        </p:txBody>
      </p:sp>
      <p:sp>
        <p:nvSpPr>
          <p:cNvPr id="64" name="Text 59"/>
          <p:cNvSpPr txBox="1"/>
          <p:nvPr/>
        </p:nvSpPr>
        <p:spPr>
          <a:xfrm>
            <a:off x="566928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سحب الصلاحية والتدقيق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7863840" y="5596128"/>
            <a:ext cx="38706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(دون ادّعاء شهادة):</a:t>
            </a:r>
            <a:endParaRPr lang="en-US" sz="1200" dirty="0"/>
          </a:p>
        </p:txBody>
      </p:sp>
      <p:sp>
        <p:nvSpPr>
          <p:cNvPr id="66" name="Shape 61"/>
          <p:cNvSpPr/>
          <p:nvPr/>
        </p:nvSpPr>
        <p:spPr>
          <a:xfrm>
            <a:off x="6739128" y="559612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6739128" y="559612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NCA ECC</a:t>
            </a:r>
            <a:endParaRPr lang="en-US" sz="1150" dirty="0"/>
          </a:p>
        </p:txBody>
      </p:sp>
      <p:sp>
        <p:nvSpPr>
          <p:cNvPr id="68" name="Shape 63"/>
          <p:cNvSpPr/>
          <p:nvPr/>
        </p:nvSpPr>
        <p:spPr>
          <a:xfrm>
            <a:off x="5843016" y="5596128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5843016" y="5596128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PDPL</a:t>
            </a:r>
            <a:endParaRPr lang="en-US" sz="1150" dirty="0"/>
          </a:p>
        </p:txBody>
      </p:sp>
      <p:sp>
        <p:nvSpPr>
          <p:cNvPr id="70" name="Shape 65"/>
          <p:cNvSpPr/>
          <p:nvPr/>
        </p:nvSpPr>
        <p:spPr>
          <a:xfrm>
            <a:off x="4535424" y="5596128"/>
            <a:ext cx="119786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535424" y="559612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27001</a:t>
            </a:r>
            <a:endParaRPr lang="en-US" sz="1150" dirty="0"/>
          </a:p>
        </p:txBody>
      </p:sp>
      <p:sp>
        <p:nvSpPr>
          <p:cNvPr id="72" name="Shape 67"/>
          <p:cNvSpPr/>
          <p:nvPr/>
        </p:nvSpPr>
        <p:spPr>
          <a:xfrm>
            <a:off x="3227832" y="5596128"/>
            <a:ext cx="119786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3227832" y="559612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27017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موظفاً، بلا فريق FinOps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رواد الأعمال والشركات الناشئة والمتوسطة التي تفتقر لخبراء سحابة، وفاتورتها عشرات الآلاف شهرياً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263640" y="2743200"/>
            <a:ext cx="5470855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83680" y="2926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شخصية العرض: "نخلة تك"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0" y="3310128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افتراضية نستخدمها في النموذج الأولي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9804197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120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804197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193938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193938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583680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342</a:t>
            </a:r>
            <a:endParaRPr lang="en-US" sz="2600" dirty="0"/>
          </a:p>
        </p:txBody>
      </p:sp>
      <p:sp>
        <p:nvSpPr>
          <p:cNvPr id="32" name="Text 27"/>
          <p:cNvSpPr txBox="1"/>
          <p:nvPr/>
        </p:nvSpPr>
        <p:spPr>
          <a:xfrm>
            <a:off x="6583680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مورداً سحابياً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9859061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9895637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المهندس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9895637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يستلم التنبيه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248802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285378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التقني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85378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يوافق بنقرة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6638544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675120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يقرأ التقرير ويدفع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57200" y="27432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822960" y="29260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السوق</a:t>
            </a:r>
            <a:endParaRPr lang="en-US" sz="1800" dirty="0"/>
          </a:p>
        </p:txBody>
      </p:sp>
      <p:sp>
        <p:nvSpPr>
          <p:cNvPr id="44" name="Text 39"/>
          <p:cNvSpPr txBox="1"/>
          <p:nvPr/>
        </p:nvSpPr>
        <p:spPr>
          <a:xfrm>
            <a:off x="822960" y="3383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800" dirty="0"/>
          </a:p>
        </p:txBody>
      </p:sp>
      <p:sp>
        <p:nvSpPr>
          <p:cNvPr id="45" name="Text 40"/>
          <p:cNvSpPr txBox="1"/>
          <p:nvPr/>
        </p:nvSpPr>
        <p:spPr>
          <a:xfrm>
            <a:off x="822960" y="416052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الحوسبة السحابية في السعودية، 2025</a:t>
            </a:r>
            <a:endParaRPr lang="en-US" sz="1500" dirty="0"/>
          </a:p>
        </p:txBody>
      </p:sp>
      <p:sp>
        <p:nvSpPr>
          <p:cNvPr id="46" name="Text 41"/>
          <p:cNvSpPr txBox="1"/>
          <p:nvPr/>
        </p:nvSpPr>
        <p:spPr>
          <a:xfrm>
            <a:off x="822960" y="4617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A46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3000" dirty="0"/>
          </a:p>
        </p:txBody>
      </p:sp>
      <p:sp>
        <p:nvSpPr>
          <p:cNvPr id="47" name="Text 42"/>
          <p:cNvSpPr txBox="1"/>
          <p:nvPr/>
        </p:nvSpPr>
        <p:spPr>
          <a:xfrm>
            <a:off x="822960" y="51663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بحلول 2030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822960" y="55778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المصدر: MarketsandMarkets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مصمم للشركات السعودية من البداية، وليس معدّلاً لها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5242560" y="2194560"/>
            <a:ext cx="2164080" cy="3291840"/>
          </a:xfrm>
          <a:prstGeom prst="roundRect">
            <a:avLst>
              <a:gd name="adj" fmla="val 5915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24256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289560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منصات FinOps العالمية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التكلفة المدمجة في السحابة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7680960" y="2240280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457200" y="288036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680960" y="2880360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141720" y="2953512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1417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379476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79476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144780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14478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457200" y="339242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680960" y="3392424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 قبل أي تغيير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141720" y="3465576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1417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5"/>
          <p:cNvSpPr/>
          <p:nvPr/>
        </p:nvSpPr>
        <p:spPr>
          <a:xfrm>
            <a:off x="3794760" y="3465576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79476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42" name="Shape 37"/>
          <p:cNvSpPr/>
          <p:nvPr/>
        </p:nvSpPr>
        <p:spPr>
          <a:xfrm>
            <a:off x="1447800" y="3465576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44780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457200" y="390448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680960" y="3904488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إصلاحات، وليس تقارير فقط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141720" y="3977640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1417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3794760" y="3977640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79476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1447800" y="3977640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14478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2" name="Shape 47"/>
          <p:cNvSpPr/>
          <p:nvPr/>
        </p:nvSpPr>
        <p:spPr>
          <a:xfrm>
            <a:off x="457200" y="441655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680960" y="4416552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وواجهة عربية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141720" y="4489704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1417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56" name="Shape 51"/>
          <p:cNvSpPr/>
          <p:nvPr/>
        </p:nvSpPr>
        <p:spPr>
          <a:xfrm>
            <a:off x="379476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79476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8" name="Shape 53"/>
          <p:cNvSpPr/>
          <p:nvPr/>
        </p:nvSpPr>
        <p:spPr>
          <a:xfrm>
            <a:off x="144780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144780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0" name="Shape 55"/>
          <p:cNvSpPr/>
          <p:nvPr/>
        </p:nvSpPr>
        <p:spPr>
          <a:xfrm>
            <a:off x="457200" y="492861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7680960" y="4928616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أسعار مناسبة لـ 50 إلى 250 موظفاً</a:t>
            </a:r>
            <a:endParaRPr lang="en-US" sz="1500" dirty="0"/>
          </a:p>
        </p:txBody>
      </p:sp>
      <p:sp>
        <p:nvSpPr>
          <p:cNvPr id="62" name="Shape 57"/>
          <p:cNvSpPr/>
          <p:nvPr/>
        </p:nvSpPr>
        <p:spPr>
          <a:xfrm>
            <a:off x="614172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61417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4" name="Shape 59"/>
          <p:cNvSpPr/>
          <p:nvPr/>
        </p:nvSpPr>
        <p:spPr>
          <a:xfrm>
            <a:off x="3794760" y="5001768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379476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6" name="Shape 61"/>
          <p:cNvSpPr/>
          <p:nvPr/>
        </p:nvSpPr>
        <p:spPr>
          <a:xfrm>
            <a:off x="144780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144780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8" name="Shape 63"/>
          <p:cNvSpPr/>
          <p:nvPr/>
        </p:nvSpPr>
        <p:spPr>
          <a:xfrm>
            <a:off x="3200400" y="5779008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251460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70" name="Shape 65"/>
          <p:cNvSpPr/>
          <p:nvPr/>
        </p:nvSpPr>
        <p:spPr>
          <a:xfrm>
            <a:off x="2240280" y="5779008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71" name="Text 66"/>
          <p:cNvSpPr txBox="1"/>
          <p:nvPr/>
        </p:nvSpPr>
        <p:spPr>
          <a:xfrm>
            <a:off x="155448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72" name="Shape 67"/>
          <p:cNvSpPr/>
          <p:nvPr/>
        </p:nvSpPr>
        <p:spPr>
          <a:xfrm>
            <a:off x="1280160" y="5779008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59436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  <p:sp>
        <p:nvSpPr>
          <p:cNvPr id="74" name="Text 69"/>
          <p:cNvSpPr txBox="1"/>
          <p:nvPr/>
        </p:nvSpPr>
        <p:spPr>
          <a:xfrm>
            <a:off x="3657600" y="5687568"/>
            <a:ext cx="8076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الابتكار الأوضح: </a:t>
            </a:r>
            <a:pPr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 لإجراء واحد (Just-in-time access) بدل صلاحيات كتابة دائمة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 للتنفيذ اليوم: AWS أولاً، والمزودون المحليون في المرحلة الثانية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2286000"/>
            <a:ext cx="5470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يعمل الآن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588191" y="2834640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263640" y="274320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عبر API بصلاحيات قراءة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263640" y="307238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ce:GetCostAndUsage · ec2:DescribeVolumes · cloudwatch:GetMetricStatistics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1588191" y="356616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263640" y="347472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قواعد هدر + نموذج ذكاء اصطناعي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263640" y="380390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القواعد ترشّح الموارد، والنموذج يرتب التوصيات ويشرحها بالعربية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1588191" y="4297680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42062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موافقة واحد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453542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يمنح صلاحية مؤقتة لـ 15 دقيقة لتنفيذ الإجراء ثم تُسحب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التقنيات المتوفرة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4663440" y="27889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663440" y="27889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2665476" y="278892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665476" y="278892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IAM (قراءة فقط)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745236" y="2788920"/>
            <a:ext cx="181051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45236" y="278892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896612" y="3337560"/>
            <a:ext cx="955548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4896612" y="3337560"/>
            <a:ext cx="955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3909060" y="33375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3909060" y="33375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Vercel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1911096" y="333756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911096" y="333756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WhatsApp / Telegram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3931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 يعمل الآن على Vercel، والقراءة عبر APIs رسمية منخفضة التكلفة.</a:t>
            </a:r>
            <a:endParaRPr lang="en-US" sz="1300" dirty="0"/>
          </a:p>
        </p:txBody>
      </p:sp>
      <p:sp>
        <p:nvSpPr>
          <p:cNvPr id="47" name="Shape 42"/>
          <p:cNvSpPr/>
          <p:nvPr/>
        </p:nvSpPr>
        <p:spPr>
          <a:xfrm>
            <a:off x="8097317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8E2F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8325917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1 · الآن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8325917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+ تيليجرام + 7 قواعد هدر + الموافقة بنقرة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4277258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4505858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2</a:t>
            </a:r>
            <a:endParaRPr lang="en-US" sz="1500" dirty="0"/>
          </a:p>
        </p:txBody>
      </p:sp>
      <p:sp>
        <p:nvSpPr>
          <p:cNvPr id="52" name="Text 47"/>
          <p:cNvSpPr txBox="1"/>
          <p:nvPr/>
        </p:nvSpPr>
        <p:spPr>
          <a:xfrm>
            <a:off x="4505858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 + STC Cloud وSCCC وCNTXT عبر API أو رفع ملف الفاتورة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457200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685800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3</a:t>
            </a:r>
            <a:endParaRPr lang="en-US" sz="1500" dirty="0"/>
          </a:p>
        </p:txBody>
      </p:sp>
      <p:sp>
        <p:nvSpPr>
          <p:cNvPr id="55" name="Text 50"/>
          <p:cNvSpPr txBox="1"/>
          <p:nvPr/>
        </p:nvSpPr>
        <p:spPr>
          <a:xfrm>
            <a:off x="685800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 + استضافة داخل المملكة + مسار ISO 27001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بنيناه فعلاً خلال التحدي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86000"/>
            <a:ext cx="5760720" cy="3135769"/>
          </a:xfrm>
          <a:prstGeom prst="roundRect">
            <a:avLst>
              <a:gd name="adj" fmla="val 3499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59152"/>
            <a:ext cx="5614416" cy="298946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7200" y="549492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لوحة التحكم: الفاتورة والهدر والتوقع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945575" y="2286000"/>
            <a:ext cx="2788920" cy="3058467"/>
          </a:xfrm>
          <a:prstGeom prst="roundRect">
            <a:avLst>
              <a:gd name="adj" fmla="val 39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7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727" y="2359152"/>
            <a:ext cx="2642616" cy="291216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945575" y="5417619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نافذة الموافقة والصلاحية المؤقتة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2286000"/>
            <a:ext cx="2270455" cy="3108960"/>
          </a:xfrm>
          <a:prstGeom prst="roundRect">
            <a:avLst>
              <a:gd name="adj" fmla="val 6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446520" y="2468880"/>
            <a:ext cx="2270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العرض الحي</a:t>
            </a:r>
            <a:endParaRPr lang="en-US" sz="1500" dirty="0"/>
          </a:p>
        </p:txBody>
      </p:sp>
      <p:pic>
        <p:nvPicPr>
          <p:cNvPr id="31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880360"/>
            <a:ext cx="1813255" cy="1813255"/>
          </a:xfrm>
          <a:prstGeom prst="rect">
            <a:avLst/>
          </a:prstGeom>
        </p:spPr>
      </p:pic>
      <p:sp>
        <p:nvSpPr>
          <p:cNvPr id="32" name="Text 24">
            <a:hlinkClick r:id="rId7" tooltip=""/>
          </p:cNvPr>
          <p:cNvSpPr txBox="1"/>
          <p:nvPr/>
        </p:nvSpPr>
        <p:spPr>
          <a:xfrm>
            <a:off x="6446520" y="4739335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على بيانات شركة افتراضية، والصلاحيات المعروضة هي صلاحيات AWS الحقيقية للقراءة.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 محسوب: نحو 110 آلاف ريال سنوياً لشركة من 120 موظفاً</a:t>
            </a:r>
            <a:endParaRPr lang="en-US" sz="2700" dirty="0"/>
          </a:p>
        </p:txBody>
      </p:sp>
      <p:sp>
        <p:nvSpPr>
          <p:cNvPr id="23" name="Shape 18"/>
          <p:cNvSpPr/>
          <p:nvPr/>
        </p:nvSpPr>
        <p:spPr>
          <a:xfrm>
            <a:off x="9223781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223781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9360941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812301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6301588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1588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6438748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توصيات من الوكيل الذكي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5890108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3379394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379394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9,202</a:t>
            </a:r>
            <a:endParaRPr lang="en-US" sz="3600" dirty="0"/>
          </a:p>
        </p:txBody>
      </p:sp>
      <p:sp>
        <p:nvSpPr>
          <p:cNvPr id="33" name="Text 28"/>
          <p:cNvSpPr txBox="1"/>
          <p:nvPr/>
        </p:nvSpPr>
        <p:spPr>
          <a:xfrm>
            <a:off x="3516554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شهري (10.8%)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967914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57200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7200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110,424</a:t>
            </a:r>
            <a:endParaRPr lang="en-US" sz="3600" dirty="0"/>
          </a:p>
        </p:txBody>
      </p:sp>
      <p:sp>
        <p:nvSpPr>
          <p:cNvPr id="37" name="Text 32"/>
          <p:cNvSpPr txBox="1"/>
          <p:nvPr/>
        </p:nvSpPr>
        <p:spPr>
          <a:xfrm>
            <a:off x="594360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سنوي</a:t>
            </a:r>
            <a:endParaRPr lang="en-US" sz="14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069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نقيس الأثر</a:t>
            </a:r>
            <a:endParaRPr lang="en-US" sz="1700" dirty="0"/>
          </a:p>
        </p:txBody>
      </p:sp>
      <p:sp>
        <p:nvSpPr>
          <p:cNvPr id="39" name="Shape 34"/>
          <p:cNvSpPr/>
          <p:nvPr/>
        </p:nvSpPr>
        <p:spPr>
          <a:xfrm>
            <a:off x="8127797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8356397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الريالات الموفرة فعلياً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8356397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فاتورة المزود نفسها قبل وبعد</a:t>
            </a:r>
            <a:endParaRPr lang="en-US" sz="1250" dirty="0"/>
          </a:p>
        </p:txBody>
      </p:sp>
      <p:sp>
        <p:nvSpPr>
          <p:cNvPr id="42" name="Shape 37"/>
          <p:cNvSpPr/>
          <p:nvPr/>
        </p:nvSpPr>
        <p:spPr>
          <a:xfrm>
            <a:off x="4292498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21098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نسبة التوصيات المنفذة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4521098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كم توصية تحولت إلى توفير حقيقي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457200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85800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زمن إزالة الهدر</a:t>
            </a:r>
            <a:endParaRPr lang="en-US" sz="1500" dirty="0"/>
          </a:p>
        </p:txBody>
      </p:sp>
      <p:sp>
        <p:nvSpPr>
          <p:cNvPr id="47" name="Text 42"/>
          <p:cNvSpPr txBox="1"/>
          <p:nvPr/>
        </p:nvSpPr>
        <p:spPr>
          <a:xfrm>
            <a:off x="685800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أسابيع إلى دقائق بعد التنبيه</a:t>
            </a:r>
            <a:endParaRPr lang="en-US" sz="1250" dirty="0"/>
          </a:p>
        </p:txBody>
      </p:sp>
      <p:sp>
        <p:nvSpPr>
          <p:cNvPr id="48" name="Text 43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المال الموفر يبقى في الشركة، ودعم السحب المحلية يخدم سيادة البيانات. الأرقام من النموذج الأولي على بيانات شركة افتراضية.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ابدأ مجاناً، ثم ادفع لكل مورد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بدون اشتراكات ثابتة: الدفع حسب الموارد المُدارة، ورسوم منفصلة للاستشارات المتقدمة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188757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63077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الفحص الأول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8463077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مجاني</a:t>
            </a:r>
            <a:endParaRPr lang="en-US" sz="3000" dirty="0"/>
          </a:p>
        </p:txBody>
      </p:sp>
      <p:sp>
        <p:nvSpPr>
          <p:cNvPr id="27" name="Text 22"/>
          <p:cNvSpPr txBox="1"/>
          <p:nvPr/>
        </p:nvSpPr>
        <p:spPr>
          <a:xfrm>
            <a:off x="8463077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مرة واحدة، بدون بطاقة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463077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68735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463077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حسابات سحابية متعددة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11368735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463077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تقرير كامل عن الهدر PDF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11368735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463077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أعلى فرص التوفير وقيمتها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4322978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97298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الاستخدام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4597298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15 ريال</a:t>
            </a:r>
            <a:endParaRPr lang="en-US" sz="3000" dirty="0"/>
          </a:p>
        </p:txBody>
      </p:sp>
      <p:sp>
        <p:nvSpPr>
          <p:cNvPr id="38" name="Text 33"/>
          <p:cNvSpPr txBox="1"/>
          <p:nvPr/>
        </p:nvSpPr>
        <p:spPr>
          <a:xfrm>
            <a:off x="4597298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مورد مُدار شهرياً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597298" y="4297680"/>
            <a:ext cx="2997098" cy="0"/>
          </a:xfrm>
          <a:prstGeom prst="line">
            <a:avLst/>
          </a:prstGeom>
          <a:noFill/>
          <a:ln w="9525">
            <a:solidFill>
              <a:srgbClr val="D48A93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502957" y="4498848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597298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مستمر وتوقع للفاتورة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7502957" y="4837176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97298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7502957" y="5175504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7298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 بنقرة مع سجل تدقيق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7502957" y="5513832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4597298" y="5404104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سقف شهري تحدده أنت</a:t>
            </a:r>
            <a:endParaRPr lang="en-US" sz="1300" dirty="0"/>
          </a:p>
        </p:txBody>
      </p:sp>
      <p:sp>
        <p:nvSpPr>
          <p:cNvPr id="48" name="Shape 43"/>
          <p:cNvSpPr/>
          <p:nvPr/>
        </p:nvSpPr>
        <p:spPr>
          <a:xfrm>
            <a:off x="457200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731520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</a:t>
            </a:r>
            <a:endParaRPr lang="en-US" sz="1600" dirty="0"/>
          </a:p>
        </p:txBody>
      </p:sp>
      <p:sp>
        <p:nvSpPr>
          <p:cNvPr id="50" name="Text 45"/>
          <p:cNvSpPr txBox="1"/>
          <p:nvPr/>
        </p:nvSpPr>
        <p:spPr>
          <a:xfrm>
            <a:off x="731520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الطلب</a:t>
            </a:r>
            <a:endParaRPr lang="en-US" sz="3000" dirty="0"/>
          </a:p>
        </p:txBody>
      </p:sp>
      <p:sp>
        <p:nvSpPr>
          <p:cNvPr id="51" name="Text 46"/>
          <p:cNvSpPr txBox="1"/>
          <p:nvPr/>
        </p:nvSpPr>
        <p:spPr>
          <a:xfrm>
            <a:off x="731520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مشروع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731520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3637178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31520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FinOps مخصص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3637178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731520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خطط الالتزام والحجوزات</a:t>
            </a:r>
            <a:endParaRPr lang="en-US" sz="1300" dirty="0"/>
          </a:p>
        </p:txBody>
      </p:sp>
      <p:sp>
        <p:nvSpPr>
          <p:cNvPr id="57" name="Shape 52"/>
          <p:cNvSpPr/>
          <p:nvPr/>
        </p:nvSpPr>
        <p:spPr>
          <a:xfrm>
            <a:off x="3637178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731520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حوكمة التكاليف بين الفرق</a:t>
            </a:r>
            <a:endParaRPr lang="en-US" sz="1300" dirty="0"/>
          </a:p>
        </p:txBody>
      </p:sp>
      <p:sp>
        <p:nvSpPr>
          <p:cNvPr id="59" name="Text 54"/>
          <p:cNvSpPr txBox="1"/>
          <p:nvPr/>
        </p:nvSpPr>
        <p:spPr>
          <a:xfrm>
            <a:off x="457200" y="58978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العميل يوفر أكثر مما يدفع: في المثال المحسوب 9,202 ريال توفير شهري.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نطوّر الحل، وما الدعم الذي نحتاجه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6035040" y="228600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التطوير المستقبلي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6035040" y="2743200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09360" y="2862072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3200400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التكاليف بين المزودين واقتراح الانتقال للسحابة الأوفر بناءً على التحليل المالي.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035040" y="3822192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9360" y="3941064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6309360" y="4279392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السيرفرات المحلية (On-Premises) مع المنصات السحابية في لوحة واحدة.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6035040" y="4901184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5020056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مراقبة وإنذار مبكر 24/7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309360" y="535838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فوري عند أي ارتفاع مفاجئ في الاستهلاك (Cost Spike).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457200" y="2286000"/>
            <a:ext cx="5303520" cy="3712464"/>
          </a:xfrm>
          <a:prstGeom prst="roundRect">
            <a:avLst>
              <a:gd name="adj" fmla="val 4433"/>
            </a:avLst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777240" y="25146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التوجيه والدعم</a:t>
            </a:r>
            <a:endParaRPr lang="en-US" sz="1800" dirty="0"/>
          </a:p>
        </p:txBody>
      </p:sp>
      <p:sp>
        <p:nvSpPr>
          <p:cNvPr id="35" name="Shape 30"/>
          <p:cNvSpPr/>
          <p:nvPr/>
        </p:nvSpPr>
        <p:spPr>
          <a:xfrm>
            <a:off x="5321808" y="31546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77240" y="30632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توجيه من خبراء السحابة وأمن المعلومات لتطوير نموذج الذكاء الاصطناعي ورفع كفاءة الأمان وتوطين البيانات.</a:t>
            </a:r>
            <a:endParaRPr lang="en-US" sz="1350" dirty="0"/>
          </a:p>
        </p:txBody>
      </p:sp>
      <p:sp>
        <p:nvSpPr>
          <p:cNvPr id="37" name="Shape 32"/>
          <p:cNvSpPr/>
          <p:nvPr/>
        </p:nvSpPr>
        <p:spPr>
          <a:xfrm>
            <a:off x="5321808" y="40690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77240" y="39776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شراكة مع مزود سحابة محلي لاختبار الربط مع STC Cloud أو SCCC أو CNTXT.</a:t>
            </a:r>
            <a:endParaRPr lang="en-US" sz="1350" dirty="0"/>
          </a:p>
        </p:txBody>
      </p:sp>
      <p:sp>
        <p:nvSpPr>
          <p:cNvPr id="39" name="Shape 34"/>
          <p:cNvSpPr/>
          <p:nvPr/>
        </p:nvSpPr>
        <p:spPr>
          <a:xfrm>
            <a:off x="5321808" y="49834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777240" y="48920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تجربة الفحص المجاني مع 10 شركات حقيقية للتحقق من حجم الهدر.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1737360"/>
            <a:ext cx="752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48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269748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24612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156655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" y="3931920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156655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التجريبي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4407408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cloudtrim-sa.vercel.app/demo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6156655" y="4882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" y="4882896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SSB · مسار الحوسبة السحابية والبنية التحتية</a:t>
            </a:r>
            <a:endParaRPr lang="en-US" sz="1400" dirty="0"/>
          </a:p>
        </p:txBody>
      </p:sp>
      <p:pic>
        <p:nvPicPr>
          <p:cNvPr id="36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2026-10-03T06:36:49Z</dcterms:created>
  <dcterms:modified xsi:type="dcterms:W3CDTF">2026-10-03T06:36:49Z</dcterms:modified>
</cp:coreProperties>
</file>