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4.png"/><Relationship Id="rId6" Type="http://schemas.openxmlformats.org/officeDocument/2006/relationships/image" Target="../media/image-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1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hyperlink" Target="https://cloudtrim-sa.vercel.app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pic>
        <p:nvPicPr>
          <p:cNvPr id="10" name="Image 0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34459" y="274320"/>
            <a:ext cx="1700036" cy="7498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200" y="1234440"/>
            <a:ext cx="5394960" cy="452628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12" name="Shape 9"/>
          <p:cNvSpPr/>
          <p:nvPr/>
        </p:nvSpPr>
        <p:spPr>
          <a:xfrm>
            <a:off x="914400" y="1691640"/>
            <a:ext cx="4480560" cy="3611880"/>
          </a:xfrm>
          <a:prstGeom prst="roundRect">
            <a:avLst>
              <a:gd name="adj" fmla="val 4051"/>
            </a:avLst>
          </a:prstGeom>
          <a:solidFill>
            <a:srgbClr val="FFFB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8872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فاتورة السحابة الشهرية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25880" y="3108960"/>
            <a:ext cx="457200" cy="146304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1325880" y="2377440"/>
            <a:ext cx="457200" cy="73152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84248" y="3182112"/>
            <a:ext cx="457200" cy="1389888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7" name="Shape 14"/>
          <p:cNvSpPr/>
          <p:nvPr/>
        </p:nvSpPr>
        <p:spPr>
          <a:xfrm>
            <a:off x="1984248" y="2377440"/>
            <a:ext cx="457200" cy="804672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18" name="Shape 15"/>
          <p:cNvSpPr/>
          <p:nvPr/>
        </p:nvSpPr>
        <p:spPr>
          <a:xfrm>
            <a:off x="2642616" y="3246120"/>
            <a:ext cx="457200" cy="1325880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2642616" y="2377440"/>
            <a:ext cx="457200" cy="868680"/>
          </a:xfrm>
          <a:prstGeom prst="rect">
            <a:avLst/>
          </a:prstGeom>
          <a:ln w="12700">
            <a:solidFill>
              <a:srgbClr val="C9A46E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300984" y="2423160"/>
            <a:ext cx="457200" cy="214884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1" name="Shape 18"/>
          <p:cNvSpPr/>
          <p:nvPr/>
        </p:nvSpPr>
        <p:spPr>
          <a:xfrm>
            <a:off x="3959352" y="2331720"/>
            <a:ext cx="457200" cy="224028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2" name="Shape 19"/>
          <p:cNvSpPr/>
          <p:nvPr/>
        </p:nvSpPr>
        <p:spPr>
          <a:xfrm>
            <a:off x="4617720" y="2240280"/>
            <a:ext cx="457200" cy="2331720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3" name="Shape 20"/>
          <p:cNvSpPr/>
          <p:nvPr/>
        </p:nvSpPr>
        <p:spPr>
          <a:xfrm>
            <a:off x="1188720" y="4572000"/>
            <a:ext cx="3931920" cy="0"/>
          </a:xfrm>
          <a:prstGeom prst="line">
            <a:avLst/>
          </a:prstGeom>
          <a:noFill/>
          <a:ln w="12700">
            <a:solidFill>
              <a:srgbClr val="E3D5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919472" y="4800600"/>
            <a:ext cx="128016" cy="128016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206240" y="47365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قبل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03320" y="4800600"/>
            <a:ext cx="128016" cy="128016"/>
          </a:xfrm>
          <a:prstGeom prst="rect">
            <a:avLst/>
          </a:prstGeom>
          <a:solidFill>
            <a:srgbClr val="8E2F3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77440" y="47365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مع CloudTrim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مسار الحوسبة السحابية والبنية التحتية</a:t>
            </a:r>
            <a:endParaRPr lang="en-US" sz="1500" dirty="0"/>
          </a:p>
        </p:txBody>
      </p:sp>
      <p:pic>
        <p:nvPicPr>
          <p:cNvPr id="29" name="Image 1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1901952"/>
            <a:ext cx="868680" cy="868680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6400800" y="1847088"/>
            <a:ext cx="4282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5800" dirty="0"/>
          </a:p>
        </p:txBody>
      </p:sp>
      <p:sp>
        <p:nvSpPr>
          <p:cNvPr id="31" name="Text 27"/>
          <p:cNvSpPr txBox="1"/>
          <p:nvPr/>
        </p:nvSpPr>
        <p:spPr>
          <a:xfrm>
            <a:off x="6400800" y="2971800"/>
            <a:ext cx="5333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3200" dirty="0"/>
          </a:p>
        </p:txBody>
      </p:sp>
      <p:sp>
        <p:nvSpPr>
          <p:cNvPr id="32" name="Text 28"/>
          <p:cNvSpPr txBox="1"/>
          <p:nvPr/>
        </p:nvSpPr>
        <p:spPr>
          <a:xfrm>
            <a:off x="6400800" y="3639312"/>
            <a:ext cx="53336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0390327" y="4434840"/>
            <a:ext cx="1344168" cy="420624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10390327" y="4434840"/>
            <a:ext cx="1344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8515807" y="4434840"/>
            <a:ext cx="1737360" cy="420624"/>
          </a:xfrm>
          <a:prstGeom prst="roundRect">
            <a:avLst>
              <a:gd name="adj" fmla="val 50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8515807" y="4434840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</a:t>
            </a:r>
            <a:endParaRPr lang="en-US" sz="1400" dirty="0"/>
          </a:p>
        </p:txBody>
      </p:sp>
      <p:pic>
        <p:nvPicPr>
          <p:cNvPr id="37" name="Image 2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4023360" cy="548640"/>
          </a:xfrm>
          <a:prstGeom prst="rect">
            <a:avLst/>
          </a:prstGeom>
        </p:spPr>
      </p:pic>
      <p:pic>
        <p:nvPicPr>
          <p:cNvPr id="38" name="Image 3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3910" y="5989320"/>
            <a:ext cx="1400585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07831" y="987552"/>
            <a:ext cx="302666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707831" y="98755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المقدمة والتعريف بالفريق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463040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فريق SSB</a:t>
            </a:r>
            <a:endParaRPr lang="en-US" sz="3000" dirty="0"/>
          </a:p>
        </p:txBody>
      </p:sp>
      <p:sp>
        <p:nvSpPr>
          <p:cNvPr id="23" name="Shape 18"/>
          <p:cNvSpPr/>
          <p:nvPr/>
        </p:nvSpPr>
        <p:spPr>
          <a:xfrm>
            <a:off x="833612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صورة سلمان عبدالرحمن مشعل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7668" y="3017520"/>
            <a:ext cx="1600200" cy="1600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51900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سلمان عبدالرحمن مشعل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851900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قائد الفريق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40420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صورة سليمان ممدوح مخانق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5748" y="3017520"/>
            <a:ext cx="1600200" cy="1600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58708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سليمان ممدوح مخانق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458708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الواجهات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72288" y="274320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صورة بلال أنس زكار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3828" y="3017520"/>
            <a:ext cx="1600200" cy="16002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55168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بلال أنس زكار</a:t>
            </a:r>
            <a:endParaRPr lang="en-US" sz="2000" dirty="0"/>
          </a:p>
        </p:txBody>
      </p:sp>
      <p:sp>
        <p:nvSpPr>
          <p:cNvPr id="34" name="Text 26"/>
          <p:cNvSpPr txBox="1"/>
          <p:nvPr/>
        </p:nvSpPr>
        <p:spPr>
          <a:xfrm>
            <a:off x="655168" y="5230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مطور الفكرة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المشكلة والتحدي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هدر صامت في فاتورة السحابة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wallet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01752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29%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من الإنفاق مهدر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8" name="Image 4" descr="/tmp/claude-0/-home-claude/750ff410-f4aa-5276-9360-1e19d018b112/scratchpad/c/assets/i-tren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01752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17%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تجاوز للميزانية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74320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server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01752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61188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40%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526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أعطال سببها خطأ بشري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ولا يوجد مختص FinOps في الشركات المتوسطة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Flexera State of the Cloud 2026 · Uptime Institute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810951" y="987552"/>
            <a:ext cx="92354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810951" y="987552"/>
            <a:ext cx="923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الحل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04</a:t>
            </a:r>
            <a:endParaRPr lang="en-US" sz="1100" dirty="0"/>
          </a:p>
        </p:txBody>
      </p:sp>
      <p:pic>
        <p:nvPicPr>
          <p:cNvPr id="22" name="Image 3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2975" y="16916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852160" y="1645920"/>
            <a:ext cx="49679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4400" dirty="0"/>
          </a:p>
        </p:txBody>
      </p:sp>
      <p:sp>
        <p:nvSpPr>
          <p:cNvPr id="24" name="Text 18"/>
          <p:cNvSpPr txBox="1"/>
          <p:nvPr/>
        </p:nvSpPr>
        <p:spPr>
          <a:xfrm>
            <a:off x="5852160" y="2606040"/>
            <a:ext cx="5882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يكتشف الهدر في فاتورة السحابة ويوفّره بموافقتك بنقرة واحدة</a:t>
            </a:r>
            <a:endParaRPr lang="en-US" sz="2000" dirty="0"/>
          </a:p>
        </p:txBody>
      </p:sp>
      <p:sp>
        <p:nvSpPr>
          <p:cNvPr id="25" name="Shape 19"/>
          <p:cNvSpPr/>
          <p:nvPr/>
        </p:nvSpPr>
        <p:spPr>
          <a:xfrm>
            <a:off x="11222431" y="3657600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6" name="Image 4" descr="/tmp/claude-0/-home-claude/750ff410-f4aa-5276-9360-1e19d018b112/scratchpad/c/assets/i-eye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95583" y="3730752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852160" y="3657600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قراءة فقط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11222431" y="4279392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29" name="Image 5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5583" y="4352544"/>
            <a:ext cx="365760" cy="36576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52160" y="4279392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الذكاء الاصطناعي يقترح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11222431" y="4901184"/>
            <a:ext cx="512064" cy="512064"/>
          </a:xfrm>
          <a:prstGeom prst="roundRect">
            <a:avLst>
              <a:gd name="adj" fmla="val 21429"/>
            </a:avLst>
          </a:prstGeom>
          <a:solidFill>
            <a:srgbClr val="F1E4DF"/>
          </a:solidFill>
          <a:ln/>
        </p:spPr>
      </p:sp>
      <p:pic>
        <p:nvPicPr>
          <p:cNvPr id="32" name="Image 6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95583" y="4974336"/>
            <a:ext cx="365760" cy="36576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852160" y="4901184"/>
            <a:ext cx="5196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أنت توافق بنقرة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852160" y="562356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متوافق مع NCA وPDPL وISO 27001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1005840" y="1600200"/>
            <a:ext cx="3840480" cy="4217286"/>
          </a:xfrm>
          <a:prstGeom prst="roundRect">
            <a:avLst>
              <a:gd name="adj" fmla="val 285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6" name="Image 7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1673352"/>
            <a:ext cx="3694176" cy="40709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285171" y="987552"/>
            <a:ext cx="144932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285171" y="987552"/>
            <a:ext cx="14493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المنافسون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 مقابل أدوات المزودين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6601968" y="2468880"/>
            <a:ext cx="1371600" cy="3337560"/>
          </a:xfrm>
          <a:prstGeom prst="roundRect">
            <a:avLst>
              <a:gd name="adj" fmla="val 9333"/>
            </a:avLst>
          </a:prstGeom>
          <a:solidFill>
            <a:srgbClr val="F1E4DF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528816" y="2514600"/>
            <a:ext cx="1517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5010912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AWS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5010912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3493008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3493008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29" name="Text 24"/>
          <p:cNvSpPr txBox="1"/>
          <p:nvPr/>
        </p:nvSpPr>
        <p:spPr>
          <a:xfrm>
            <a:off x="1975104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975104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Cost Management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457200" y="25328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Oracle Cloud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457200" y="282549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8229600" y="2514600"/>
            <a:ext cx="3504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الميزة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457200" y="3200400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229600" y="3200400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STC وSCCC وCNTXT</a:t>
            </a:r>
            <a:endParaRPr lang="en-US" sz="1500" dirty="0"/>
          </a:p>
        </p:txBody>
      </p:sp>
      <p:sp>
        <p:nvSpPr>
          <p:cNvPr id="36" name="Shape 31"/>
          <p:cNvSpPr/>
          <p:nvPr/>
        </p:nvSpPr>
        <p:spPr>
          <a:xfrm>
            <a:off x="7114032" y="3282696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114032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5596128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5596128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4078224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4078224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2" name="Shape 37"/>
          <p:cNvSpPr/>
          <p:nvPr/>
        </p:nvSpPr>
        <p:spPr>
          <a:xfrm>
            <a:off x="2560320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2560320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4" name="Shape 39"/>
          <p:cNvSpPr/>
          <p:nvPr/>
        </p:nvSpPr>
        <p:spPr>
          <a:xfrm>
            <a:off x="1042416" y="3282696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1042416" y="3282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46" name="Shape 41"/>
          <p:cNvSpPr/>
          <p:nvPr/>
        </p:nvSpPr>
        <p:spPr>
          <a:xfrm>
            <a:off x="457200" y="3712464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8229600" y="3712464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كل السحابات في لوحة واحدة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7114032" y="3794760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7114032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50" name="Shape 45"/>
          <p:cNvSpPr/>
          <p:nvPr/>
        </p:nvSpPr>
        <p:spPr>
          <a:xfrm>
            <a:off x="5596128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5596128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2" name="Shape 47"/>
          <p:cNvSpPr/>
          <p:nvPr/>
        </p:nvSpPr>
        <p:spPr>
          <a:xfrm>
            <a:off x="4078224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4078224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4" name="Shape 49"/>
          <p:cNvSpPr/>
          <p:nvPr/>
        </p:nvSpPr>
        <p:spPr>
          <a:xfrm>
            <a:off x="2560320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2560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6" name="Shape 51"/>
          <p:cNvSpPr/>
          <p:nvPr/>
        </p:nvSpPr>
        <p:spPr>
          <a:xfrm>
            <a:off x="1042416" y="3794760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1042416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58" name="Shape 53"/>
          <p:cNvSpPr/>
          <p:nvPr/>
        </p:nvSpPr>
        <p:spPr>
          <a:xfrm>
            <a:off x="457200" y="4224528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59" name="Text 54"/>
          <p:cNvSpPr txBox="1"/>
          <p:nvPr/>
        </p:nvSpPr>
        <p:spPr>
          <a:xfrm>
            <a:off x="8229600" y="4224528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تنفيذ بنقرة بعد موافقتك</a:t>
            </a:r>
            <a:endParaRPr lang="en-US" sz="1500" dirty="0"/>
          </a:p>
        </p:txBody>
      </p:sp>
      <p:sp>
        <p:nvSpPr>
          <p:cNvPr id="60" name="Shape 55"/>
          <p:cNvSpPr/>
          <p:nvPr/>
        </p:nvSpPr>
        <p:spPr>
          <a:xfrm>
            <a:off x="7114032" y="4306824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7114032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62" name="Shape 57"/>
          <p:cNvSpPr/>
          <p:nvPr/>
        </p:nvSpPr>
        <p:spPr>
          <a:xfrm>
            <a:off x="5596128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3" name="Text 58"/>
          <p:cNvSpPr txBox="1"/>
          <p:nvPr/>
        </p:nvSpPr>
        <p:spPr>
          <a:xfrm>
            <a:off x="5596128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4" name="Shape 59"/>
          <p:cNvSpPr/>
          <p:nvPr/>
        </p:nvSpPr>
        <p:spPr>
          <a:xfrm>
            <a:off x="4078224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4078224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6" name="Shape 61"/>
          <p:cNvSpPr/>
          <p:nvPr/>
        </p:nvSpPr>
        <p:spPr>
          <a:xfrm>
            <a:off x="2560320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25603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68" name="Shape 63"/>
          <p:cNvSpPr/>
          <p:nvPr/>
        </p:nvSpPr>
        <p:spPr>
          <a:xfrm>
            <a:off x="1042416" y="4306824"/>
            <a:ext cx="347472" cy="347472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69" name="Text 64"/>
          <p:cNvSpPr txBox="1"/>
          <p:nvPr/>
        </p:nvSpPr>
        <p:spPr>
          <a:xfrm>
            <a:off x="1042416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~</a:t>
            </a:r>
            <a:endParaRPr lang="en-US" sz="1300" dirty="0"/>
          </a:p>
        </p:txBody>
      </p:sp>
      <p:sp>
        <p:nvSpPr>
          <p:cNvPr id="70" name="Shape 65"/>
          <p:cNvSpPr/>
          <p:nvPr/>
        </p:nvSpPr>
        <p:spPr>
          <a:xfrm>
            <a:off x="457200" y="4736592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8229600" y="4736592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تنبيهات واتساب وتيليجرام</a:t>
            </a:r>
            <a:endParaRPr lang="en-US" sz="1500" dirty="0"/>
          </a:p>
        </p:txBody>
      </p:sp>
      <p:sp>
        <p:nvSpPr>
          <p:cNvPr id="72" name="Shape 67"/>
          <p:cNvSpPr/>
          <p:nvPr/>
        </p:nvSpPr>
        <p:spPr>
          <a:xfrm>
            <a:off x="7114032" y="4818888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7114032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5596128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5596128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6" name="Shape 71"/>
          <p:cNvSpPr/>
          <p:nvPr/>
        </p:nvSpPr>
        <p:spPr>
          <a:xfrm>
            <a:off x="4078224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4078224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78" name="Shape 73"/>
          <p:cNvSpPr/>
          <p:nvPr/>
        </p:nvSpPr>
        <p:spPr>
          <a:xfrm>
            <a:off x="2560320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2560320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0" name="Shape 75"/>
          <p:cNvSpPr/>
          <p:nvPr/>
        </p:nvSpPr>
        <p:spPr>
          <a:xfrm>
            <a:off x="1042416" y="4818888"/>
            <a:ext cx="347472" cy="347472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1042416" y="4818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✕</a:t>
            </a:r>
            <a:endParaRPr lang="en-US" sz="1300" dirty="0"/>
          </a:p>
        </p:txBody>
      </p:sp>
      <p:sp>
        <p:nvSpPr>
          <p:cNvPr id="82" name="Shape 77"/>
          <p:cNvSpPr/>
          <p:nvPr/>
        </p:nvSpPr>
        <p:spPr>
          <a:xfrm>
            <a:off x="457200" y="5248656"/>
            <a:ext cx="11277295" cy="0"/>
          </a:xfrm>
          <a:prstGeom prst="line">
            <a:avLst/>
          </a:prstGeom>
          <a:noFill/>
          <a:ln w="9525">
            <a:solidFill>
              <a:srgbClr val="E3D5CC"/>
            </a:solidFill>
            <a:prstDash val="solid"/>
          </a:ln>
        </p:spPr>
      </p:sp>
      <p:sp>
        <p:nvSpPr>
          <p:cNvPr id="83" name="Text 78"/>
          <p:cNvSpPr txBox="1"/>
          <p:nvPr/>
        </p:nvSpPr>
        <p:spPr>
          <a:xfrm>
            <a:off x="8229600" y="5248656"/>
            <a:ext cx="3504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سعر مناسب للشركات المتوسطة</a:t>
            </a:r>
            <a:endParaRPr lang="en-US" sz="1500" dirty="0"/>
          </a:p>
        </p:txBody>
      </p:sp>
      <p:sp>
        <p:nvSpPr>
          <p:cNvPr id="84" name="Shape 79"/>
          <p:cNvSpPr/>
          <p:nvPr/>
        </p:nvSpPr>
        <p:spPr>
          <a:xfrm>
            <a:off x="7114032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114032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6" name="Shape 81"/>
          <p:cNvSpPr/>
          <p:nvPr/>
        </p:nvSpPr>
        <p:spPr>
          <a:xfrm>
            <a:off x="5596128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5596128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88" name="Shape 83"/>
          <p:cNvSpPr/>
          <p:nvPr/>
        </p:nvSpPr>
        <p:spPr>
          <a:xfrm>
            <a:off x="4078224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4078224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0" name="Shape 85"/>
          <p:cNvSpPr/>
          <p:nvPr/>
        </p:nvSpPr>
        <p:spPr>
          <a:xfrm>
            <a:off x="2560320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256032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2" name="Shape 87"/>
          <p:cNvSpPr/>
          <p:nvPr/>
        </p:nvSpPr>
        <p:spPr>
          <a:xfrm>
            <a:off x="1042416" y="5330952"/>
            <a:ext cx="347472" cy="347472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42416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✓</a:t>
            </a:r>
            <a:endParaRPr lang="en-US" sz="1300" dirty="0"/>
          </a:p>
        </p:txBody>
      </p:sp>
      <p:sp>
        <p:nvSpPr>
          <p:cNvPr id="94" name="Shape 89"/>
          <p:cNvSpPr/>
          <p:nvPr/>
        </p:nvSpPr>
        <p:spPr>
          <a:xfrm>
            <a:off x="11551615" y="5943600"/>
            <a:ext cx="182880" cy="182880"/>
          </a:xfrm>
          <a:prstGeom prst="ellipse">
            <a:avLst/>
          </a:prstGeom>
          <a:solidFill>
            <a:srgbClr val="7FB27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86581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نعم</a:t>
            </a:r>
            <a:endParaRPr lang="en-US" sz="1200" dirty="0"/>
          </a:p>
        </p:txBody>
      </p:sp>
      <p:sp>
        <p:nvSpPr>
          <p:cNvPr id="96" name="Shape 91"/>
          <p:cNvSpPr/>
          <p:nvPr/>
        </p:nvSpPr>
        <p:spPr>
          <a:xfrm>
            <a:off x="10591495" y="5943600"/>
            <a:ext cx="182880" cy="182880"/>
          </a:xfrm>
          <a:prstGeom prst="ellipse">
            <a:avLst/>
          </a:prstGeom>
          <a:solidFill>
            <a:srgbClr val="C9A46E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990569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جزئياً</a:t>
            </a:r>
            <a:endParaRPr lang="en-US" sz="1200" dirty="0"/>
          </a:p>
        </p:txBody>
      </p:sp>
      <p:sp>
        <p:nvSpPr>
          <p:cNvPr id="98" name="Shape 93"/>
          <p:cNvSpPr/>
          <p:nvPr/>
        </p:nvSpPr>
        <p:spPr>
          <a:xfrm>
            <a:off x="9631375" y="5943600"/>
            <a:ext cx="182880" cy="182880"/>
          </a:xfrm>
          <a:prstGeom prst="ellipse">
            <a:avLst/>
          </a:prstGeom>
          <a:solidFill>
            <a:srgbClr val="D48A93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945575" y="5879592"/>
            <a:ext cx="612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لا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654235" y="987552"/>
            <a:ext cx="2080260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654235" y="98755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الفئة المستهدفة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شركات سعودية من 50 إلى 250 موظفاً</a:t>
            </a:r>
            <a:endParaRPr lang="en-US" sz="3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233172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بلا فريق FinOps، وفاتورتها عشرات الآلاف شهرياً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8188757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5" name="Image 3" descr="/tmp/claude-0/-home-claude/750ff410-f4aa-5276-9360-1e19d018b112/scratchpad/c/assets/i-buildin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333756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88757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50-250</a:t>
            </a:r>
            <a:endParaRPr lang="en-US" sz="4600" dirty="0"/>
          </a:p>
        </p:txBody>
      </p:sp>
      <p:sp>
        <p:nvSpPr>
          <p:cNvPr id="27" name="Text 21"/>
          <p:cNvSpPr txBox="1"/>
          <p:nvPr/>
        </p:nvSpPr>
        <p:spPr>
          <a:xfrm>
            <a:off x="8463077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موظفاً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4322978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9" name="Image 4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3337560"/>
            <a:ext cx="548640" cy="5486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322978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$5.1B</a:t>
            </a:r>
            <a:endParaRPr lang="en-US" sz="4600" dirty="0"/>
          </a:p>
        </p:txBody>
      </p:sp>
      <p:sp>
        <p:nvSpPr>
          <p:cNvPr id="31" name="Text 24"/>
          <p:cNvSpPr txBox="1"/>
          <p:nvPr/>
        </p:nvSpPr>
        <p:spPr>
          <a:xfrm>
            <a:off x="4597298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سوق السحابة السعودي 2025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457200" y="306324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33" name="Image 5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3337560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57200" y="393192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$14.6B</a:t>
            </a:r>
            <a:endParaRPr lang="en-US" sz="4600" dirty="0"/>
          </a:p>
        </p:txBody>
      </p:sp>
      <p:sp>
        <p:nvSpPr>
          <p:cNvPr id="35" name="Text 27"/>
          <p:cNvSpPr txBox="1"/>
          <p:nvPr/>
        </p:nvSpPr>
        <p:spPr>
          <a:xfrm>
            <a:off x="731520" y="484632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المتوقع 2030</a:t>
            </a:r>
            <a:endParaRPr lang="en-US" sz="18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598932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MarketsandMarkets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قابلية التنفيذ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07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1691640"/>
            <a:ext cx="5562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كيف يمكن تنفيذ الحل في الوقت الحالي؟</a:t>
            </a:r>
            <a:endParaRPr lang="en-US" sz="2100" dirty="0"/>
          </a:p>
        </p:txBody>
      </p:sp>
      <p:sp>
        <p:nvSpPr>
          <p:cNvPr id="23" name="Shape 18"/>
          <p:cNvSpPr/>
          <p:nvPr/>
        </p:nvSpPr>
        <p:spPr>
          <a:xfrm>
            <a:off x="6172200" y="242316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865815" y="26060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5" name="Image 3" descr="/tmp/claude-0/-home-claude/750ff410-f4aa-5276-9360-1e19d018b112/scratchpad/c/assets/i-plug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69748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46520" y="242316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ربط المنصة بحساب الشركة السحابي عبر API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6172200" y="361188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865815" y="3794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29" name="Image 4" descr="/tmp/claude-0/-home-claude/750ff410-f4aa-5276-9360-1e19d018b112/scratchpad/c/assets/i-bot-b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7255" y="3886200"/>
            <a:ext cx="457200" cy="4572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46520" y="361188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نموذج ذكاء اصطناعي يمسح البنية فوراً ويطابقها مع أفضل الممارسات ويحلل الأحمال</a:t>
            </a:r>
            <a:endParaRPr lang="en-US" sz="1600" dirty="0"/>
          </a:p>
        </p:txBody>
      </p:sp>
      <p:sp>
        <p:nvSpPr>
          <p:cNvPr id="31" name="Shape 24"/>
          <p:cNvSpPr/>
          <p:nvPr/>
        </p:nvSpPr>
        <p:spPr>
          <a:xfrm>
            <a:off x="6172200" y="4800600"/>
            <a:ext cx="5562295" cy="1005840"/>
          </a:xfrm>
          <a:prstGeom prst="roundRect">
            <a:avLst>
              <a:gd name="adj" fmla="val 14545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0865815" y="498348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1E4DF"/>
          </a:solidFill>
          <a:ln/>
        </p:spPr>
      </p:sp>
      <p:pic>
        <p:nvPicPr>
          <p:cNvPr id="33" name="Image 5" descr="/tmp/claude-0/-home-claude/750ff410-f4aa-5276-9360-1e19d018b112/scratchpad/c/assets/i-che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5074920"/>
            <a:ext cx="457200" cy="4572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46520" y="4800600"/>
            <a:ext cx="4236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زر تفاعلي بضغطة واحدة لإيقاف المورد أو تقليصه عبر API</a:t>
            </a:r>
            <a:endParaRPr lang="en-US" sz="1600" dirty="0"/>
          </a:p>
        </p:txBody>
      </p:sp>
      <p:sp>
        <p:nvSpPr>
          <p:cNvPr id="35" name="Shape 27"/>
          <p:cNvSpPr/>
          <p:nvPr/>
        </p:nvSpPr>
        <p:spPr>
          <a:xfrm>
            <a:off x="457200" y="1691640"/>
            <a:ext cx="5257800" cy="4114800"/>
          </a:xfrm>
          <a:prstGeom prst="roundRect">
            <a:avLst>
              <a:gd name="adj" fmla="val 4444"/>
            </a:avLst>
          </a:prstGeom>
          <a:solidFill>
            <a:srgbClr val="8E2F3C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777240" y="1920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التقنيات المتوفرة لتنفيذه؟</a:t>
            </a:r>
            <a:endParaRPr lang="en-US" sz="2100" dirty="0"/>
          </a:p>
        </p:txBody>
      </p:sp>
      <p:sp>
        <p:nvSpPr>
          <p:cNvPr id="37" name="Shape 29"/>
          <p:cNvSpPr/>
          <p:nvPr/>
        </p:nvSpPr>
        <p:spPr>
          <a:xfrm>
            <a:off x="777240" y="2651760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38" name="Image 6" descr="/tmp/claude-0/-home-claude/750ff410-f4aa-5276-9360-1e19d018b112/scratchpad/c/assets/i-cloud-b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4880" y="2825496"/>
            <a:ext cx="457200" cy="4572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005840" y="2651760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 APIs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777240" y="3639312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1" name="Image 7" descr="/tmp/claude-0/-home-claude/750ff410-f4aa-5276-9360-1e19d018b112/scratchpad/c/assets/i-brain-b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4880" y="3813048"/>
            <a:ext cx="457200" cy="45720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639312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 Models</a:t>
            </a:r>
            <a:endParaRPr lang="en-US" sz="1800" dirty="0"/>
          </a:p>
        </p:txBody>
      </p:sp>
      <p:sp>
        <p:nvSpPr>
          <p:cNvPr id="43" name="Shape 33"/>
          <p:cNvSpPr/>
          <p:nvPr/>
        </p:nvSpPr>
        <p:spPr>
          <a:xfrm>
            <a:off x="777240" y="4626864"/>
            <a:ext cx="4617720" cy="804672"/>
          </a:xfrm>
          <a:prstGeom prst="roundRect">
            <a:avLst>
              <a:gd name="adj" fmla="val 15909"/>
            </a:avLst>
          </a:prstGeom>
          <a:solidFill>
            <a:srgbClr val="FBF6EE"/>
          </a:solidFill>
          <a:ln/>
        </p:spPr>
      </p:sp>
      <p:pic>
        <p:nvPicPr>
          <p:cNvPr id="44" name="Image 8" descr="/tmp/claude-0/-home-claude/750ff410-f4aa-5276-9360-1e19d018b112/scratchpad/c/assets/i-code-b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4800600"/>
            <a:ext cx="457200" cy="457200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1005840" y="4626864"/>
            <a:ext cx="3657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أدوات تطوير الواجهات والمواقع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النموذج الأولي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08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يعمل الآن، جرّبه بنفسك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5699455" y="2606040"/>
            <a:ext cx="6035040" cy="3278124"/>
          </a:xfrm>
          <a:prstGeom prst="roundRect">
            <a:avLst>
              <a:gd name="adj" fmla="val 3347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s-over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2607" y="2679192"/>
            <a:ext cx="5888736" cy="31318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2773375" y="2606040"/>
            <a:ext cx="2651760" cy="2907317"/>
          </a:xfrm>
          <a:prstGeom prst="roundRect">
            <a:avLst>
              <a:gd name="adj" fmla="val 4138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6" name="Image 4" descr="/tmp/claude-0/-home-claude/750ff410-f4aa-5276-9360-1e19d018b112/scratchpad/c/assets/s-appro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6527" y="2679192"/>
            <a:ext cx="2505456" cy="2761013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57200" y="2606040"/>
            <a:ext cx="2041855" cy="3154680"/>
          </a:xfrm>
          <a:prstGeom prst="roundRect">
            <a:avLst>
              <a:gd name="adj" fmla="val 8061"/>
            </a:avLst>
          </a:prstGeom>
          <a:solidFill>
            <a:srgbClr val="8E2F3C"/>
          </a:solidFill>
          <a:ln/>
        </p:spPr>
      </p:sp>
      <p:sp>
        <p:nvSpPr>
          <p:cNvPr id="28" name="Shape 21"/>
          <p:cNvSpPr/>
          <p:nvPr/>
        </p:nvSpPr>
        <p:spPr>
          <a:xfrm>
            <a:off x="640080" y="2788920"/>
            <a:ext cx="1676095" cy="1676095"/>
          </a:xfrm>
          <a:prstGeom prst="roundRect">
            <a:avLst>
              <a:gd name="adj" fmla="val 6547"/>
            </a:avLst>
          </a:prstGeom>
          <a:solidFill>
            <a:srgbClr val="FFFBF8"/>
          </a:solidFill>
          <a:ln/>
        </p:spPr>
      </p:sp>
      <p:pic>
        <p:nvPicPr>
          <p:cNvPr id="29" name="Image 5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880360"/>
            <a:ext cx="1493215" cy="149321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57200" y="4556455"/>
            <a:ext cx="2041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امسح وجرّب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918143" y="987552"/>
            <a:ext cx="2816352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918143" y="987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الأثر والقيمة المتوقعة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09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أثر بالأرقام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24" name="Image 3" descr="/tmp/claude-0/-home-claude/750ff410-f4aa-5276-9360-1e19d018b112/scratchpad/c/assets/i-wallet-b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7306" y="2971800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10.8%</a:t>
            </a:r>
            <a:endParaRPr lang="en-US" sz="5400" dirty="0"/>
          </a:p>
        </p:txBody>
      </p:sp>
      <p:sp>
        <p:nvSpPr>
          <p:cNvPr id="26" name="Text 20"/>
          <p:cNvSpPr txBox="1"/>
          <p:nvPr/>
        </p:nvSpPr>
        <p:spPr>
          <a:xfrm>
            <a:off x="8463077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توفير من الفاتورة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4322978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8E2F3C"/>
          </a:solidFill>
          <a:ln/>
        </p:spPr>
      </p:sp>
      <p:pic>
        <p:nvPicPr>
          <p:cNvPr id="28" name="Image 4" descr="/tmp/claude-0/-home-claude/750ff410-f4aa-5276-9360-1e19d018b112/scratchpad/c/assets/i-trend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971800"/>
            <a:ext cx="548640" cy="54864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4322978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110K</a:t>
            </a:r>
            <a:endParaRPr lang="en-US" sz="5400" dirty="0"/>
          </a:p>
        </p:txBody>
      </p:sp>
      <p:sp>
        <p:nvSpPr>
          <p:cNvPr id="30" name="Text 23"/>
          <p:cNvSpPr txBox="1"/>
          <p:nvPr/>
        </p:nvSpPr>
        <p:spPr>
          <a:xfrm>
            <a:off x="4597298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ريال سنوياً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457200" y="2697480"/>
            <a:ext cx="3545738" cy="2377440"/>
          </a:xfrm>
          <a:prstGeom prst="roundRect">
            <a:avLst>
              <a:gd name="adj" fmla="val 7692"/>
            </a:avLst>
          </a:prstGeom>
          <a:solidFill>
            <a:srgbClr val="FFFBF8"/>
          </a:solidFill>
          <a:ln w="9525">
            <a:solidFill>
              <a:srgbClr val="E3D5CC"/>
            </a:solidFill>
            <a:prstDash val="solid"/>
          </a:ln>
        </p:spPr>
      </p:sp>
      <p:pic>
        <p:nvPicPr>
          <p:cNvPr id="32" name="Image 5" descr="/tmp/claude-0/-home-claude/750ff410-f4aa-5276-9360-1e19d018b112/scratchpad/c/assets/i-clock-b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5749" y="2971800"/>
            <a:ext cx="548640" cy="54864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457200" y="3566160"/>
            <a:ext cx="3545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دقائق</a:t>
            </a:r>
            <a:endParaRPr lang="en-US" sz="5400" dirty="0"/>
          </a:p>
        </p:txBody>
      </p:sp>
      <p:sp>
        <p:nvSpPr>
          <p:cNvPr id="34" name="Text 26"/>
          <p:cNvSpPr txBox="1"/>
          <p:nvPr/>
        </p:nvSpPr>
        <p:spPr>
          <a:xfrm>
            <a:off x="731520" y="448056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بدل أسابيع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457200" y="534924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مثال: شركة افتراضية من 120 موظفاً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759391" y="987552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759391" y="98755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الخطوة التالية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160020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ما بعد التحدي</a:t>
            </a:r>
            <a:endParaRPr lang="en-US" sz="3400" dirty="0"/>
          </a:p>
        </p:txBody>
      </p:sp>
      <p:sp>
        <p:nvSpPr>
          <p:cNvPr id="23" name="Shape 18"/>
          <p:cNvSpPr/>
          <p:nvPr/>
        </p:nvSpPr>
        <p:spPr>
          <a:xfrm>
            <a:off x="8188757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4" name="Image 3" descr="/tmp/claude-0/-home-claude/750ff410-f4aa-5276-9360-1e19d018b112/scratchpad/c/assets/i-scale-c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8726" y="301752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188757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مقارنة السحابات</a:t>
            </a:r>
            <a:endParaRPr lang="en-US" sz="2200" dirty="0"/>
          </a:p>
        </p:txBody>
      </p:sp>
      <p:sp>
        <p:nvSpPr>
          <p:cNvPr id="26" name="Shape 20"/>
          <p:cNvSpPr/>
          <p:nvPr/>
        </p:nvSpPr>
        <p:spPr>
          <a:xfrm>
            <a:off x="4322978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27" name="Image 4" descr="/tmp/claude-0/-home-claude/750ff410-f4aa-5276-9360-1e19d018b112/scratchpad/c/assets/i-server-c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2948" y="3017520"/>
            <a:ext cx="685800" cy="6858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322978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البنية الهجينة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457200" y="2697480"/>
            <a:ext cx="3545738" cy="1920240"/>
          </a:xfrm>
          <a:prstGeom prst="roundRect">
            <a:avLst>
              <a:gd name="adj" fmla="val 9524"/>
            </a:avLst>
          </a:prstGeom>
          <a:solidFill>
            <a:srgbClr val="8E2F3C"/>
          </a:solidFill>
          <a:ln/>
        </p:spPr>
      </p:sp>
      <p:pic>
        <p:nvPicPr>
          <p:cNvPr id="30" name="Image 5" descr="/tmp/claude-0/-home-claude/750ff410-f4aa-5276-9360-1e19d018b112/scratchpad/c/assets/i-bell-c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169" y="3017520"/>
            <a:ext cx="685800" cy="6858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57200" y="3886200"/>
            <a:ext cx="3545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إنذار مبكر 24/7</a:t>
            </a:r>
            <a:endParaRPr lang="en-US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نحتاج: توجيه خبراء · شريك سحابي محلي · 10 شركات للتجربة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384048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3" name="Shape 1"/>
          <p:cNvSpPr/>
          <p:nvPr/>
        </p:nvSpPr>
        <p:spPr>
          <a:xfrm>
            <a:off x="3429000" y="658368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4" name="Shape 2"/>
          <p:cNvSpPr/>
          <p:nvPr/>
        </p:nvSpPr>
        <p:spPr>
          <a:xfrm>
            <a:off x="4206240" y="329184"/>
            <a:ext cx="82296" cy="82296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5" name="Shape 3"/>
          <p:cNvSpPr/>
          <p:nvPr/>
        </p:nvSpPr>
        <p:spPr>
          <a:xfrm>
            <a:off x="4937760" y="603504"/>
            <a:ext cx="54864" cy="5486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365760"/>
            <a:ext cx="73152" cy="73152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0" y="640080"/>
            <a:ext cx="100584" cy="100584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0" y="329184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66928"/>
            <a:ext cx="73152" cy="73152"/>
          </a:xfrm>
          <a:prstGeom prst="rect">
            <a:avLst/>
          </a:prstGeom>
          <a:solidFill>
            <a:srgbClr val="E3D5CC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6473952"/>
            <a:ext cx="64008" cy="64008"/>
          </a:xfrm>
          <a:prstGeom prst="rect">
            <a:avLst/>
          </a:prstGeom>
          <a:solidFill>
            <a:srgbClr val="C9A46E"/>
          </a:solidFill>
          <a:ln/>
        </p:spPr>
      </p:sp>
      <p:sp>
        <p:nvSpPr>
          <p:cNvPr id="11" name="Shape 9"/>
          <p:cNvSpPr/>
          <p:nvPr/>
        </p:nvSpPr>
        <p:spPr>
          <a:xfrm>
            <a:off x="4480560" y="6547104"/>
            <a:ext cx="45720" cy="45720"/>
          </a:xfrm>
          <a:prstGeom prst="rect">
            <a:avLst/>
          </a:prstGeom>
          <a:solidFill>
            <a:srgbClr val="D48A93"/>
          </a:solidFill>
          <a:ln/>
        </p:spPr>
      </p:sp>
      <p:sp>
        <p:nvSpPr>
          <p:cNvPr id="12" name="Shape 10"/>
          <p:cNvSpPr/>
          <p:nvPr/>
        </p:nvSpPr>
        <p:spPr>
          <a:xfrm>
            <a:off x="7589520" y="6492240"/>
            <a:ext cx="54864" cy="54864"/>
          </a:xfrm>
          <a:prstGeom prst="rect">
            <a:avLst/>
          </a:prstGeom>
          <a:solidFill>
            <a:srgbClr val="7FB27A"/>
          </a:solidFill>
          <a:ln/>
        </p:spPr>
      </p:sp>
      <p:sp>
        <p:nvSpPr>
          <p:cNvPr id="13" name="Shape 11"/>
          <p:cNvSpPr/>
          <p:nvPr/>
        </p:nvSpPr>
        <p:spPr>
          <a:xfrm>
            <a:off x="9692640" y="6528816"/>
            <a:ext cx="73152" cy="73152"/>
          </a:xfrm>
          <a:prstGeom prst="rect">
            <a:avLst/>
          </a:prstGeom>
          <a:solidFill>
            <a:srgbClr val="D48A93"/>
          </a:solidFill>
          <a:ln/>
        </p:spPr>
      </p:sp>
      <p:pic>
        <p:nvPicPr>
          <p:cNvPr id="14" name="Image 0" descr="/tmp/claude-0/-home-claude/750ff410-f4aa-5276-9360-1e19d018b112/scratchpad/c/assets/ct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384048" cy="38404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688" y="32004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CloudTrim</a:t>
            </a:r>
            <a:endParaRPr lang="en-US" sz="1800" dirty="0"/>
          </a:p>
        </p:txBody>
      </p:sp>
      <p:pic>
        <p:nvPicPr>
          <p:cNvPr id="16" name="Image 1" descr="/tmp/claude-0/-home-claude/750ff410-f4aa-5276-9360-1e19d018b112/scratchpad/c/assets/venturex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0566" y="256032"/>
            <a:ext cx="1243929" cy="5486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600639" y="987552"/>
            <a:ext cx="1133856" cy="384048"/>
          </a:xfrm>
          <a:prstGeom prst="roundRect">
            <a:avLst>
              <a:gd name="adj" fmla="val 50000"/>
            </a:avLst>
          </a:prstGeom>
          <a:solidFill>
            <a:srgbClr val="8E2F3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600639" y="98755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الختام</a:t>
            </a:r>
            <a:endParaRPr lang="en-US" sz="1300" dirty="0"/>
          </a:p>
        </p:txBody>
      </p:sp>
      <p:pic>
        <p:nvPicPr>
          <p:cNvPr id="19" name="Image 2" descr="/tmp/claude-0/-home-claude/750ff410-f4aa-5276-9360-1e19d018b112/scratchpad/c/assets/organizers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309360"/>
            <a:ext cx="848839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270248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VentureX 2026 · فريق SSB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442655" y="1600200"/>
            <a:ext cx="3291840" cy="4069080"/>
          </a:xfrm>
          <a:prstGeom prst="roundRect">
            <a:avLst>
              <a:gd name="adj" fmla="val 5556"/>
            </a:avLst>
          </a:prstGeom>
          <a:solidFill>
            <a:srgbClr val="8E2F3C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442655" y="1783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جرّب CloudTrim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8854135" y="2331720"/>
            <a:ext cx="2468880" cy="2468880"/>
          </a:xfrm>
          <a:prstGeom prst="roundRect">
            <a:avLst>
              <a:gd name="adj" fmla="val 5185"/>
            </a:avLst>
          </a:prstGeom>
          <a:solidFill>
            <a:srgbClr val="FFFBF8"/>
          </a:solidFill>
          <a:ln/>
        </p:spPr>
      </p:sp>
      <p:pic>
        <p:nvPicPr>
          <p:cNvPr id="25" name="Image 3" descr="/tmp/claude-0/-home-claude/750ff410-f4aa-5276-9360-1e19d018b112/scratchpad/c/assets/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1295" y="2468880"/>
            <a:ext cx="2194560" cy="2194560"/>
          </a:xfrm>
          <a:prstGeom prst="rect">
            <a:avLst/>
          </a:prstGeom>
        </p:spPr>
      </p:pic>
      <p:sp>
        <p:nvSpPr>
          <p:cNvPr id="26" name="Text 20">
            <a:hlinkClick r:id="rId5" tooltip=""/>
          </p:cNvPr>
          <p:cNvSpPr txBox="1"/>
          <p:nvPr/>
        </p:nvSpPr>
        <p:spPr>
          <a:xfrm>
            <a:off x="8442655" y="50292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BF6EE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cloudtrim-sa.vercel.app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2194560"/>
            <a:ext cx="7528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6000" b="1" dirty="0">
                <a:solidFill>
                  <a:srgbClr val="8E2F3C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شكراً لكم</a:t>
            </a:r>
            <a:endParaRPr lang="en-US" sz="60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3337560"/>
            <a:ext cx="7528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1141A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وفّر في سحابتك… والقرار بيدك.</a:t>
            </a:r>
            <a:endParaRPr lang="en-US" sz="26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886200"/>
            <a:ext cx="7528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7F6C72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Trim the cloud, keep the control.</a:t>
            </a:r>
            <a:endParaRPr lang="en-US" sz="1600" dirty="0"/>
          </a:p>
        </p:txBody>
      </p:sp>
      <p:pic>
        <p:nvPicPr>
          <p:cNvPr id="30" name="Image 4" descr="/tmp/claude-0/-home-claude/750ff410-f4aa-5276-9360-1e19d018b112/scratchpad/c/assets/sponsors-in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532120"/>
            <a:ext cx="33528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 Arab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 Arab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CloudTrim · SSB · VentureX</dc:title>
  <dc:subject>PptxGenJS Presentation</dc:subject>
  <dc:creator>SSB</dc:creator>
  <cp:lastModifiedBy>SSB</cp:lastModifiedBy>
  <cp:revision>1</cp:revision>
  <dcterms:created xsi:type="dcterms:W3CDTF">2026-10-03T07:26:51Z</dcterms:created>
  <dcterms:modified xsi:type="dcterms:W3CDTF">2026-10-03T07:26:51Z</dcterms:modified>
</cp:coreProperties>
</file>