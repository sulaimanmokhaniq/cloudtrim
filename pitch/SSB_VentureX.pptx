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4.png"/><Relationship Id="rId6" Type="http://schemas.openxmlformats.org/officeDocument/2006/relationships/image" Target="../media/image-2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hyperlink" Target="https://cloudtrim-sa.vercel.app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hyperlink" Target="https://cloudtrim-sa.vercel.app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6" Type="http://schemas.openxmlformats.org/officeDocument/2006/relationships/image" Target="../media/image-10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pic>
        <p:nvPicPr>
          <p:cNvPr id="10" name="Image 0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34459" y="274320"/>
            <a:ext cx="1700036" cy="74980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200" y="1234440"/>
            <a:ext cx="5394960" cy="4526280"/>
          </a:xfrm>
          <a:prstGeom prst="roundRect">
            <a:avLst>
              <a:gd name="adj" fmla="val 4444"/>
            </a:avLst>
          </a:prstGeom>
          <a:solidFill>
            <a:srgbClr val="8E2F3C"/>
          </a:solidFill>
          <a:ln/>
        </p:spPr>
      </p:sp>
      <p:sp>
        <p:nvSpPr>
          <p:cNvPr id="12" name="Shape 9"/>
          <p:cNvSpPr/>
          <p:nvPr/>
        </p:nvSpPr>
        <p:spPr>
          <a:xfrm>
            <a:off x="914400" y="1691640"/>
            <a:ext cx="4480560" cy="3611880"/>
          </a:xfrm>
          <a:prstGeom prst="roundRect">
            <a:avLst>
              <a:gd name="adj" fmla="val 4051"/>
            </a:avLst>
          </a:prstGeom>
          <a:solidFill>
            <a:srgbClr val="FFFB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8720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فاتورة السحابة الشهرية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325880" y="3108960"/>
            <a:ext cx="457200" cy="14630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5" name="Shape 12"/>
          <p:cNvSpPr/>
          <p:nvPr/>
        </p:nvSpPr>
        <p:spPr>
          <a:xfrm>
            <a:off x="1325880" y="2377440"/>
            <a:ext cx="457200" cy="731520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984248" y="3182112"/>
            <a:ext cx="457200" cy="1389888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7" name="Shape 14"/>
          <p:cNvSpPr/>
          <p:nvPr/>
        </p:nvSpPr>
        <p:spPr>
          <a:xfrm>
            <a:off x="1984248" y="2377440"/>
            <a:ext cx="457200" cy="804672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18" name="Shape 15"/>
          <p:cNvSpPr/>
          <p:nvPr/>
        </p:nvSpPr>
        <p:spPr>
          <a:xfrm>
            <a:off x="2642616" y="3246120"/>
            <a:ext cx="457200" cy="132588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9" name="Shape 16"/>
          <p:cNvSpPr/>
          <p:nvPr/>
        </p:nvSpPr>
        <p:spPr>
          <a:xfrm>
            <a:off x="2642616" y="2377440"/>
            <a:ext cx="457200" cy="868680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3300984" y="2423160"/>
            <a:ext cx="457200" cy="214884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1" name="Shape 18"/>
          <p:cNvSpPr/>
          <p:nvPr/>
        </p:nvSpPr>
        <p:spPr>
          <a:xfrm>
            <a:off x="3959352" y="2331720"/>
            <a:ext cx="457200" cy="224028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2" name="Shape 19"/>
          <p:cNvSpPr/>
          <p:nvPr/>
        </p:nvSpPr>
        <p:spPr>
          <a:xfrm>
            <a:off x="4617720" y="2240280"/>
            <a:ext cx="457200" cy="233172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3" name="Shape 20"/>
          <p:cNvSpPr/>
          <p:nvPr/>
        </p:nvSpPr>
        <p:spPr>
          <a:xfrm>
            <a:off x="1188720" y="4572000"/>
            <a:ext cx="3931920" cy="0"/>
          </a:xfrm>
          <a:prstGeom prst="line">
            <a:avLst/>
          </a:prstGeom>
          <a:noFill/>
          <a:ln w="12700">
            <a:solidFill>
              <a:srgbClr val="E3D5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919472" y="4800600"/>
            <a:ext cx="128016" cy="128016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206240" y="4736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قبل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703320" y="4800600"/>
            <a:ext cx="128016" cy="128016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377440" y="473659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مع CloudTrim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400800" y="1417320"/>
            <a:ext cx="5333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مسار الحوسبة السحابية والبنية التحتية</a:t>
            </a:r>
            <a:endParaRPr lang="en-US" sz="1500" dirty="0"/>
          </a:p>
        </p:txBody>
      </p:sp>
      <p:pic>
        <p:nvPicPr>
          <p:cNvPr id="29" name="Image 1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1901952"/>
            <a:ext cx="868680" cy="868680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6400800" y="1847088"/>
            <a:ext cx="4282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5800" dirty="0"/>
          </a:p>
        </p:txBody>
      </p:sp>
      <p:sp>
        <p:nvSpPr>
          <p:cNvPr id="31" name="Text 27"/>
          <p:cNvSpPr txBox="1"/>
          <p:nvPr/>
        </p:nvSpPr>
        <p:spPr>
          <a:xfrm>
            <a:off x="6400800" y="2971800"/>
            <a:ext cx="5333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وفّر في سحابتك… والقرار بيدك.</a:t>
            </a:r>
            <a:endParaRPr lang="en-US" sz="3200" dirty="0"/>
          </a:p>
        </p:txBody>
      </p:sp>
      <p:sp>
        <p:nvSpPr>
          <p:cNvPr id="32" name="Text 28"/>
          <p:cNvSpPr txBox="1"/>
          <p:nvPr/>
        </p:nvSpPr>
        <p:spPr>
          <a:xfrm>
            <a:off x="6400800" y="3639312"/>
            <a:ext cx="5333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Trim the cloud, keep the control.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6400800" y="4160520"/>
            <a:ext cx="5333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منصة FinOps ذكية تكتشف الهدر في فاتورة السحابة وتشرحه، ولا تغيّر شيئاً قبل موافقة فريقكم بنقرة واحدة.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10390327" y="5166360"/>
            <a:ext cx="1344168" cy="420624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10390327" y="5166360"/>
            <a:ext cx="1344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SSB</a:t>
            </a:r>
            <a:endParaRPr 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8515807" y="5166360"/>
            <a:ext cx="1737360" cy="420624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515807" y="516636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</a:t>
            </a:r>
            <a:endParaRPr lang="en-US" sz="1400" dirty="0"/>
          </a:p>
        </p:txBody>
      </p:sp>
      <p:pic>
        <p:nvPicPr>
          <p:cNvPr id="38" name="Image 2" descr="/tmp/claude-0/-home-claude/750ff410-f4aa-5276-9360-1e19d018b112/scratchpad/c/assets/sponso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035040"/>
            <a:ext cx="4023360" cy="548640"/>
          </a:xfrm>
          <a:prstGeom prst="rect">
            <a:avLst/>
          </a:prstGeom>
        </p:spPr>
      </p:pic>
      <p:pic>
        <p:nvPicPr>
          <p:cNvPr id="39" name="Image 3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3910" y="5989320"/>
            <a:ext cx="1400585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707831" y="987552"/>
            <a:ext cx="302666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707831" y="98755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المقدمة والتعريف بالفريق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SSB: ثلاثة أعضاء، ومنتج يعمل</a:t>
            </a:r>
            <a:endParaRPr lang="en-US" sz="30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2121408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اسم المشروع: CloudTrim · مسار الحوسبة السحابية والبنية التحتية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833612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5" name="Image 3" descr="صورة سلمان عبدالرحمن مشعل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7668" y="3017520"/>
            <a:ext cx="1600200" cy="16002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51900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سلمان عبدالرحمن مشعل</a:t>
            </a:r>
            <a:endParaRPr lang="en-US" sz="2000" dirty="0"/>
          </a:p>
        </p:txBody>
      </p:sp>
      <p:sp>
        <p:nvSpPr>
          <p:cNvPr id="27" name="Text 21"/>
          <p:cNvSpPr txBox="1"/>
          <p:nvPr/>
        </p:nvSpPr>
        <p:spPr>
          <a:xfrm>
            <a:off x="851900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قائد الفريق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440420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9" name="Image 4" descr="صورة سليمان ممدوح مخانق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5748" y="3017520"/>
            <a:ext cx="1600200" cy="160020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58708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سليمان ممدوح مخانق</a:t>
            </a:r>
            <a:endParaRPr lang="en-US" sz="2000" dirty="0"/>
          </a:p>
        </p:txBody>
      </p:sp>
      <p:sp>
        <p:nvSpPr>
          <p:cNvPr id="31" name="Text 24"/>
          <p:cNvSpPr txBox="1"/>
          <p:nvPr/>
        </p:nvSpPr>
        <p:spPr>
          <a:xfrm>
            <a:off x="458708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مطور الواجهات</a:t>
            </a:r>
            <a:endParaRPr lang="en-US" sz="1500" dirty="0"/>
          </a:p>
        </p:txBody>
      </p:sp>
      <p:sp>
        <p:nvSpPr>
          <p:cNvPr id="32" name="Shape 25"/>
          <p:cNvSpPr/>
          <p:nvPr/>
        </p:nvSpPr>
        <p:spPr>
          <a:xfrm>
            <a:off x="47228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3" name="Image 5" descr="صورة بلال أنس زكار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3828" y="3017520"/>
            <a:ext cx="1600200" cy="16002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5516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بلال أنس زكار</a:t>
            </a:r>
            <a:endParaRPr lang="en-US" sz="2000" dirty="0"/>
          </a:p>
        </p:txBody>
      </p:sp>
      <p:sp>
        <p:nvSpPr>
          <p:cNvPr id="35" name="Text 27"/>
          <p:cNvSpPr txBox="1"/>
          <p:nvPr/>
        </p:nvSpPr>
        <p:spPr>
          <a:xfrm>
            <a:off x="65516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مطور الفكرة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المشكلة والتحدي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لماذا تخرج تكاليف السحابة عن السيطرة؟</a:t>
            </a:r>
            <a:endParaRPr lang="en-US" sz="3000" dirty="0"/>
          </a:p>
        </p:txBody>
      </p:sp>
      <p:sp>
        <p:nvSpPr>
          <p:cNvPr id="23" name="Shape 18"/>
          <p:cNvSpPr/>
          <p:nvPr/>
        </p:nvSpPr>
        <p:spPr>
          <a:xfrm>
            <a:off x="457200" y="2240280"/>
            <a:ext cx="11277295" cy="1298448"/>
          </a:xfrm>
          <a:prstGeom prst="roundRect">
            <a:avLst>
              <a:gd name="adj" fmla="val 12676"/>
            </a:avLst>
          </a:prstGeom>
          <a:solidFill>
            <a:srgbClr val="F1E4DF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7975397" y="2304288"/>
            <a:ext cx="375909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29%</a:t>
            </a:r>
            <a:endParaRPr lang="en-US" sz="3600" dirty="0"/>
          </a:p>
        </p:txBody>
      </p:sp>
      <p:sp>
        <p:nvSpPr>
          <p:cNvPr id="25" name="Text 20"/>
          <p:cNvSpPr txBox="1"/>
          <p:nvPr/>
        </p:nvSpPr>
        <p:spPr>
          <a:xfrm>
            <a:off x="8249717" y="292608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الإنفاق السحابي مهدر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4216298" y="2304288"/>
            <a:ext cx="375909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17%</a:t>
            </a:r>
            <a:endParaRPr lang="en-US" sz="3600" dirty="0"/>
          </a:p>
        </p:txBody>
      </p:sp>
      <p:sp>
        <p:nvSpPr>
          <p:cNvPr id="27" name="Text 22"/>
          <p:cNvSpPr txBox="1"/>
          <p:nvPr/>
        </p:nvSpPr>
        <p:spPr>
          <a:xfrm>
            <a:off x="4490618" y="292608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متوسط تجاوز ميزانية السحابة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457200" y="2304288"/>
            <a:ext cx="375909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40%</a:t>
            </a:r>
            <a:endParaRPr lang="en-US" sz="3600" dirty="0"/>
          </a:p>
        </p:txBody>
      </p:sp>
      <p:sp>
        <p:nvSpPr>
          <p:cNvPr id="29" name="Text 24"/>
          <p:cNvSpPr txBox="1"/>
          <p:nvPr/>
        </p:nvSpPr>
        <p:spPr>
          <a:xfrm>
            <a:off x="731520" y="292608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المؤسسات تعرضت لعطل كبير سببه خطأ بشري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6263640" y="3675888"/>
            <a:ext cx="5470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الأسباب الجذرية</a:t>
            </a:r>
            <a:endParaRPr lang="en-US" sz="1600" dirty="0"/>
          </a:p>
        </p:txBody>
      </p:sp>
      <p:sp>
        <p:nvSpPr>
          <p:cNvPr id="31" name="Shape 26"/>
          <p:cNvSpPr/>
          <p:nvPr/>
        </p:nvSpPr>
        <p:spPr>
          <a:xfrm>
            <a:off x="11350447" y="4078224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8E2F3C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11350447" y="4078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01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6263640" y="4041648"/>
            <a:ext cx="494964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 أحد يملك حذف الموارد</a:t>
            </a:r>
            <a:endParaRPr lang="en-US" sz="1350" dirty="0"/>
          </a:p>
        </p:txBody>
      </p:sp>
      <p:sp>
        <p:nvSpPr>
          <p:cNvPr id="34" name="Text 29"/>
          <p:cNvSpPr txBox="1"/>
          <p:nvPr/>
        </p:nvSpPr>
        <p:spPr>
          <a:xfrm>
            <a:off x="6263640" y="4288536"/>
            <a:ext cx="49496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إنشاء المورد سهل وحذفه بلا مالك، والفاتورة تصل للمالية لا للمهندس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11350447" y="455371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8E2F3C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11350447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</a:t>
            </a:r>
            <a:endParaRPr lang="en-US" sz="1200" dirty="0"/>
          </a:p>
        </p:txBody>
      </p:sp>
      <p:sp>
        <p:nvSpPr>
          <p:cNvPr id="37" name="Text 32"/>
          <p:cNvSpPr txBox="1"/>
          <p:nvPr/>
        </p:nvSpPr>
        <p:spPr>
          <a:xfrm>
            <a:off x="6263640" y="4517136"/>
            <a:ext cx="494964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 يوجد مختص FinOps</a:t>
            </a:r>
            <a:endParaRPr lang="en-US" sz="1350" dirty="0"/>
          </a:p>
        </p:txBody>
      </p:sp>
      <p:sp>
        <p:nvSpPr>
          <p:cNvPr id="38" name="Text 33"/>
          <p:cNvSpPr txBox="1"/>
          <p:nvPr/>
        </p:nvSpPr>
        <p:spPr>
          <a:xfrm>
            <a:off x="6263640" y="4764024"/>
            <a:ext cx="49496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شركة من 50 إلى 250 موظفاً لا توظف فريقاً لتكاليف السحابة</a:t>
            </a:r>
            <a:endParaRPr lang="en-US" sz="1100" dirty="0"/>
          </a:p>
        </p:txBody>
      </p:sp>
      <p:sp>
        <p:nvSpPr>
          <p:cNvPr id="39" name="Shape 34"/>
          <p:cNvSpPr/>
          <p:nvPr/>
        </p:nvSpPr>
        <p:spPr>
          <a:xfrm>
            <a:off x="11350447" y="50292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8E2F3C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11350447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</a:t>
            </a:r>
            <a:endParaRPr lang="en-US" sz="1200" dirty="0"/>
          </a:p>
        </p:txBody>
      </p:sp>
      <p:sp>
        <p:nvSpPr>
          <p:cNvPr id="41" name="Text 36"/>
          <p:cNvSpPr txBox="1"/>
          <p:nvPr/>
        </p:nvSpPr>
        <p:spPr>
          <a:xfrm>
            <a:off x="6263640" y="4992624"/>
            <a:ext cx="494964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الأدوات لا ترى السحب المحلية</a:t>
            </a:r>
            <a:endParaRPr lang="en-US" sz="1350" dirty="0"/>
          </a:p>
        </p:txBody>
      </p:sp>
      <p:sp>
        <p:nvSpPr>
          <p:cNvPr id="42" name="Text 37"/>
          <p:cNvSpPr txBox="1"/>
          <p:nvPr/>
        </p:nvSpPr>
        <p:spPr>
          <a:xfrm>
            <a:off x="6263640" y="5239512"/>
            <a:ext cx="49496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STC Cloud وSCCC وCNTXT خارج أدوات FinOps العالمية</a:t>
            </a:r>
            <a:endParaRPr lang="en-US" sz="1100" dirty="0"/>
          </a:p>
        </p:txBody>
      </p:sp>
      <p:sp>
        <p:nvSpPr>
          <p:cNvPr id="43" name="Shape 38"/>
          <p:cNvSpPr/>
          <p:nvPr/>
        </p:nvSpPr>
        <p:spPr>
          <a:xfrm>
            <a:off x="11350447" y="550468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8E2F3C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11350447" y="5504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04</a:t>
            </a:r>
            <a:endParaRPr lang="en-US" sz="1200" dirty="0"/>
          </a:p>
        </p:txBody>
      </p:sp>
      <p:sp>
        <p:nvSpPr>
          <p:cNvPr id="45" name="Text 40"/>
          <p:cNvSpPr txBox="1"/>
          <p:nvPr/>
        </p:nvSpPr>
        <p:spPr>
          <a:xfrm>
            <a:off x="6263640" y="5468112"/>
            <a:ext cx="494964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الخوف من التوقف</a:t>
            </a:r>
            <a:endParaRPr lang="en-US" sz="1350" dirty="0"/>
          </a:p>
        </p:txBody>
      </p:sp>
      <p:sp>
        <p:nvSpPr>
          <p:cNvPr id="46" name="Text 41"/>
          <p:cNvSpPr txBox="1"/>
          <p:nvPr/>
        </p:nvSpPr>
        <p:spPr>
          <a:xfrm>
            <a:off x="6263640" y="5715000"/>
            <a:ext cx="49496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نقرة خاطئة قد توقف خدمة حيوية، فلا أحد يجرؤ على الإيقاف</a:t>
            </a:r>
            <a:endParaRPr lang="en-US" sz="1100" dirty="0"/>
          </a:p>
        </p:txBody>
      </p:sp>
      <p:sp>
        <p:nvSpPr>
          <p:cNvPr id="47" name="Shape 42"/>
          <p:cNvSpPr/>
          <p:nvPr/>
        </p:nvSpPr>
        <p:spPr>
          <a:xfrm>
            <a:off x="457200" y="3703320"/>
            <a:ext cx="5440680" cy="2212848"/>
          </a:xfrm>
          <a:prstGeom prst="roundRect">
            <a:avLst>
              <a:gd name="adj" fmla="val 661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731520" y="3822192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يتأثر؟</a:t>
            </a:r>
            <a:endParaRPr lang="en-US" sz="1600" dirty="0"/>
          </a:p>
        </p:txBody>
      </p:sp>
      <p:sp>
        <p:nvSpPr>
          <p:cNvPr id="49" name="Shape 44"/>
          <p:cNvSpPr/>
          <p:nvPr/>
        </p:nvSpPr>
        <p:spPr>
          <a:xfrm>
            <a:off x="5477256" y="4315968"/>
            <a:ext cx="146304" cy="14630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731520" y="425196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المدير المالي</a:t>
            </a:r>
            <a:endParaRPr lang="en-US" sz="1400" dirty="0"/>
          </a:p>
        </p:txBody>
      </p:sp>
      <p:sp>
        <p:nvSpPr>
          <p:cNvPr id="51" name="Text 46"/>
          <p:cNvSpPr txBox="1"/>
          <p:nvPr/>
        </p:nvSpPr>
        <p:spPr>
          <a:xfrm>
            <a:off x="731520" y="4507992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ميزانية غير متوقعة كل شهر</a:t>
            </a:r>
            <a:endParaRPr lang="en-US" sz="1200" dirty="0"/>
          </a:p>
        </p:txBody>
      </p:sp>
      <p:sp>
        <p:nvSpPr>
          <p:cNvPr id="52" name="Shape 47"/>
          <p:cNvSpPr/>
          <p:nvPr/>
        </p:nvSpPr>
        <p:spPr>
          <a:xfrm>
            <a:off x="5477256" y="4846320"/>
            <a:ext cx="146304" cy="146304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731520" y="478231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المؤسس</a:t>
            </a:r>
            <a:endParaRPr lang="en-US" sz="1400" dirty="0"/>
          </a:p>
        </p:txBody>
      </p:sp>
      <p:sp>
        <p:nvSpPr>
          <p:cNvPr id="54" name="Text 49"/>
          <p:cNvSpPr txBox="1"/>
          <p:nvPr/>
        </p:nvSpPr>
        <p:spPr>
          <a:xfrm>
            <a:off x="731520" y="503834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السيولة تنفد أسرع مما يجب</a:t>
            </a:r>
            <a:endParaRPr lang="en-US" sz="1200" dirty="0"/>
          </a:p>
        </p:txBody>
      </p:sp>
      <p:sp>
        <p:nvSpPr>
          <p:cNvPr id="55" name="Shape 50"/>
          <p:cNvSpPr/>
          <p:nvPr/>
        </p:nvSpPr>
        <p:spPr>
          <a:xfrm>
            <a:off x="5477256" y="5376672"/>
            <a:ext cx="146304" cy="14630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6" name="Text 51"/>
          <p:cNvSpPr txBox="1"/>
          <p:nvPr/>
        </p:nvSpPr>
        <p:spPr>
          <a:xfrm>
            <a:off x="731520" y="531266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مهندس DevOps</a:t>
            </a:r>
            <a:endParaRPr lang="en-US" sz="1400" dirty="0"/>
          </a:p>
        </p:txBody>
      </p:sp>
      <p:sp>
        <p:nvSpPr>
          <p:cNvPr id="57" name="Text 52"/>
          <p:cNvSpPr txBox="1"/>
          <p:nvPr/>
        </p:nvSpPr>
        <p:spPr>
          <a:xfrm>
            <a:off x="731520" y="5568696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يُلام على أي توقف، فيتجنب الإيقاف</a:t>
            </a:r>
            <a:endParaRPr lang="en-US" sz="1200" dirty="0"/>
          </a:p>
        </p:txBody>
      </p:sp>
      <p:sp>
        <p:nvSpPr>
          <p:cNvPr id="58" name="Text 53"/>
          <p:cNvSpPr txBox="1"/>
          <p:nvPr/>
        </p:nvSpPr>
        <p:spPr>
          <a:xfrm>
            <a:off x="457200" y="6035040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المصادر: Flexera State of the Cloud 2026 · Uptime Institute Annual Outage Analysis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810951" y="987552"/>
            <a:ext cx="92354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810951" y="987552"/>
            <a:ext cx="923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الحل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نكتشف الهدر، ونشرحه، وأنتم تقررون</a:t>
            </a:r>
            <a:endParaRPr lang="en-US" sz="30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2121408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الابتكار: أول منصة FinOps محلية تجمع السحب السعودية والعالمية، وتنفّذ بموافقة بشرية وصلاحية مؤقتة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9052331" y="2651760"/>
            <a:ext cx="2682164" cy="1417320"/>
          </a:xfrm>
          <a:prstGeom prst="roundRect">
            <a:avLst>
              <a:gd name="adj" fmla="val 903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162059" y="2761488"/>
            <a:ext cx="2462708" cy="402336"/>
          </a:xfrm>
          <a:prstGeom prst="roundRect">
            <a:avLst>
              <a:gd name="adj" fmla="val 22727"/>
            </a:avLst>
          </a:prstGeom>
          <a:solidFill>
            <a:srgbClr val="F1E4DF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9280931" y="2761488"/>
            <a:ext cx="22249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 رؤية لأين يذهب المال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9280931" y="3273552"/>
            <a:ext cx="22249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موصلات للقراءة فقط ولوحة واحدة لكل السحابات</a:t>
            </a:r>
            <a:endParaRPr lang="en-US" sz="1350" dirty="0"/>
          </a:p>
        </p:txBody>
      </p:sp>
      <p:sp>
        <p:nvSpPr>
          <p:cNvPr id="28" name="Shape 23"/>
          <p:cNvSpPr/>
          <p:nvPr/>
        </p:nvSpPr>
        <p:spPr>
          <a:xfrm>
            <a:off x="6187288" y="2651760"/>
            <a:ext cx="2682164" cy="1417320"/>
          </a:xfrm>
          <a:prstGeom prst="roundRect">
            <a:avLst>
              <a:gd name="adj" fmla="val 903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6297016" y="2761488"/>
            <a:ext cx="2462708" cy="402336"/>
          </a:xfrm>
          <a:prstGeom prst="roundRect">
            <a:avLst>
              <a:gd name="adj" fmla="val 22727"/>
            </a:avLst>
          </a:prstGeom>
          <a:solidFill>
            <a:srgbClr val="F1E4DF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6415888" y="2761488"/>
            <a:ext cx="22249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 أحد يملك المشكلة</a:t>
            </a:r>
            <a:endParaRPr lang="en-US" sz="1250" dirty="0"/>
          </a:p>
        </p:txBody>
      </p:sp>
      <p:sp>
        <p:nvSpPr>
          <p:cNvPr id="31" name="Text 26"/>
          <p:cNvSpPr txBox="1"/>
          <p:nvPr/>
        </p:nvSpPr>
        <p:spPr>
          <a:xfrm>
            <a:off x="6415888" y="3273552"/>
            <a:ext cx="22249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تنبيه واتساب أو تيليجرام لشخص محدد مع رابط الموافقة</a:t>
            </a:r>
            <a:endParaRPr lang="en-US" sz="1350" dirty="0"/>
          </a:p>
        </p:txBody>
      </p:sp>
      <p:sp>
        <p:nvSpPr>
          <p:cNvPr id="32" name="Shape 27"/>
          <p:cNvSpPr/>
          <p:nvPr/>
        </p:nvSpPr>
        <p:spPr>
          <a:xfrm>
            <a:off x="3322244" y="2651760"/>
            <a:ext cx="2682164" cy="1417320"/>
          </a:xfrm>
          <a:prstGeom prst="roundRect">
            <a:avLst>
              <a:gd name="adj" fmla="val 903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3431972" y="2761488"/>
            <a:ext cx="2462708" cy="402336"/>
          </a:xfrm>
          <a:prstGeom prst="roundRect">
            <a:avLst>
              <a:gd name="adj" fmla="val 22727"/>
            </a:avLst>
          </a:prstGeom>
          <a:solidFill>
            <a:srgbClr val="F1E4DF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3550844" y="2761488"/>
            <a:ext cx="22249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الخوف من التوقف</a:t>
            </a:r>
            <a:endParaRPr lang="en-US" sz="1250" dirty="0"/>
          </a:p>
        </p:txBody>
      </p:sp>
      <p:sp>
        <p:nvSpPr>
          <p:cNvPr id="35" name="Text 30"/>
          <p:cNvSpPr txBox="1"/>
          <p:nvPr/>
        </p:nvSpPr>
        <p:spPr>
          <a:xfrm>
            <a:off x="3550844" y="3273552"/>
            <a:ext cx="22249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موافقة بشرية، صلاحية مؤقتة، Snapshot، وتراجع بنقرة</a:t>
            </a:r>
            <a:endParaRPr lang="en-US" sz="1350" dirty="0"/>
          </a:p>
        </p:txBody>
      </p:sp>
      <p:sp>
        <p:nvSpPr>
          <p:cNvPr id="36" name="Shape 31"/>
          <p:cNvSpPr/>
          <p:nvPr/>
        </p:nvSpPr>
        <p:spPr>
          <a:xfrm>
            <a:off x="457200" y="2651760"/>
            <a:ext cx="2682164" cy="1417320"/>
          </a:xfrm>
          <a:prstGeom prst="roundRect">
            <a:avLst>
              <a:gd name="adj" fmla="val 903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566928" y="2761488"/>
            <a:ext cx="2462708" cy="402336"/>
          </a:xfrm>
          <a:prstGeom prst="roundRect">
            <a:avLst>
              <a:gd name="adj" fmla="val 22727"/>
            </a:avLst>
          </a:prstGeom>
          <a:solidFill>
            <a:srgbClr val="F1E4DF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685800" y="2761488"/>
            <a:ext cx="22249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الأدوات غالية وباشتراك ثابت</a:t>
            </a:r>
            <a:endParaRPr lang="en-US" sz="1250" dirty="0"/>
          </a:p>
        </p:txBody>
      </p:sp>
      <p:sp>
        <p:nvSpPr>
          <p:cNvPr id="39" name="Text 34"/>
          <p:cNvSpPr txBox="1"/>
          <p:nvPr/>
        </p:nvSpPr>
        <p:spPr>
          <a:xfrm>
            <a:off x="685800" y="3273552"/>
            <a:ext cx="22249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فحص أول مجاني، ثم دفع حسب الاستخدام بسقف شهري</a:t>
            </a:r>
            <a:endParaRPr lang="en-US" sz="1350" dirty="0"/>
          </a:p>
        </p:txBody>
      </p:sp>
      <p:sp>
        <p:nvSpPr>
          <p:cNvPr id="40" name="Text 35"/>
          <p:cNvSpPr txBox="1"/>
          <p:nvPr/>
        </p:nvSpPr>
        <p:spPr>
          <a:xfrm>
            <a:off x="457200" y="4251960"/>
            <a:ext cx="11277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الذكاء الاصطناعي يقترح، والإنسان يقرر</a:t>
            </a:r>
            <a:endParaRPr lang="en-US" sz="1600" dirty="0"/>
          </a:p>
        </p:txBody>
      </p:sp>
      <p:sp>
        <p:nvSpPr>
          <p:cNvPr id="41" name="Shape 36"/>
          <p:cNvSpPr/>
          <p:nvPr/>
        </p:nvSpPr>
        <p:spPr>
          <a:xfrm>
            <a:off x="9969246" y="4663440"/>
            <a:ext cx="1765249" cy="749808"/>
          </a:xfrm>
          <a:prstGeom prst="roundRect">
            <a:avLst>
              <a:gd name="adj" fmla="val 14634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11231575" y="4855464"/>
            <a:ext cx="365760" cy="365760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11231575" y="4855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</a:t>
            </a:r>
            <a:endParaRPr lang="en-US" sz="1300" dirty="0"/>
          </a:p>
        </p:txBody>
      </p:sp>
      <p:sp>
        <p:nvSpPr>
          <p:cNvPr id="44" name="Text 39"/>
          <p:cNvSpPr txBox="1"/>
          <p:nvPr/>
        </p:nvSpPr>
        <p:spPr>
          <a:xfrm>
            <a:off x="10078974" y="4663440"/>
            <a:ext cx="112516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فحص للقراءة فقط</a:t>
            </a:r>
            <a:endParaRPr lang="en-US" sz="1200" dirty="0"/>
          </a:p>
        </p:txBody>
      </p:sp>
      <p:sp>
        <p:nvSpPr>
          <p:cNvPr id="45" name="Shape 40"/>
          <p:cNvSpPr/>
          <p:nvPr/>
        </p:nvSpPr>
        <p:spPr>
          <a:xfrm>
            <a:off x="8066837" y="4663440"/>
            <a:ext cx="1765249" cy="749808"/>
          </a:xfrm>
          <a:prstGeom prst="roundRect">
            <a:avLst>
              <a:gd name="adj" fmla="val 14634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9329166" y="4855464"/>
            <a:ext cx="365760" cy="365760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9329166" y="4855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3"/>
          <p:cNvSpPr txBox="1"/>
          <p:nvPr/>
        </p:nvSpPr>
        <p:spPr>
          <a:xfrm>
            <a:off x="8176565" y="4663440"/>
            <a:ext cx="112516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توصية الذكاء الاصطناعي</a:t>
            </a:r>
            <a:endParaRPr lang="en-US" sz="1200" dirty="0"/>
          </a:p>
        </p:txBody>
      </p:sp>
      <p:sp>
        <p:nvSpPr>
          <p:cNvPr id="49" name="Shape 44"/>
          <p:cNvSpPr/>
          <p:nvPr/>
        </p:nvSpPr>
        <p:spPr>
          <a:xfrm>
            <a:off x="6164428" y="4663440"/>
            <a:ext cx="1765249" cy="749808"/>
          </a:xfrm>
          <a:prstGeom prst="roundRect">
            <a:avLst>
              <a:gd name="adj" fmla="val 14634"/>
            </a:avLst>
          </a:prstGeom>
          <a:solidFill>
            <a:srgbClr val="8E2F3C"/>
          </a:solidFill>
          <a:ln/>
        </p:spPr>
      </p:sp>
      <p:sp>
        <p:nvSpPr>
          <p:cNvPr id="50" name="Shape 45"/>
          <p:cNvSpPr/>
          <p:nvPr/>
        </p:nvSpPr>
        <p:spPr>
          <a:xfrm>
            <a:off x="7426757" y="4855464"/>
            <a:ext cx="365760" cy="365760"/>
          </a:xfrm>
          <a:prstGeom prst="ellipse">
            <a:avLst/>
          </a:prstGeom>
          <a:solidFill>
            <a:srgbClr val="FBF6EE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7426757" y="4855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3</a:t>
            </a:r>
            <a:endParaRPr lang="en-US" sz="1300" dirty="0"/>
          </a:p>
        </p:txBody>
      </p:sp>
      <p:sp>
        <p:nvSpPr>
          <p:cNvPr id="52" name="Text 47"/>
          <p:cNvSpPr txBox="1"/>
          <p:nvPr/>
        </p:nvSpPr>
        <p:spPr>
          <a:xfrm>
            <a:off x="6274156" y="4663440"/>
            <a:ext cx="112516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موافقة بشرية</a:t>
            </a:r>
            <a:endParaRPr lang="en-US" sz="1200" dirty="0"/>
          </a:p>
        </p:txBody>
      </p:sp>
      <p:sp>
        <p:nvSpPr>
          <p:cNvPr id="53" name="Shape 48"/>
          <p:cNvSpPr/>
          <p:nvPr/>
        </p:nvSpPr>
        <p:spPr>
          <a:xfrm>
            <a:off x="4262018" y="4663440"/>
            <a:ext cx="1765249" cy="749808"/>
          </a:xfrm>
          <a:prstGeom prst="roundRect">
            <a:avLst>
              <a:gd name="adj" fmla="val 14634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5524348" y="4855464"/>
            <a:ext cx="365760" cy="365760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5524348" y="4855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4</a:t>
            </a:r>
            <a:endParaRPr lang="en-US" sz="1300" dirty="0"/>
          </a:p>
        </p:txBody>
      </p:sp>
      <p:sp>
        <p:nvSpPr>
          <p:cNvPr id="56" name="Text 51"/>
          <p:cNvSpPr txBox="1"/>
          <p:nvPr/>
        </p:nvSpPr>
        <p:spPr>
          <a:xfrm>
            <a:off x="4371746" y="4663440"/>
            <a:ext cx="112516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صلاحية مؤقتة 15 دقيقة</a:t>
            </a:r>
            <a:endParaRPr lang="en-US" sz="1200" dirty="0"/>
          </a:p>
        </p:txBody>
      </p:sp>
      <p:sp>
        <p:nvSpPr>
          <p:cNvPr id="57" name="Shape 52"/>
          <p:cNvSpPr/>
          <p:nvPr/>
        </p:nvSpPr>
        <p:spPr>
          <a:xfrm>
            <a:off x="2359609" y="4663440"/>
            <a:ext cx="1765249" cy="749808"/>
          </a:xfrm>
          <a:prstGeom prst="roundRect">
            <a:avLst>
              <a:gd name="adj" fmla="val 14634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58" name="Shape 53"/>
          <p:cNvSpPr/>
          <p:nvPr/>
        </p:nvSpPr>
        <p:spPr>
          <a:xfrm>
            <a:off x="3621938" y="4855464"/>
            <a:ext cx="365760" cy="365760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59" name="Text 54"/>
          <p:cNvSpPr txBox="1"/>
          <p:nvPr/>
        </p:nvSpPr>
        <p:spPr>
          <a:xfrm>
            <a:off x="3621938" y="4855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5</a:t>
            </a:r>
            <a:endParaRPr lang="en-US" sz="1300" dirty="0"/>
          </a:p>
        </p:txBody>
      </p:sp>
      <p:sp>
        <p:nvSpPr>
          <p:cNvPr id="60" name="Text 55"/>
          <p:cNvSpPr txBox="1"/>
          <p:nvPr/>
        </p:nvSpPr>
        <p:spPr>
          <a:xfrm>
            <a:off x="2469337" y="4663440"/>
            <a:ext cx="112516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تنفيذ آمن مع تراجع</a:t>
            </a:r>
            <a:endParaRPr lang="en-US" sz="1200" dirty="0"/>
          </a:p>
        </p:txBody>
      </p:sp>
      <p:sp>
        <p:nvSpPr>
          <p:cNvPr id="61" name="Shape 56"/>
          <p:cNvSpPr/>
          <p:nvPr/>
        </p:nvSpPr>
        <p:spPr>
          <a:xfrm>
            <a:off x="457200" y="4663440"/>
            <a:ext cx="1765249" cy="749808"/>
          </a:xfrm>
          <a:prstGeom prst="roundRect">
            <a:avLst>
              <a:gd name="adj" fmla="val 14634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62" name="Shape 57"/>
          <p:cNvSpPr/>
          <p:nvPr/>
        </p:nvSpPr>
        <p:spPr>
          <a:xfrm>
            <a:off x="1719529" y="4855464"/>
            <a:ext cx="365760" cy="365760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63" name="Text 58"/>
          <p:cNvSpPr txBox="1"/>
          <p:nvPr/>
        </p:nvSpPr>
        <p:spPr>
          <a:xfrm>
            <a:off x="1719529" y="4855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6</a:t>
            </a:r>
            <a:endParaRPr lang="en-US" sz="1300" dirty="0"/>
          </a:p>
        </p:txBody>
      </p:sp>
      <p:sp>
        <p:nvSpPr>
          <p:cNvPr id="64" name="Text 59"/>
          <p:cNvSpPr txBox="1"/>
          <p:nvPr/>
        </p:nvSpPr>
        <p:spPr>
          <a:xfrm>
            <a:off x="566928" y="4663440"/>
            <a:ext cx="112516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سحب الصلاحية والتدقيق</a:t>
            </a:r>
            <a:endParaRPr lang="en-US" sz="1200" dirty="0"/>
          </a:p>
        </p:txBody>
      </p:sp>
      <p:sp>
        <p:nvSpPr>
          <p:cNvPr id="65" name="Text 60"/>
          <p:cNvSpPr txBox="1"/>
          <p:nvPr/>
        </p:nvSpPr>
        <p:spPr>
          <a:xfrm>
            <a:off x="7863840" y="5596128"/>
            <a:ext cx="38706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متوافق مع (دون ادّعاء شهادة):</a:t>
            </a:r>
            <a:endParaRPr lang="en-US" sz="1200" dirty="0"/>
          </a:p>
        </p:txBody>
      </p:sp>
      <p:sp>
        <p:nvSpPr>
          <p:cNvPr id="66" name="Shape 61"/>
          <p:cNvSpPr/>
          <p:nvPr/>
        </p:nvSpPr>
        <p:spPr>
          <a:xfrm>
            <a:off x="6739128" y="559612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67" name="Text 62"/>
          <p:cNvSpPr txBox="1"/>
          <p:nvPr/>
        </p:nvSpPr>
        <p:spPr>
          <a:xfrm>
            <a:off x="6739128" y="559612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NCA ECC</a:t>
            </a:r>
            <a:endParaRPr lang="en-US" sz="1150" dirty="0"/>
          </a:p>
        </p:txBody>
      </p:sp>
      <p:sp>
        <p:nvSpPr>
          <p:cNvPr id="68" name="Shape 63"/>
          <p:cNvSpPr/>
          <p:nvPr/>
        </p:nvSpPr>
        <p:spPr>
          <a:xfrm>
            <a:off x="5843016" y="5596128"/>
            <a:ext cx="786384" cy="347472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69" name="Text 64"/>
          <p:cNvSpPr txBox="1"/>
          <p:nvPr/>
        </p:nvSpPr>
        <p:spPr>
          <a:xfrm>
            <a:off x="5843016" y="5596128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PDPL</a:t>
            </a:r>
            <a:endParaRPr lang="en-US" sz="1150" dirty="0"/>
          </a:p>
        </p:txBody>
      </p:sp>
      <p:sp>
        <p:nvSpPr>
          <p:cNvPr id="70" name="Shape 65"/>
          <p:cNvSpPr/>
          <p:nvPr/>
        </p:nvSpPr>
        <p:spPr>
          <a:xfrm>
            <a:off x="4535424" y="5596128"/>
            <a:ext cx="1197864" cy="347472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71" name="Text 66"/>
          <p:cNvSpPr txBox="1"/>
          <p:nvPr/>
        </p:nvSpPr>
        <p:spPr>
          <a:xfrm>
            <a:off x="4535424" y="5596128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ISO 27001</a:t>
            </a:r>
            <a:endParaRPr lang="en-US" sz="1150" dirty="0"/>
          </a:p>
        </p:txBody>
      </p:sp>
      <p:sp>
        <p:nvSpPr>
          <p:cNvPr id="72" name="Shape 67"/>
          <p:cNvSpPr/>
          <p:nvPr/>
        </p:nvSpPr>
        <p:spPr>
          <a:xfrm>
            <a:off x="3227832" y="5596128"/>
            <a:ext cx="1197864" cy="347472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73" name="Text 68"/>
          <p:cNvSpPr txBox="1"/>
          <p:nvPr/>
        </p:nvSpPr>
        <p:spPr>
          <a:xfrm>
            <a:off x="3227832" y="5596128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ISO 27017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الفئة المستهدفة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شركات سعودية من 50 إلى 250 موظفاً، بلا فريق FinOps</a:t>
            </a:r>
            <a:endParaRPr lang="en-US" sz="30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2121408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رواد الأعمال والشركات الناشئة والمتوسطة التي تفتقر لخبراء سحابة، وفاتورتها عشرات الآلاف شهرياً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6263640" y="2743200"/>
            <a:ext cx="5470855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583680" y="2926080"/>
            <a:ext cx="4830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شخصية العرض: "نخلة تك"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6583680" y="3310128"/>
            <a:ext cx="48307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شركة افتراضية نستخدمها في النموذج الأولي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9804197" y="3703320"/>
            <a:ext cx="1610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120</a:t>
            </a:r>
            <a:endParaRPr lang="en-US" sz="2600" dirty="0"/>
          </a:p>
        </p:txBody>
      </p:sp>
      <p:sp>
        <p:nvSpPr>
          <p:cNvPr id="28" name="Text 23"/>
          <p:cNvSpPr txBox="1"/>
          <p:nvPr/>
        </p:nvSpPr>
        <p:spPr>
          <a:xfrm>
            <a:off x="9804197" y="4206240"/>
            <a:ext cx="16102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موظفاً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8193938" y="3703320"/>
            <a:ext cx="1610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85,400</a:t>
            </a:r>
            <a:endParaRPr lang="en-US" sz="2600" dirty="0"/>
          </a:p>
        </p:txBody>
      </p:sp>
      <p:sp>
        <p:nvSpPr>
          <p:cNvPr id="30" name="Text 25"/>
          <p:cNvSpPr txBox="1"/>
          <p:nvPr/>
        </p:nvSpPr>
        <p:spPr>
          <a:xfrm>
            <a:off x="8193938" y="4206240"/>
            <a:ext cx="16102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ريال فاتورة شهرية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6583680" y="3703320"/>
            <a:ext cx="1610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342</a:t>
            </a:r>
            <a:endParaRPr lang="en-US" sz="2600" dirty="0"/>
          </a:p>
        </p:txBody>
      </p:sp>
      <p:sp>
        <p:nvSpPr>
          <p:cNvPr id="32" name="Text 27"/>
          <p:cNvSpPr txBox="1"/>
          <p:nvPr/>
        </p:nvSpPr>
        <p:spPr>
          <a:xfrm>
            <a:off x="6583680" y="4206240"/>
            <a:ext cx="16102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مورداً سحابياً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9859061" y="4709160"/>
            <a:ext cx="1500530" cy="1051560"/>
          </a:xfrm>
          <a:prstGeom prst="roundRect">
            <a:avLst>
              <a:gd name="adj" fmla="val 10435"/>
            </a:avLst>
          </a:prstGeom>
          <a:solidFill>
            <a:srgbClr val="F1E4DF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9895637" y="4846320"/>
            <a:ext cx="14273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المهندس</a:t>
            </a:r>
            <a:endParaRPr lang="en-US" sz="1500" dirty="0"/>
          </a:p>
        </p:txBody>
      </p:sp>
      <p:sp>
        <p:nvSpPr>
          <p:cNvPr id="35" name="Text 30"/>
          <p:cNvSpPr txBox="1"/>
          <p:nvPr/>
        </p:nvSpPr>
        <p:spPr>
          <a:xfrm>
            <a:off x="9895637" y="5212080"/>
            <a:ext cx="14273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يستلم التنبيه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8248802" y="4709160"/>
            <a:ext cx="1500530" cy="1051560"/>
          </a:xfrm>
          <a:prstGeom prst="roundRect">
            <a:avLst>
              <a:gd name="adj" fmla="val 10435"/>
            </a:avLst>
          </a:prstGeom>
          <a:solidFill>
            <a:srgbClr val="F1E4DF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8285378" y="4846320"/>
            <a:ext cx="14273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المدير التقني</a:t>
            </a:r>
            <a:endParaRPr lang="en-US" sz="1500" dirty="0"/>
          </a:p>
        </p:txBody>
      </p:sp>
      <p:sp>
        <p:nvSpPr>
          <p:cNvPr id="38" name="Text 33"/>
          <p:cNvSpPr txBox="1"/>
          <p:nvPr/>
        </p:nvSpPr>
        <p:spPr>
          <a:xfrm>
            <a:off x="8285378" y="5212080"/>
            <a:ext cx="14273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يوافق بنقرة</a:t>
            </a:r>
            <a:endParaRPr lang="en-US" sz="1200" dirty="0"/>
          </a:p>
        </p:txBody>
      </p:sp>
      <p:sp>
        <p:nvSpPr>
          <p:cNvPr id="39" name="Shape 34"/>
          <p:cNvSpPr/>
          <p:nvPr/>
        </p:nvSpPr>
        <p:spPr>
          <a:xfrm>
            <a:off x="6638544" y="4709160"/>
            <a:ext cx="1500530" cy="1051560"/>
          </a:xfrm>
          <a:prstGeom prst="roundRect">
            <a:avLst>
              <a:gd name="adj" fmla="val 10435"/>
            </a:avLst>
          </a:prstGeom>
          <a:solidFill>
            <a:srgbClr val="F1E4DF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6675120" y="4846320"/>
            <a:ext cx="14273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المدير المالي</a:t>
            </a:r>
            <a:endParaRPr lang="en-US" sz="1500" dirty="0"/>
          </a:p>
        </p:txBody>
      </p:sp>
      <p:sp>
        <p:nvSpPr>
          <p:cNvPr id="41" name="Text 36"/>
          <p:cNvSpPr txBox="1"/>
          <p:nvPr/>
        </p:nvSpPr>
        <p:spPr>
          <a:xfrm>
            <a:off x="6675120" y="5212080"/>
            <a:ext cx="14273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يقرأ التقرير ويدفع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457200" y="2743200"/>
            <a:ext cx="5440680" cy="3291840"/>
          </a:xfrm>
          <a:prstGeom prst="roundRect">
            <a:avLst>
              <a:gd name="adj" fmla="val 5000"/>
            </a:avLst>
          </a:prstGeom>
          <a:solidFill>
            <a:srgbClr val="8E2F3C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822960" y="2926080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حجم السوق</a:t>
            </a:r>
            <a:endParaRPr lang="en-US" sz="1800" dirty="0"/>
          </a:p>
        </p:txBody>
      </p:sp>
      <p:sp>
        <p:nvSpPr>
          <p:cNvPr id="44" name="Text 39"/>
          <p:cNvSpPr txBox="1"/>
          <p:nvPr/>
        </p:nvSpPr>
        <p:spPr>
          <a:xfrm>
            <a:off x="822960" y="33832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8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$5.1B</a:t>
            </a:r>
            <a:endParaRPr lang="en-US" sz="4800" dirty="0"/>
          </a:p>
        </p:txBody>
      </p:sp>
      <p:sp>
        <p:nvSpPr>
          <p:cNvPr id="45" name="Text 40"/>
          <p:cNvSpPr txBox="1"/>
          <p:nvPr/>
        </p:nvSpPr>
        <p:spPr>
          <a:xfrm>
            <a:off x="822960" y="4160520"/>
            <a:ext cx="4709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سوق الحوسبة السحابية في السعودية، 2025</a:t>
            </a:r>
            <a:endParaRPr lang="en-US" sz="1500" dirty="0"/>
          </a:p>
        </p:txBody>
      </p:sp>
      <p:sp>
        <p:nvSpPr>
          <p:cNvPr id="46" name="Text 41"/>
          <p:cNvSpPr txBox="1"/>
          <p:nvPr/>
        </p:nvSpPr>
        <p:spPr>
          <a:xfrm>
            <a:off x="822960" y="461772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9A46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$14.6B</a:t>
            </a:r>
            <a:endParaRPr lang="en-US" sz="3000" dirty="0"/>
          </a:p>
        </p:txBody>
      </p:sp>
      <p:sp>
        <p:nvSpPr>
          <p:cNvPr id="47" name="Text 42"/>
          <p:cNvSpPr txBox="1"/>
          <p:nvPr/>
        </p:nvSpPr>
        <p:spPr>
          <a:xfrm>
            <a:off x="822960" y="516636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المتوقع بحلول 2030</a:t>
            </a:r>
            <a:endParaRPr lang="en-US" sz="1500" dirty="0"/>
          </a:p>
        </p:txBody>
      </p:sp>
      <p:sp>
        <p:nvSpPr>
          <p:cNvPr id="48" name="Text 43"/>
          <p:cNvSpPr txBox="1"/>
          <p:nvPr/>
        </p:nvSpPr>
        <p:spPr>
          <a:xfrm>
            <a:off x="822960" y="557784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F1E4D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المصدر: MarketsandMarkets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قابلية التنفيذ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06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قابل للتنفيذ اليوم: AWS أولاً، والمزودون المحليون في المرحلة الثانية</a:t>
            </a:r>
            <a:endParaRPr lang="en-US" sz="2600" dirty="0"/>
          </a:p>
        </p:txBody>
      </p:sp>
      <p:sp>
        <p:nvSpPr>
          <p:cNvPr id="23" name="Text 18"/>
          <p:cNvSpPr txBox="1"/>
          <p:nvPr/>
        </p:nvSpPr>
        <p:spPr>
          <a:xfrm>
            <a:off x="6263640" y="2286000"/>
            <a:ext cx="5470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كيف يعمل الآن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11588191" y="2834640"/>
            <a:ext cx="146304" cy="14630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6263640" y="2743200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ربط عبر API بصلاحيات قراءة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263640" y="3072384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ce:GetCostAndUsage · ec2:DescribeVolumes · cloudwatch:GetMetricStatistics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>
            <a:off x="11588191" y="3566160"/>
            <a:ext cx="146304" cy="146304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6263640" y="3474720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قواعد هدر + نموذج ذكاء اصطناعي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6263640" y="3803904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القواعد ترشّح الموارد، والنموذج يرتب التوصيات ويشرحها بالعربية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11588191" y="4297680"/>
            <a:ext cx="146304" cy="14630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6263640" y="4206240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زر موافقة واحد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6263640" y="4535424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يمنح صلاحية مؤقتة لـ 15 دقيقة لتنفيذ الإجراء ثم تُسحب</a:t>
            </a:r>
            <a:endParaRPr lang="en-US" sz="1150" dirty="0"/>
          </a:p>
        </p:txBody>
      </p:sp>
      <p:sp>
        <p:nvSpPr>
          <p:cNvPr id="33" name="Text 28"/>
          <p:cNvSpPr txBox="1"/>
          <p:nvPr/>
        </p:nvSpPr>
        <p:spPr>
          <a:xfrm>
            <a:off x="457200" y="2286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التقنيات المتوفرة</a:t>
            </a:r>
            <a:endParaRPr lang="en-US" sz="1700" dirty="0"/>
          </a:p>
        </p:txBody>
      </p:sp>
      <p:sp>
        <p:nvSpPr>
          <p:cNvPr id="34" name="Shape 29"/>
          <p:cNvSpPr/>
          <p:nvPr/>
        </p:nvSpPr>
        <p:spPr>
          <a:xfrm>
            <a:off x="4663440" y="278892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4663440" y="27889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 APIs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2665476" y="2788920"/>
            <a:ext cx="1888236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2665476" y="2788920"/>
            <a:ext cx="18882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AWS IAM (قراءة فقط)</a:t>
            </a:r>
            <a:endParaRPr lang="en-US" sz="1200" dirty="0"/>
          </a:p>
        </p:txBody>
      </p:sp>
      <p:sp>
        <p:nvSpPr>
          <p:cNvPr id="38" name="Shape 33"/>
          <p:cNvSpPr/>
          <p:nvPr/>
        </p:nvSpPr>
        <p:spPr>
          <a:xfrm>
            <a:off x="745236" y="2788920"/>
            <a:ext cx="1810512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745236" y="2788920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نموذج ذكاء اصطناعي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4896612" y="3337560"/>
            <a:ext cx="955548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4896612" y="3337560"/>
            <a:ext cx="955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Next.js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3909060" y="3337560"/>
            <a:ext cx="877824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3909060" y="3337560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Vercel</a:t>
            </a:r>
            <a:endParaRPr lang="en-US" sz="1200" dirty="0"/>
          </a:p>
        </p:txBody>
      </p:sp>
      <p:sp>
        <p:nvSpPr>
          <p:cNvPr id="44" name="Shape 39"/>
          <p:cNvSpPr/>
          <p:nvPr/>
        </p:nvSpPr>
        <p:spPr>
          <a:xfrm>
            <a:off x="1911096" y="3337560"/>
            <a:ext cx="1888236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1911096" y="3337560"/>
            <a:ext cx="18882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WhatsApp / Telegram</a:t>
            </a:r>
            <a:endParaRPr lang="en-US" sz="1200" dirty="0"/>
          </a:p>
        </p:txBody>
      </p:sp>
      <p:sp>
        <p:nvSpPr>
          <p:cNvPr id="46" name="Text 41"/>
          <p:cNvSpPr txBox="1"/>
          <p:nvPr/>
        </p:nvSpPr>
        <p:spPr>
          <a:xfrm>
            <a:off x="457200" y="39319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النموذج الأولي يعمل الآن على Vercel، والقراءة عبر APIs رسمية منخفضة التكلفة.</a:t>
            </a:r>
            <a:endParaRPr lang="en-US" sz="1300" dirty="0"/>
          </a:p>
        </p:txBody>
      </p:sp>
      <p:sp>
        <p:nvSpPr>
          <p:cNvPr id="47" name="Shape 42"/>
          <p:cNvSpPr/>
          <p:nvPr/>
        </p:nvSpPr>
        <p:spPr>
          <a:xfrm>
            <a:off x="8097317" y="4983480"/>
            <a:ext cx="3637178" cy="1143000"/>
          </a:xfrm>
          <a:prstGeom prst="roundRect">
            <a:avLst>
              <a:gd name="adj" fmla="val 11200"/>
            </a:avLst>
          </a:prstGeom>
          <a:solidFill>
            <a:srgbClr val="8E2F3C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8325917" y="5120640"/>
            <a:ext cx="31799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المرحلة 1 · الآن</a:t>
            </a:r>
            <a:endParaRPr lang="en-US" sz="1500" dirty="0"/>
          </a:p>
        </p:txBody>
      </p:sp>
      <p:sp>
        <p:nvSpPr>
          <p:cNvPr id="49" name="Text 44"/>
          <p:cNvSpPr txBox="1"/>
          <p:nvPr/>
        </p:nvSpPr>
        <p:spPr>
          <a:xfrm>
            <a:off x="8325917" y="5458968"/>
            <a:ext cx="31799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AWS + تيليجرام + 7 قواعد هدر + الموافقة بنقرة</a:t>
            </a:r>
            <a:endParaRPr lang="en-US" sz="1250" dirty="0"/>
          </a:p>
        </p:txBody>
      </p:sp>
      <p:sp>
        <p:nvSpPr>
          <p:cNvPr id="50" name="Shape 45"/>
          <p:cNvSpPr/>
          <p:nvPr/>
        </p:nvSpPr>
        <p:spPr>
          <a:xfrm>
            <a:off x="4277258" y="4983480"/>
            <a:ext cx="3637178" cy="1143000"/>
          </a:xfrm>
          <a:prstGeom prst="roundRect">
            <a:avLst>
              <a:gd name="adj" fmla="val 112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4505858" y="5120640"/>
            <a:ext cx="31799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المرحلة 2</a:t>
            </a:r>
            <a:endParaRPr lang="en-US" sz="1500" dirty="0"/>
          </a:p>
        </p:txBody>
      </p:sp>
      <p:sp>
        <p:nvSpPr>
          <p:cNvPr id="52" name="Text 47"/>
          <p:cNvSpPr txBox="1"/>
          <p:nvPr/>
        </p:nvSpPr>
        <p:spPr>
          <a:xfrm>
            <a:off x="4505858" y="5458968"/>
            <a:ext cx="31799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Azure وGCP + STC Cloud وSCCC وCNTXT عبر API أو رفع ملف الفاتورة</a:t>
            </a:r>
            <a:endParaRPr lang="en-US" sz="1250" dirty="0"/>
          </a:p>
        </p:txBody>
      </p:sp>
      <p:sp>
        <p:nvSpPr>
          <p:cNvPr id="53" name="Shape 48"/>
          <p:cNvSpPr/>
          <p:nvPr/>
        </p:nvSpPr>
        <p:spPr>
          <a:xfrm>
            <a:off x="457200" y="4983480"/>
            <a:ext cx="3637178" cy="1143000"/>
          </a:xfrm>
          <a:prstGeom prst="roundRect">
            <a:avLst>
              <a:gd name="adj" fmla="val 112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685800" y="5120640"/>
            <a:ext cx="31799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المرحلة 3</a:t>
            </a:r>
            <a:endParaRPr lang="en-US" sz="1500" dirty="0"/>
          </a:p>
        </p:txBody>
      </p:sp>
      <p:sp>
        <p:nvSpPr>
          <p:cNvPr id="55" name="Text 50"/>
          <p:cNvSpPr txBox="1"/>
          <p:nvPr/>
        </p:nvSpPr>
        <p:spPr>
          <a:xfrm>
            <a:off x="685800" y="5458968"/>
            <a:ext cx="31799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واتساب للأعمال + استضافة داخل المملكة + مسار ISO 27001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النموذج الأولي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07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ما بنيناه فعلاً خلال التحدي</a:t>
            </a:r>
            <a:endParaRPr lang="en-US" sz="3000" dirty="0"/>
          </a:p>
        </p:txBody>
      </p:sp>
      <p:sp>
        <p:nvSpPr>
          <p:cNvPr id="23" name="Shape 18"/>
          <p:cNvSpPr/>
          <p:nvPr/>
        </p:nvSpPr>
        <p:spPr>
          <a:xfrm>
            <a:off x="457200" y="2286000"/>
            <a:ext cx="5760720" cy="3135769"/>
          </a:xfrm>
          <a:prstGeom prst="roundRect">
            <a:avLst>
              <a:gd name="adj" fmla="val 3499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4" name="Image 3" descr="/tmp/claude-0/-home-claude/750ff410-f4aa-5276-9360-1e19d018b112/scratchpad/c/assets/s-overvie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2359152"/>
            <a:ext cx="5614416" cy="298946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57200" y="549492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لوحة التحكم: الفاتورة والهدر والتوقع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8945575" y="2286000"/>
            <a:ext cx="2788920" cy="3058467"/>
          </a:xfrm>
          <a:prstGeom prst="roundRect">
            <a:avLst>
              <a:gd name="adj" fmla="val 3934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7" name="Image 4" descr="/tmp/claude-0/-home-claude/750ff410-f4aa-5276-9360-1e19d018b112/scratchpad/c/assets/s-approv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8727" y="2359152"/>
            <a:ext cx="2642616" cy="291216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945575" y="5417619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نافذة الموافقة والصلاحية المؤقتة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6446520" y="2286000"/>
            <a:ext cx="2270455" cy="3108960"/>
          </a:xfrm>
          <a:prstGeom prst="roundRect">
            <a:avLst>
              <a:gd name="adj" fmla="val 6444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6446520" y="2468880"/>
            <a:ext cx="22704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جرّب العرض الحي</a:t>
            </a:r>
            <a:endParaRPr lang="en-US" sz="1500" dirty="0"/>
          </a:p>
        </p:txBody>
      </p:sp>
      <p:pic>
        <p:nvPicPr>
          <p:cNvPr id="31" name="Image 5" descr="/tmp/claude-0/-home-claude/750ff410-f4aa-5276-9360-1e19d018b112/scratchpad/c/assets/q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0" y="2880360"/>
            <a:ext cx="1813255" cy="1813255"/>
          </a:xfrm>
          <a:prstGeom prst="rect">
            <a:avLst/>
          </a:prstGeom>
        </p:spPr>
      </p:pic>
      <p:sp>
        <p:nvSpPr>
          <p:cNvPr id="32" name="Text 24">
            <a:hlinkClick r:id="rId7" tooltip=""/>
          </p:cNvPr>
          <p:cNvSpPr txBox="1"/>
          <p:nvPr/>
        </p:nvSpPr>
        <p:spPr>
          <a:xfrm>
            <a:off x="6446520" y="4739335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cloudtrim-sa.vercel.app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457200" y="576072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العرض على بيانات شركة افتراضية، والصلاحيات المعروضة هي صلاحيات AWS الحقيقية للقراءة.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918143" y="987552"/>
            <a:ext cx="2816352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918143" y="987552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الأثر والقيمة المتوقعة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08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مثال محسوب: نحو 110 آلاف ريال سنوياً لشركة من 120 موظفاً</a:t>
            </a:r>
            <a:endParaRPr lang="en-US" sz="2700" dirty="0"/>
          </a:p>
        </p:txBody>
      </p:sp>
      <p:sp>
        <p:nvSpPr>
          <p:cNvPr id="23" name="Shape 18"/>
          <p:cNvSpPr/>
          <p:nvPr/>
        </p:nvSpPr>
        <p:spPr>
          <a:xfrm>
            <a:off x="9223781" y="2331720"/>
            <a:ext cx="2510714" cy="1463040"/>
          </a:xfrm>
          <a:prstGeom prst="roundRect">
            <a:avLst>
              <a:gd name="adj" fmla="val 1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223781" y="2532888"/>
            <a:ext cx="25107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85,400</a:t>
            </a:r>
            <a:endParaRPr lang="en-US" sz="3600" dirty="0"/>
          </a:p>
        </p:txBody>
      </p:sp>
      <p:sp>
        <p:nvSpPr>
          <p:cNvPr id="25" name="Text 20"/>
          <p:cNvSpPr txBox="1"/>
          <p:nvPr/>
        </p:nvSpPr>
        <p:spPr>
          <a:xfrm>
            <a:off x="9360941" y="3246120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ريال فاتورة شهرية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8812301" y="2331720"/>
            <a:ext cx="411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←</a:t>
            </a:r>
            <a:endParaRPr lang="en-US" sz="2200" dirty="0"/>
          </a:p>
        </p:txBody>
      </p:sp>
      <p:sp>
        <p:nvSpPr>
          <p:cNvPr id="27" name="Shape 22"/>
          <p:cNvSpPr/>
          <p:nvPr/>
        </p:nvSpPr>
        <p:spPr>
          <a:xfrm>
            <a:off x="6301588" y="2331720"/>
            <a:ext cx="2510714" cy="1463040"/>
          </a:xfrm>
          <a:prstGeom prst="roundRect">
            <a:avLst>
              <a:gd name="adj" fmla="val 1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301588" y="2532888"/>
            <a:ext cx="25107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7</a:t>
            </a:r>
            <a:endParaRPr lang="en-US" sz="3600" dirty="0"/>
          </a:p>
        </p:txBody>
      </p:sp>
      <p:sp>
        <p:nvSpPr>
          <p:cNvPr id="29" name="Text 24"/>
          <p:cNvSpPr txBox="1"/>
          <p:nvPr/>
        </p:nvSpPr>
        <p:spPr>
          <a:xfrm>
            <a:off x="6438748" y="3246120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توصيات من الوكيل الذكي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5890108" y="2331720"/>
            <a:ext cx="411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←</a:t>
            </a:r>
            <a:endParaRPr lang="en-US" sz="2200" dirty="0"/>
          </a:p>
        </p:txBody>
      </p:sp>
      <p:sp>
        <p:nvSpPr>
          <p:cNvPr id="31" name="Shape 26"/>
          <p:cNvSpPr/>
          <p:nvPr/>
        </p:nvSpPr>
        <p:spPr>
          <a:xfrm>
            <a:off x="3379394" y="2331720"/>
            <a:ext cx="2510714" cy="1463040"/>
          </a:xfrm>
          <a:prstGeom prst="roundRect">
            <a:avLst>
              <a:gd name="adj" fmla="val 1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3379394" y="2532888"/>
            <a:ext cx="25107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9,202</a:t>
            </a:r>
            <a:endParaRPr lang="en-US" sz="3600" dirty="0"/>
          </a:p>
        </p:txBody>
      </p:sp>
      <p:sp>
        <p:nvSpPr>
          <p:cNvPr id="33" name="Text 28"/>
          <p:cNvSpPr txBox="1"/>
          <p:nvPr/>
        </p:nvSpPr>
        <p:spPr>
          <a:xfrm>
            <a:off x="3516554" y="3246120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ريال توفير شهري (10.8%)</a:t>
            </a:r>
            <a:endParaRPr lang="en-US" sz="1400" dirty="0"/>
          </a:p>
        </p:txBody>
      </p:sp>
      <p:sp>
        <p:nvSpPr>
          <p:cNvPr id="34" name="Text 29"/>
          <p:cNvSpPr txBox="1"/>
          <p:nvPr/>
        </p:nvSpPr>
        <p:spPr>
          <a:xfrm>
            <a:off x="2967914" y="2331720"/>
            <a:ext cx="411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←</a:t>
            </a:r>
            <a:endParaRPr lang="en-US" sz="2200" dirty="0"/>
          </a:p>
        </p:txBody>
      </p:sp>
      <p:sp>
        <p:nvSpPr>
          <p:cNvPr id="35" name="Shape 30"/>
          <p:cNvSpPr/>
          <p:nvPr/>
        </p:nvSpPr>
        <p:spPr>
          <a:xfrm>
            <a:off x="457200" y="2331720"/>
            <a:ext cx="2510714" cy="1463040"/>
          </a:xfrm>
          <a:prstGeom prst="roundRect">
            <a:avLst>
              <a:gd name="adj" fmla="val 10000"/>
            </a:avLst>
          </a:prstGeom>
          <a:solidFill>
            <a:srgbClr val="8E2F3C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457200" y="2532888"/>
            <a:ext cx="25107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110,424</a:t>
            </a:r>
            <a:endParaRPr lang="en-US" sz="3600" dirty="0"/>
          </a:p>
        </p:txBody>
      </p:sp>
      <p:sp>
        <p:nvSpPr>
          <p:cNvPr id="37" name="Text 32"/>
          <p:cNvSpPr txBox="1"/>
          <p:nvPr/>
        </p:nvSpPr>
        <p:spPr>
          <a:xfrm>
            <a:off x="594360" y="3246120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ريال توفير سنوي</a:t>
            </a:r>
            <a:endParaRPr lang="en-US" sz="1400" dirty="0"/>
          </a:p>
        </p:txBody>
      </p:sp>
      <p:sp>
        <p:nvSpPr>
          <p:cNvPr id="38" name="Text 33"/>
          <p:cNvSpPr txBox="1"/>
          <p:nvPr/>
        </p:nvSpPr>
        <p:spPr>
          <a:xfrm>
            <a:off x="457200" y="4069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كيف نقيس الأثر</a:t>
            </a:r>
            <a:endParaRPr lang="en-US" sz="1700" dirty="0"/>
          </a:p>
        </p:txBody>
      </p:sp>
      <p:sp>
        <p:nvSpPr>
          <p:cNvPr id="39" name="Shape 34"/>
          <p:cNvSpPr/>
          <p:nvPr/>
        </p:nvSpPr>
        <p:spPr>
          <a:xfrm>
            <a:off x="8127797" y="4526280"/>
            <a:ext cx="3606698" cy="960120"/>
          </a:xfrm>
          <a:prstGeom prst="roundRect">
            <a:avLst>
              <a:gd name="adj" fmla="val 13333"/>
            </a:avLst>
          </a:prstGeom>
          <a:solidFill>
            <a:srgbClr val="F1E4DF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8356397" y="4663440"/>
            <a:ext cx="314949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الريالات الموفرة فعلياً</a:t>
            </a:r>
            <a:endParaRPr lang="en-US" sz="1500" dirty="0"/>
          </a:p>
        </p:txBody>
      </p:sp>
      <p:sp>
        <p:nvSpPr>
          <p:cNvPr id="41" name="Text 36"/>
          <p:cNvSpPr txBox="1"/>
          <p:nvPr/>
        </p:nvSpPr>
        <p:spPr>
          <a:xfrm>
            <a:off x="8356397" y="502920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فاتورة المزود نفسها قبل وبعد</a:t>
            </a:r>
            <a:endParaRPr lang="en-US" sz="1250" dirty="0"/>
          </a:p>
        </p:txBody>
      </p:sp>
      <p:sp>
        <p:nvSpPr>
          <p:cNvPr id="42" name="Shape 37"/>
          <p:cNvSpPr/>
          <p:nvPr/>
        </p:nvSpPr>
        <p:spPr>
          <a:xfrm>
            <a:off x="4292498" y="4526280"/>
            <a:ext cx="3606698" cy="960120"/>
          </a:xfrm>
          <a:prstGeom prst="roundRect">
            <a:avLst>
              <a:gd name="adj" fmla="val 13333"/>
            </a:avLst>
          </a:prstGeom>
          <a:solidFill>
            <a:srgbClr val="F1E4DF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4521098" y="4663440"/>
            <a:ext cx="314949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نسبة التوصيات المنفذة</a:t>
            </a:r>
            <a:endParaRPr lang="en-US" sz="1500" dirty="0"/>
          </a:p>
        </p:txBody>
      </p:sp>
      <p:sp>
        <p:nvSpPr>
          <p:cNvPr id="44" name="Text 39"/>
          <p:cNvSpPr txBox="1"/>
          <p:nvPr/>
        </p:nvSpPr>
        <p:spPr>
          <a:xfrm>
            <a:off x="4521098" y="502920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كم توصية تحولت إلى توفير حقيقي</a:t>
            </a:r>
            <a:endParaRPr lang="en-US" sz="1250" dirty="0"/>
          </a:p>
        </p:txBody>
      </p:sp>
      <p:sp>
        <p:nvSpPr>
          <p:cNvPr id="45" name="Shape 40"/>
          <p:cNvSpPr/>
          <p:nvPr/>
        </p:nvSpPr>
        <p:spPr>
          <a:xfrm>
            <a:off x="457200" y="4526280"/>
            <a:ext cx="3606698" cy="960120"/>
          </a:xfrm>
          <a:prstGeom prst="roundRect">
            <a:avLst>
              <a:gd name="adj" fmla="val 13333"/>
            </a:avLst>
          </a:prstGeom>
          <a:solidFill>
            <a:srgbClr val="F1E4DF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685800" y="4663440"/>
            <a:ext cx="314949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زمن إزالة الهدر</a:t>
            </a:r>
            <a:endParaRPr lang="en-US" sz="1500" dirty="0"/>
          </a:p>
        </p:txBody>
      </p:sp>
      <p:sp>
        <p:nvSpPr>
          <p:cNvPr id="47" name="Text 42"/>
          <p:cNvSpPr txBox="1"/>
          <p:nvPr/>
        </p:nvSpPr>
        <p:spPr>
          <a:xfrm>
            <a:off x="685800" y="502920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أسابيع إلى دقائق بعد التنبيه</a:t>
            </a:r>
            <a:endParaRPr lang="en-US" sz="1250" dirty="0"/>
          </a:p>
        </p:txBody>
      </p:sp>
      <p:sp>
        <p:nvSpPr>
          <p:cNvPr id="48" name="Text 43"/>
          <p:cNvSpPr txBox="1"/>
          <p:nvPr/>
        </p:nvSpPr>
        <p:spPr>
          <a:xfrm>
            <a:off x="457200" y="566928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المال الموفر يبقى في الشركة، ودعم السحب المحلية يخدم سيادة البيانات. الأرقام من النموذج الأولي على بيانات شركة افتراضية.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الخطوة التالية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09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كيف نطوّر الحل، وما الدعم الذي نحتاجه</a:t>
            </a:r>
            <a:endParaRPr lang="en-US" sz="3000" dirty="0"/>
          </a:p>
        </p:txBody>
      </p:sp>
      <p:sp>
        <p:nvSpPr>
          <p:cNvPr id="23" name="Text 18"/>
          <p:cNvSpPr txBox="1"/>
          <p:nvPr/>
        </p:nvSpPr>
        <p:spPr>
          <a:xfrm>
            <a:off x="6035040" y="228600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التطوير المستقبلي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6035040" y="2743200"/>
            <a:ext cx="5699455" cy="932688"/>
          </a:xfrm>
          <a:prstGeom prst="roundRect">
            <a:avLst>
              <a:gd name="adj" fmla="val 1372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309360" y="2862072"/>
            <a:ext cx="51508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مقارنة السحابات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3200400"/>
            <a:ext cx="5150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مقارنة التكاليف بين المزودين واقتراح الانتقال للسحابة الأوفر بناءً على التحليل المالي.</a:t>
            </a:r>
            <a:endParaRPr lang="en-US" sz="1250" dirty="0"/>
          </a:p>
        </p:txBody>
      </p:sp>
      <p:sp>
        <p:nvSpPr>
          <p:cNvPr id="27" name="Shape 22"/>
          <p:cNvSpPr/>
          <p:nvPr/>
        </p:nvSpPr>
        <p:spPr>
          <a:xfrm>
            <a:off x="6035040" y="3822192"/>
            <a:ext cx="5699455" cy="932688"/>
          </a:xfrm>
          <a:prstGeom prst="roundRect">
            <a:avLst>
              <a:gd name="adj" fmla="val 1372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309360" y="3941064"/>
            <a:ext cx="51508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البنية الهجينة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6309360" y="4279392"/>
            <a:ext cx="5150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ربط السيرفرات المحلية (On-Premises) مع المنصات السحابية في لوحة واحدة.</a:t>
            </a:r>
            <a:endParaRPr lang="en-US" sz="1250" dirty="0"/>
          </a:p>
        </p:txBody>
      </p:sp>
      <p:sp>
        <p:nvSpPr>
          <p:cNvPr id="30" name="Shape 25"/>
          <p:cNvSpPr/>
          <p:nvPr/>
        </p:nvSpPr>
        <p:spPr>
          <a:xfrm>
            <a:off x="6035040" y="4901184"/>
            <a:ext cx="5699455" cy="932688"/>
          </a:xfrm>
          <a:prstGeom prst="roundRect">
            <a:avLst>
              <a:gd name="adj" fmla="val 1372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309360" y="5020056"/>
            <a:ext cx="51508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مراقبة وإنذار مبكر 24/7</a:t>
            </a:r>
            <a:endParaRPr lang="en-US" sz="1600" dirty="0"/>
          </a:p>
        </p:txBody>
      </p:sp>
      <p:sp>
        <p:nvSpPr>
          <p:cNvPr id="32" name="Text 27"/>
          <p:cNvSpPr txBox="1"/>
          <p:nvPr/>
        </p:nvSpPr>
        <p:spPr>
          <a:xfrm>
            <a:off x="6309360" y="5358384"/>
            <a:ext cx="5150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تنبيه واتساب فوري عند أي ارتفاع مفاجئ في الاستهلاك (Cost Spike).</a:t>
            </a:r>
            <a:endParaRPr lang="en-US" sz="1250" dirty="0"/>
          </a:p>
        </p:txBody>
      </p:sp>
      <p:sp>
        <p:nvSpPr>
          <p:cNvPr id="33" name="Shape 28"/>
          <p:cNvSpPr/>
          <p:nvPr/>
        </p:nvSpPr>
        <p:spPr>
          <a:xfrm>
            <a:off x="457200" y="2286000"/>
            <a:ext cx="5303520" cy="3712464"/>
          </a:xfrm>
          <a:prstGeom prst="roundRect">
            <a:avLst>
              <a:gd name="adj" fmla="val 4433"/>
            </a:avLst>
          </a:prstGeom>
          <a:solidFill>
            <a:srgbClr val="8E2F3C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777240" y="251460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التوجيه والدعم</a:t>
            </a:r>
            <a:endParaRPr lang="en-US" sz="1800" dirty="0"/>
          </a:p>
        </p:txBody>
      </p:sp>
      <p:sp>
        <p:nvSpPr>
          <p:cNvPr id="35" name="Shape 30"/>
          <p:cNvSpPr/>
          <p:nvPr/>
        </p:nvSpPr>
        <p:spPr>
          <a:xfrm>
            <a:off x="5321808" y="3154680"/>
            <a:ext cx="118872" cy="11887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777240" y="306324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توجيه من خبراء السحابة وأمن المعلومات لتطوير نموذج الذكاء الاصطناعي ورفع كفاءة الأمان وتوطين البيانات.</a:t>
            </a:r>
            <a:endParaRPr lang="en-US" sz="1350" dirty="0"/>
          </a:p>
        </p:txBody>
      </p:sp>
      <p:sp>
        <p:nvSpPr>
          <p:cNvPr id="37" name="Shape 32"/>
          <p:cNvSpPr/>
          <p:nvPr/>
        </p:nvSpPr>
        <p:spPr>
          <a:xfrm>
            <a:off x="5321808" y="4069080"/>
            <a:ext cx="118872" cy="11887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777240" y="397764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شراكة مع مزود سحابة محلي لاختبار الربط مع STC Cloud أو SCCC أو CNTXT.</a:t>
            </a:r>
            <a:endParaRPr lang="en-US" sz="1350" dirty="0"/>
          </a:p>
        </p:txBody>
      </p:sp>
      <p:sp>
        <p:nvSpPr>
          <p:cNvPr id="39" name="Shape 34"/>
          <p:cNvSpPr/>
          <p:nvPr/>
        </p:nvSpPr>
        <p:spPr>
          <a:xfrm>
            <a:off x="5321808" y="4983480"/>
            <a:ext cx="118872" cy="11887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777240" y="489204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تجربة الفحص المجاني مع 10 شركات حقيقية للتحقق من حجم الهدر.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600639" y="987552"/>
            <a:ext cx="1133856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600639" y="98755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الختام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442655" y="1600200"/>
            <a:ext cx="3291840" cy="4069080"/>
          </a:xfrm>
          <a:prstGeom prst="roundRect">
            <a:avLst>
              <a:gd name="adj" fmla="val 5556"/>
            </a:avLst>
          </a:prstGeom>
          <a:solidFill>
            <a:srgbClr val="8E2F3C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442655" y="17830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9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جرّب CloudTrim</a:t>
            </a:r>
            <a:endParaRPr lang="en-US" sz="1900" dirty="0"/>
          </a:p>
        </p:txBody>
      </p:sp>
      <p:sp>
        <p:nvSpPr>
          <p:cNvPr id="24" name="Shape 19"/>
          <p:cNvSpPr/>
          <p:nvPr/>
        </p:nvSpPr>
        <p:spPr>
          <a:xfrm>
            <a:off x="8854135" y="2331720"/>
            <a:ext cx="2468880" cy="2468880"/>
          </a:xfrm>
          <a:prstGeom prst="roundRect">
            <a:avLst>
              <a:gd name="adj" fmla="val 5185"/>
            </a:avLst>
          </a:prstGeom>
          <a:solidFill>
            <a:srgbClr val="FFFBF8"/>
          </a:solidFill>
          <a:ln/>
        </p:spPr>
      </p:sp>
      <p:pic>
        <p:nvPicPr>
          <p:cNvPr id="25" name="Image 3" descr="/tmp/claude-0/-home-claude/750ff410-f4aa-5276-9360-1e19d018b112/scratchpad/c/assets/q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1295" y="2468880"/>
            <a:ext cx="2194560" cy="2194560"/>
          </a:xfrm>
          <a:prstGeom prst="rect">
            <a:avLst/>
          </a:prstGeom>
        </p:spPr>
      </p:pic>
      <p:sp>
        <p:nvSpPr>
          <p:cNvPr id="26" name="Text 20">
            <a:hlinkClick r:id="rId5" tooltip=""/>
          </p:cNvPr>
          <p:cNvSpPr txBox="1"/>
          <p:nvPr/>
        </p:nvSpPr>
        <p:spPr>
          <a:xfrm>
            <a:off x="8442655" y="50292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cloudtrim-sa.vercel.app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1737360"/>
            <a:ext cx="7528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48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شكراً لكم</a:t>
            </a:r>
            <a:endParaRPr lang="en-US" sz="4800" dirty="0"/>
          </a:p>
        </p:txBody>
      </p:sp>
      <p:sp>
        <p:nvSpPr>
          <p:cNvPr id="28" name="Text 22"/>
          <p:cNvSpPr txBox="1"/>
          <p:nvPr/>
        </p:nvSpPr>
        <p:spPr>
          <a:xfrm>
            <a:off x="457200" y="2697480"/>
            <a:ext cx="7528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وفّر في سحابتك… والقرار بيدك.</a:t>
            </a:r>
            <a:endParaRPr lang="en-US" sz="2600" dirty="0"/>
          </a:p>
        </p:txBody>
      </p:sp>
      <p:sp>
        <p:nvSpPr>
          <p:cNvPr id="29" name="Text 23"/>
          <p:cNvSpPr txBox="1"/>
          <p:nvPr/>
        </p:nvSpPr>
        <p:spPr>
          <a:xfrm>
            <a:off x="457200" y="3246120"/>
            <a:ext cx="7528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Trim the cloud, keep the control.</a:t>
            </a: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6156655" y="3931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الموقع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457200" y="3931920"/>
            <a:ext cx="5562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cloudtrim-sa.vercel.app</a:t>
            </a:r>
            <a:endParaRPr lang="en-US" sz="1400" dirty="0"/>
          </a:p>
        </p:txBody>
      </p:sp>
      <p:sp>
        <p:nvSpPr>
          <p:cNvPr id="32" name="Text 26"/>
          <p:cNvSpPr txBox="1"/>
          <p:nvPr/>
        </p:nvSpPr>
        <p:spPr>
          <a:xfrm>
            <a:off x="6156655" y="4407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العرض التجريبي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457200" y="4407408"/>
            <a:ext cx="5562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cloudtrim-sa.vercel.app/demo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6156655" y="488289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الفريق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457200" y="4882896"/>
            <a:ext cx="5562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SSB · مسار الحوسبة السحابية والبنية التحتية</a:t>
            </a:r>
            <a:endParaRPr lang="en-US" sz="1400" dirty="0"/>
          </a:p>
        </p:txBody>
      </p:sp>
      <p:pic>
        <p:nvPicPr>
          <p:cNvPr id="36" name="Image 4" descr="/tmp/claude-0/-home-claude/750ff410-f4aa-5276-9360-1e19d018b112/scratchpad/c/assets/sponsors-in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532120"/>
            <a:ext cx="335280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BM Plex Sans Arab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Arab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CloudTrim · SSB · VentureX</dc:title>
  <dc:subject>PptxGenJS Presentation</dc:subject>
  <dc:creator>SSB</dc:creator>
  <cp:lastModifiedBy>SSB</cp:lastModifiedBy>
  <cp:revision>1</cp:revision>
  <dcterms:created xsi:type="dcterms:W3CDTF">2026-10-03T06:45:41Z</dcterms:created>
  <dcterms:modified xsi:type="dcterms:W3CDTF">2026-10-03T06:45:41Z</dcterms:modified>
</cp:coreProperties>
</file>