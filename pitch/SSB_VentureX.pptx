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image" Target="../media/image-7-11.png"/><Relationship Id="rId12" Type="http://schemas.openxmlformats.org/officeDocument/2006/relationships/image" Target="../media/image-7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5" Type="http://schemas.openxmlformats.org/officeDocument/2006/relationships/hyperlink" Target="https://cloudtrim-sa.vercel.app" TargetMode="External"/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6" Type="http://schemas.openxmlformats.org/officeDocument/2006/relationships/image" Target="../media/image-12-5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pic>
        <p:nvPicPr>
          <p:cNvPr id="10" name="Image 0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34459" y="274320"/>
            <a:ext cx="1700036" cy="749808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457200" y="1234440"/>
            <a:ext cx="5394960" cy="4526280"/>
          </a:xfrm>
          <a:prstGeom prst="roundRect">
            <a:avLst>
              <a:gd name="adj" fmla="val 4444"/>
            </a:avLst>
          </a:prstGeom>
          <a:solidFill>
            <a:srgbClr val="8E2F3C"/>
          </a:solidFill>
          <a:ln/>
        </p:spPr>
      </p:sp>
      <p:sp>
        <p:nvSpPr>
          <p:cNvPr id="12" name="Shape 9"/>
          <p:cNvSpPr/>
          <p:nvPr/>
        </p:nvSpPr>
        <p:spPr>
          <a:xfrm>
            <a:off x="914400" y="1691640"/>
            <a:ext cx="4480560" cy="3611880"/>
          </a:xfrm>
          <a:prstGeom prst="roundRect">
            <a:avLst>
              <a:gd name="adj" fmla="val 4051"/>
            </a:avLst>
          </a:prstGeom>
          <a:solidFill>
            <a:srgbClr val="FFFBF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188720" y="18745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فاتورة السحابة الشهرية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1325880" y="3108960"/>
            <a:ext cx="457200" cy="1463040"/>
          </a:xfrm>
          <a:prstGeom prst="rect">
            <a:avLst/>
          </a:prstGeom>
          <a:solidFill>
            <a:srgbClr val="8E2F3C"/>
          </a:solidFill>
          <a:ln/>
        </p:spPr>
      </p:sp>
      <p:sp>
        <p:nvSpPr>
          <p:cNvPr id="15" name="Shape 12"/>
          <p:cNvSpPr/>
          <p:nvPr/>
        </p:nvSpPr>
        <p:spPr>
          <a:xfrm>
            <a:off x="1325880" y="2377440"/>
            <a:ext cx="457200" cy="731520"/>
          </a:xfrm>
          <a:prstGeom prst="rect">
            <a:avLst/>
          </a:prstGeom>
          <a:ln w="12700">
            <a:solidFill>
              <a:srgbClr val="C9A46E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1984248" y="3182112"/>
            <a:ext cx="457200" cy="1389888"/>
          </a:xfrm>
          <a:prstGeom prst="rect">
            <a:avLst/>
          </a:prstGeom>
          <a:solidFill>
            <a:srgbClr val="8E2F3C"/>
          </a:solidFill>
          <a:ln/>
        </p:spPr>
      </p:sp>
      <p:sp>
        <p:nvSpPr>
          <p:cNvPr id="17" name="Shape 14"/>
          <p:cNvSpPr/>
          <p:nvPr/>
        </p:nvSpPr>
        <p:spPr>
          <a:xfrm>
            <a:off x="1984248" y="2377440"/>
            <a:ext cx="457200" cy="804672"/>
          </a:xfrm>
          <a:prstGeom prst="rect">
            <a:avLst/>
          </a:prstGeom>
          <a:ln w="12700">
            <a:solidFill>
              <a:srgbClr val="C9A46E"/>
            </a:solidFill>
            <a:prstDash val="dash"/>
          </a:ln>
        </p:spPr>
      </p:sp>
      <p:sp>
        <p:nvSpPr>
          <p:cNvPr id="18" name="Shape 15"/>
          <p:cNvSpPr/>
          <p:nvPr/>
        </p:nvSpPr>
        <p:spPr>
          <a:xfrm>
            <a:off x="2642616" y="3246120"/>
            <a:ext cx="457200" cy="1325880"/>
          </a:xfrm>
          <a:prstGeom prst="rect">
            <a:avLst/>
          </a:prstGeom>
          <a:solidFill>
            <a:srgbClr val="8E2F3C"/>
          </a:solidFill>
          <a:ln/>
        </p:spPr>
      </p:sp>
      <p:sp>
        <p:nvSpPr>
          <p:cNvPr id="19" name="Shape 16"/>
          <p:cNvSpPr/>
          <p:nvPr/>
        </p:nvSpPr>
        <p:spPr>
          <a:xfrm>
            <a:off x="2642616" y="2377440"/>
            <a:ext cx="457200" cy="868680"/>
          </a:xfrm>
          <a:prstGeom prst="rect">
            <a:avLst/>
          </a:prstGeom>
          <a:ln w="12700">
            <a:solidFill>
              <a:srgbClr val="C9A46E"/>
            </a:solidFill>
            <a:prstDash val="dash"/>
          </a:ln>
        </p:spPr>
      </p:sp>
      <p:sp>
        <p:nvSpPr>
          <p:cNvPr id="20" name="Shape 17"/>
          <p:cNvSpPr/>
          <p:nvPr/>
        </p:nvSpPr>
        <p:spPr>
          <a:xfrm>
            <a:off x="3300984" y="2423160"/>
            <a:ext cx="457200" cy="2148840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21" name="Shape 18"/>
          <p:cNvSpPr/>
          <p:nvPr/>
        </p:nvSpPr>
        <p:spPr>
          <a:xfrm>
            <a:off x="3959352" y="2331720"/>
            <a:ext cx="457200" cy="2240280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22" name="Shape 19"/>
          <p:cNvSpPr/>
          <p:nvPr/>
        </p:nvSpPr>
        <p:spPr>
          <a:xfrm>
            <a:off x="4617720" y="2240280"/>
            <a:ext cx="457200" cy="2331720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23" name="Shape 20"/>
          <p:cNvSpPr/>
          <p:nvPr/>
        </p:nvSpPr>
        <p:spPr>
          <a:xfrm>
            <a:off x="1188720" y="4572000"/>
            <a:ext cx="3931920" cy="0"/>
          </a:xfrm>
          <a:prstGeom prst="line">
            <a:avLst/>
          </a:prstGeom>
          <a:noFill/>
          <a:ln w="12700">
            <a:solidFill>
              <a:srgbClr val="E3D5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919472" y="4800600"/>
            <a:ext cx="128016" cy="128016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4206240" y="47365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قبل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3703320" y="4800600"/>
            <a:ext cx="128016" cy="128016"/>
          </a:xfrm>
          <a:prstGeom prst="rect">
            <a:avLst/>
          </a:prstGeom>
          <a:solidFill>
            <a:srgbClr val="8E2F3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2377440" y="4736592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مع CloudTrim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6400800" y="1417320"/>
            <a:ext cx="5333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مسار الحوسبة السحابية والبنية التحتية</a:t>
            </a:r>
            <a:endParaRPr lang="en-US" sz="1500" dirty="0"/>
          </a:p>
        </p:txBody>
      </p:sp>
      <p:pic>
        <p:nvPicPr>
          <p:cNvPr id="29" name="Image 1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1901952"/>
            <a:ext cx="868680" cy="868680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6400800" y="1847088"/>
            <a:ext cx="42821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5800" dirty="0"/>
          </a:p>
        </p:txBody>
      </p:sp>
      <p:sp>
        <p:nvSpPr>
          <p:cNvPr id="31" name="Text 27"/>
          <p:cNvSpPr txBox="1"/>
          <p:nvPr/>
        </p:nvSpPr>
        <p:spPr>
          <a:xfrm>
            <a:off x="6400800" y="2971800"/>
            <a:ext cx="5333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وفّر في سحابتك… والقرار بيدك.</a:t>
            </a:r>
            <a:endParaRPr lang="en-US" sz="3200" dirty="0"/>
          </a:p>
        </p:txBody>
      </p:sp>
      <p:sp>
        <p:nvSpPr>
          <p:cNvPr id="32" name="Text 28"/>
          <p:cNvSpPr txBox="1"/>
          <p:nvPr/>
        </p:nvSpPr>
        <p:spPr>
          <a:xfrm>
            <a:off x="6400800" y="3639312"/>
            <a:ext cx="53336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Trim the cloud, keep the control.</a:t>
            </a:r>
            <a:endParaRPr lang="en-US" sz="1800" dirty="0"/>
          </a:p>
        </p:txBody>
      </p:sp>
      <p:sp>
        <p:nvSpPr>
          <p:cNvPr id="33" name="Shape 29"/>
          <p:cNvSpPr/>
          <p:nvPr/>
        </p:nvSpPr>
        <p:spPr>
          <a:xfrm>
            <a:off x="10390327" y="4434840"/>
            <a:ext cx="1344168" cy="420624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10390327" y="4434840"/>
            <a:ext cx="1344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فريق SSB</a:t>
            </a:r>
            <a:endParaRPr lang="en-US" sz="1400" dirty="0"/>
          </a:p>
        </p:txBody>
      </p:sp>
      <p:sp>
        <p:nvSpPr>
          <p:cNvPr id="35" name="Shape 31"/>
          <p:cNvSpPr/>
          <p:nvPr/>
        </p:nvSpPr>
        <p:spPr>
          <a:xfrm>
            <a:off x="8515807" y="4434840"/>
            <a:ext cx="1737360" cy="420624"/>
          </a:xfrm>
          <a:prstGeom prst="roundRect">
            <a:avLst>
              <a:gd name="adj" fmla="val 50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8515807" y="4434840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</a:t>
            </a:r>
            <a:endParaRPr lang="en-US" sz="1400" dirty="0"/>
          </a:p>
        </p:txBody>
      </p:sp>
      <p:pic>
        <p:nvPicPr>
          <p:cNvPr id="37" name="Image 2" descr="/tmp/claude-0/-home-claude/750ff410-f4aa-5276-9360-1e19d018b112/scratchpad/c/assets/sponso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035040"/>
            <a:ext cx="4023360" cy="548640"/>
          </a:xfrm>
          <a:prstGeom prst="rect">
            <a:avLst/>
          </a:prstGeom>
        </p:spPr>
      </p:pic>
      <p:pic>
        <p:nvPicPr>
          <p:cNvPr id="38" name="Image 3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3910" y="5989320"/>
            <a:ext cx="1400585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8707831" y="987552"/>
            <a:ext cx="302666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8707831" y="987552"/>
            <a:ext cx="3026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المقدمة والتعريف بالفريق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02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463040"/>
            <a:ext cx="11277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فريق SSB</a:t>
            </a:r>
            <a:endParaRPr lang="en-US" sz="3000" dirty="0"/>
          </a:p>
        </p:txBody>
      </p:sp>
      <p:sp>
        <p:nvSpPr>
          <p:cNvPr id="23" name="Shape 18"/>
          <p:cNvSpPr/>
          <p:nvPr/>
        </p:nvSpPr>
        <p:spPr>
          <a:xfrm>
            <a:off x="8336128" y="2743200"/>
            <a:ext cx="3383280" cy="3291840"/>
          </a:xfrm>
          <a:prstGeom prst="roundRect">
            <a:avLst>
              <a:gd name="adj" fmla="val 5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4" name="Image 3" descr="صورة سلمان عبدالرحمن مشعل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7668" y="3017520"/>
            <a:ext cx="1600200" cy="160020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519008" y="4754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سلمان عبدالرحمن مشعل</a:t>
            </a:r>
            <a:endParaRPr lang="en-US" sz="2000" dirty="0"/>
          </a:p>
        </p:txBody>
      </p:sp>
      <p:sp>
        <p:nvSpPr>
          <p:cNvPr id="26" name="Text 20"/>
          <p:cNvSpPr txBox="1"/>
          <p:nvPr/>
        </p:nvSpPr>
        <p:spPr>
          <a:xfrm>
            <a:off x="8519008" y="52303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قائد الفريق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404208" y="2743200"/>
            <a:ext cx="3383280" cy="3291840"/>
          </a:xfrm>
          <a:prstGeom prst="roundRect">
            <a:avLst>
              <a:gd name="adj" fmla="val 5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8" name="Image 4" descr="صورة سليمان ممدوح مخانق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95748" y="3017520"/>
            <a:ext cx="1600200" cy="160020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4587088" y="4754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سليمان ممدوح مخانق</a:t>
            </a:r>
            <a:endParaRPr lang="en-US" sz="2000" dirty="0"/>
          </a:p>
        </p:txBody>
      </p:sp>
      <p:sp>
        <p:nvSpPr>
          <p:cNvPr id="30" name="Text 23"/>
          <p:cNvSpPr txBox="1"/>
          <p:nvPr/>
        </p:nvSpPr>
        <p:spPr>
          <a:xfrm>
            <a:off x="4587088" y="52303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مطور الواجهات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472288" y="2743200"/>
            <a:ext cx="3383280" cy="3291840"/>
          </a:xfrm>
          <a:prstGeom prst="roundRect">
            <a:avLst>
              <a:gd name="adj" fmla="val 5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32" name="Image 5" descr="صورة بلال أنس زكار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63828" y="3017520"/>
            <a:ext cx="1600200" cy="16002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655168" y="4754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بلال أنس زكار</a:t>
            </a:r>
            <a:endParaRPr lang="en-US" sz="2000" dirty="0"/>
          </a:p>
        </p:txBody>
      </p:sp>
      <p:sp>
        <p:nvSpPr>
          <p:cNvPr id="34" name="Text 26"/>
          <p:cNvSpPr txBox="1"/>
          <p:nvPr/>
        </p:nvSpPr>
        <p:spPr>
          <a:xfrm>
            <a:off x="655168" y="52303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مطور الفكرة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654235" y="987552"/>
            <a:ext cx="2080260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654235" y="987552"/>
            <a:ext cx="20802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المشكلة والتحدي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03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60020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هدر صامت في فاتورة السحابة</a:t>
            </a:r>
            <a:endParaRPr lang="en-US" sz="3400" dirty="0"/>
          </a:p>
        </p:txBody>
      </p:sp>
      <p:sp>
        <p:nvSpPr>
          <p:cNvPr id="23" name="Shape 18"/>
          <p:cNvSpPr/>
          <p:nvPr/>
        </p:nvSpPr>
        <p:spPr>
          <a:xfrm>
            <a:off x="8188757" y="274320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8E2F3C"/>
          </a:solidFill>
          <a:ln/>
        </p:spPr>
      </p:sp>
      <p:pic>
        <p:nvPicPr>
          <p:cNvPr id="24" name="Image 3" descr="/tmp/claude-0/-home-claude/750ff410-f4aa-5276-9360-1e19d018b112/scratchpad/c/assets/i-wallet-c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87306" y="3017520"/>
            <a:ext cx="548640" cy="54864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188757" y="361188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29%</a:t>
            </a:r>
            <a:endParaRPr lang="en-US" sz="5400" dirty="0"/>
          </a:p>
        </p:txBody>
      </p:sp>
      <p:sp>
        <p:nvSpPr>
          <p:cNvPr id="26" name="Text 20"/>
          <p:cNvSpPr txBox="1"/>
          <p:nvPr/>
        </p:nvSpPr>
        <p:spPr>
          <a:xfrm>
            <a:off x="8463077" y="452628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من الإنفاق مهدر</a:t>
            </a:r>
            <a:endParaRPr lang="en-US" sz="1800" dirty="0"/>
          </a:p>
        </p:txBody>
      </p:sp>
      <p:sp>
        <p:nvSpPr>
          <p:cNvPr id="27" name="Shape 21"/>
          <p:cNvSpPr/>
          <p:nvPr/>
        </p:nvSpPr>
        <p:spPr>
          <a:xfrm>
            <a:off x="4322978" y="274320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8" name="Image 4" descr="/tmp/claude-0/-home-claude/750ff410-f4aa-5276-9360-1e19d018b112/scratchpad/c/assets/i-trend-b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1528" y="3017520"/>
            <a:ext cx="548640" cy="54864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4322978" y="361188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17%</a:t>
            </a:r>
            <a:endParaRPr lang="en-US" sz="5400" dirty="0"/>
          </a:p>
        </p:txBody>
      </p:sp>
      <p:sp>
        <p:nvSpPr>
          <p:cNvPr id="30" name="Text 23"/>
          <p:cNvSpPr txBox="1"/>
          <p:nvPr/>
        </p:nvSpPr>
        <p:spPr>
          <a:xfrm>
            <a:off x="4597298" y="452628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تجاوز للميزانية</a:t>
            </a:r>
            <a:endParaRPr lang="en-US" sz="1800" dirty="0"/>
          </a:p>
        </p:txBody>
      </p:sp>
      <p:sp>
        <p:nvSpPr>
          <p:cNvPr id="31" name="Shape 24"/>
          <p:cNvSpPr/>
          <p:nvPr/>
        </p:nvSpPr>
        <p:spPr>
          <a:xfrm>
            <a:off x="457200" y="274320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32" name="Image 5" descr="/tmp/claude-0/-home-claude/750ff410-f4aa-5276-9360-1e19d018b112/scratchpad/c/assets/i-server-b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55749" y="3017520"/>
            <a:ext cx="548640" cy="54864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457200" y="361188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40%</a:t>
            </a:r>
            <a:endParaRPr lang="en-US" sz="5400" dirty="0"/>
          </a:p>
        </p:txBody>
      </p:sp>
      <p:sp>
        <p:nvSpPr>
          <p:cNvPr id="34" name="Text 26"/>
          <p:cNvSpPr txBox="1"/>
          <p:nvPr/>
        </p:nvSpPr>
        <p:spPr>
          <a:xfrm>
            <a:off x="731520" y="452628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أعطال سببها خطأ بشري</a:t>
            </a:r>
            <a:endParaRPr lang="en-US" sz="1800" dirty="0"/>
          </a:p>
        </p:txBody>
      </p:sp>
      <p:sp>
        <p:nvSpPr>
          <p:cNvPr id="35" name="Text 27"/>
          <p:cNvSpPr txBox="1"/>
          <p:nvPr/>
        </p:nvSpPr>
        <p:spPr>
          <a:xfrm>
            <a:off x="457200" y="5349240"/>
            <a:ext cx="112772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ولا يوجد مختص FinOps في الشركات المتوسطة</a:t>
            </a:r>
            <a:endParaRPr lang="en-US" sz="1800" dirty="0"/>
          </a:p>
        </p:txBody>
      </p:sp>
      <p:sp>
        <p:nvSpPr>
          <p:cNvPr id="36" name="Text 28"/>
          <p:cNvSpPr txBox="1"/>
          <p:nvPr/>
        </p:nvSpPr>
        <p:spPr>
          <a:xfrm>
            <a:off x="457200" y="5989320"/>
            <a:ext cx="112772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Flexera State of the Cloud 2026 · Uptime Institute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10810951" y="987552"/>
            <a:ext cx="92354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10810951" y="987552"/>
            <a:ext cx="9235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الحل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04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60020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 يكتشف الهدر… وأنت تقرّر</a:t>
            </a:r>
            <a:endParaRPr lang="en-US" sz="3400" dirty="0"/>
          </a:p>
        </p:txBody>
      </p:sp>
      <p:sp>
        <p:nvSpPr>
          <p:cNvPr id="23" name="Shape 18"/>
          <p:cNvSpPr/>
          <p:nvPr/>
        </p:nvSpPr>
        <p:spPr>
          <a:xfrm>
            <a:off x="11167567" y="2743200"/>
            <a:ext cx="566928" cy="566928"/>
          </a:xfrm>
          <a:prstGeom prst="ellipse">
            <a:avLst/>
          </a:prstGeom>
          <a:solidFill>
            <a:srgbClr val="8E2F3C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11167567" y="2743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</a:t>
            </a:r>
            <a:endParaRPr lang="en-US" sz="2000" dirty="0"/>
          </a:p>
        </p:txBody>
      </p:sp>
      <p:sp>
        <p:nvSpPr>
          <p:cNvPr id="25" name="Text 20"/>
          <p:cNvSpPr txBox="1"/>
          <p:nvPr/>
        </p:nvSpPr>
        <p:spPr>
          <a:xfrm>
            <a:off x="6766560" y="2651760"/>
            <a:ext cx="41906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نربط حسابك السحابي بصلاحية قراءة فقط</a:t>
            </a:r>
            <a:endParaRPr lang="en-US" sz="2000" dirty="0"/>
          </a:p>
        </p:txBody>
      </p:sp>
      <p:sp>
        <p:nvSpPr>
          <p:cNvPr id="26" name="Shape 21"/>
          <p:cNvSpPr/>
          <p:nvPr/>
        </p:nvSpPr>
        <p:spPr>
          <a:xfrm>
            <a:off x="11167567" y="3749040"/>
            <a:ext cx="566928" cy="566928"/>
          </a:xfrm>
          <a:prstGeom prst="ellipse">
            <a:avLst/>
          </a:prstGeom>
          <a:solidFill>
            <a:srgbClr val="8E2F3C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11167567" y="37490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3"/>
          <p:cNvSpPr txBox="1"/>
          <p:nvPr/>
        </p:nvSpPr>
        <p:spPr>
          <a:xfrm>
            <a:off x="6766560" y="3657600"/>
            <a:ext cx="41906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الذكاء الاصطناعي يكتشف الهدر</a:t>
            </a:r>
            <a:endParaRPr lang="en-US" sz="2000" dirty="0"/>
          </a:p>
        </p:txBody>
      </p:sp>
      <p:sp>
        <p:nvSpPr>
          <p:cNvPr id="29" name="Shape 24"/>
          <p:cNvSpPr/>
          <p:nvPr/>
        </p:nvSpPr>
        <p:spPr>
          <a:xfrm>
            <a:off x="11167567" y="4754880"/>
            <a:ext cx="566928" cy="566928"/>
          </a:xfrm>
          <a:prstGeom prst="ellipse">
            <a:avLst/>
          </a:prstGeom>
          <a:solidFill>
            <a:srgbClr val="8E2F3C"/>
          </a:solidFill>
          <a:ln/>
        </p:spPr>
      </p:sp>
      <p:sp>
        <p:nvSpPr>
          <p:cNvPr id="30" name="Text 25"/>
          <p:cNvSpPr txBox="1"/>
          <p:nvPr/>
        </p:nvSpPr>
        <p:spPr>
          <a:xfrm>
            <a:off x="11167567" y="4754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3</a:t>
            </a:r>
            <a:endParaRPr lang="en-US" sz="2000" dirty="0"/>
          </a:p>
        </p:txBody>
      </p:sp>
      <p:sp>
        <p:nvSpPr>
          <p:cNvPr id="31" name="Text 26"/>
          <p:cNvSpPr txBox="1"/>
          <p:nvPr/>
        </p:nvSpPr>
        <p:spPr>
          <a:xfrm>
            <a:off x="6766560" y="4663440"/>
            <a:ext cx="41906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توافق بنقرة واحدة… وتوفّر</a:t>
            </a:r>
            <a:endParaRPr lang="en-US" sz="2000" dirty="0"/>
          </a:p>
        </p:txBody>
      </p:sp>
      <p:pic>
        <p:nvPicPr>
          <p:cNvPr id="32" name="Image 3" descr="/tmp/claude-0/-home-claude/750ff410-f4aa-5276-9360-1e19d018b112/scratchpad/c/assets/m-lap-dem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514600"/>
            <a:ext cx="5852160" cy="358840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10285171" y="987552"/>
            <a:ext cx="144932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10285171" y="987552"/>
            <a:ext cx="14493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المنافسون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05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60020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 مقابل أدوات المزودين</a:t>
            </a:r>
            <a:endParaRPr lang="en-US" sz="3400" dirty="0"/>
          </a:p>
        </p:txBody>
      </p:sp>
      <p:sp>
        <p:nvSpPr>
          <p:cNvPr id="23" name="Shape 18"/>
          <p:cNvSpPr/>
          <p:nvPr/>
        </p:nvSpPr>
        <p:spPr>
          <a:xfrm>
            <a:off x="6601968" y="2468880"/>
            <a:ext cx="1371600" cy="3337560"/>
          </a:xfrm>
          <a:prstGeom prst="roundRect">
            <a:avLst>
              <a:gd name="adj" fmla="val 9333"/>
            </a:avLst>
          </a:prstGeom>
          <a:solidFill>
            <a:srgbClr val="F1E4DF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6528816" y="2514600"/>
            <a:ext cx="15179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600" dirty="0"/>
          </a:p>
        </p:txBody>
      </p:sp>
      <p:sp>
        <p:nvSpPr>
          <p:cNvPr id="25" name="Text 20"/>
          <p:cNvSpPr txBox="1"/>
          <p:nvPr/>
        </p:nvSpPr>
        <p:spPr>
          <a:xfrm>
            <a:off x="5010912" y="253288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AWS</a:t>
            </a:r>
            <a:endParaRPr lang="en-US" sz="1300" dirty="0"/>
          </a:p>
        </p:txBody>
      </p:sp>
      <p:sp>
        <p:nvSpPr>
          <p:cNvPr id="26" name="Text 21"/>
          <p:cNvSpPr txBox="1"/>
          <p:nvPr/>
        </p:nvSpPr>
        <p:spPr>
          <a:xfrm>
            <a:off x="5010912" y="282549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Cost Management</a:t>
            </a:r>
            <a:endParaRPr lang="en-US" sz="1050" dirty="0"/>
          </a:p>
        </p:txBody>
      </p:sp>
      <p:sp>
        <p:nvSpPr>
          <p:cNvPr id="27" name="Text 22"/>
          <p:cNvSpPr txBox="1"/>
          <p:nvPr/>
        </p:nvSpPr>
        <p:spPr>
          <a:xfrm>
            <a:off x="3493008" y="253288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Google Cloud</a:t>
            </a:r>
            <a:endParaRPr lang="en-US" sz="1300" dirty="0"/>
          </a:p>
        </p:txBody>
      </p:sp>
      <p:sp>
        <p:nvSpPr>
          <p:cNvPr id="28" name="Text 23"/>
          <p:cNvSpPr txBox="1"/>
          <p:nvPr/>
        </p:nvSpPr>
        <p:spPr>
          <a:xfrm>
            <a:off x="3493008" y="282549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Cost Management</a:t>
            </a:r>
            <a:endParaRPr lang="en-US" sz="1050" dirty="0"/>
          </a:p>
        </p:txBody>
      </p:sp>
      <p:sp>
        <p:nvSpPr>
          <p:cNvPr id="29" name="Text 24"/>
          <p:cNvSpPr txBox="1"/>
          <p:nvPr/>
        </p:nvSpPr>
        <p:spPr>
          <a:xfrm>
            <a:off x="1975104" y="253288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Microsoft Azure</a:t>
            </a:r>
            <a:endParaRPr lang="en-US" sz="1300" dirty="0"/>
          </a:p>
        </p:txBody>
      </p:sp>
      <p:sp>
        <p:nvSpPr>
          <p:cNvPr id="30" name="Text 25"/>
          <p:cNvSpPr txBox="1"/>
          <p:nvPr/>
        </p:nvSpPr>
        <p:spPr>
          <a:xfrm>
            <a:off x="1975104" y="282549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Cost Management</a:t>
            </a:r>
            <a:endParaRPr lang="en-US" sz="1050" dirty="0"/>
          </a:p>
        </p:txBody>
      </p:sp>
      <p:sp>
        <p:nvSpPr>
          <p:cNvPr id="31" name="Text 26"/>
          <p:cNvSpPr txBox="1"/>
          <p:nvPr/>
        </p:nvSpPr>
        <p:spPr>
          <a:xfrm>
            <a:off x="457200" y="253288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Oracle Cloud</a:t>
            </a:r>
            <a:endParaRPr lang="en-US" sz="1300" dirty="0"/>
          </a:p>
        </p:txBody>
      </p:sp>
      <p:sp>
        <p:nvSpPr>
          <p:cNvPr id="32" name="Text 27"/>
          <p:cNvSpPr txBox="1"/>
          <p:nvPr/>
        </p:nvSpPr>
        <p:spPr>
          <a:xfrm>
            <a:off x="457200" y="282549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Infrastructure</a:t>
            </a:r>
            <a:endParaRPr lang="en-US" sz="1050" dirty="0"/>
          </a:p>
        </p:txBody>
      </p:sp>
      <p:sp>
        <p:nvSpPr>
          <p:cNvPr id="33" name="Text 28"/>
          <p:cNvSpPr txBox="1"/>
          <p:nvPr/>
        </p:nvSpPr>
        <p:spPr>
          <a:xfrm>
            <a:off x="8229600" y="2514600"/>
            <a:ext cx="35048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الميزة</a:t>
            </a:r>
            <a:endParaRPr lang="en-US" sz="1400" dirty="0"/>
          </a:p>
        </p:txBody>
      </p:sp>
      <p:sp>
        <p:nvSpPr>
          <p:cNvPr id="34" name="Shape 29"/>
          <p:cNvSpPr/>
          <p:nvPr/>
        </p:nvSpPr>
        <p:spPr>
          <a:xfrm>
            <a:off x="457200" y="3200400"/>
            <a:ext cx="11277295" cy="0"/>
          </a:xfrm>
          <a:prstGeom prst="line">
            <a:avLst/>
          </a:prstGeom>
          <a:noFill/>
          <a:ln w="9525">
            <a:solidFill>
              <a:srgbClr val="E3D5CC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8229600" y="3200400"/>
            <a:ext cx="35048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STC وSCCC وCNTXT</a:t>
            </a:r>
            <a:endParaRPr lang="en-US" sz="1500" dirty="0"/>
          </a:p>
        </p:txBody>
      </p:sp>
      <p:sp>
        <p:nvSpPr>
          <p:cNvPr id="36" name="Shape 31"/>
          <p:cNvSpPr/>
          <p:nvPr/>
        </p:nvSpPr>
        <p:spPr>
          <a:xfrm>
            <a:off x="7114032" y="3282696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7114032" y="32826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38" name="Shape 33"/>
          <p:cNvSpPr/>
          <p:nvPr/>
        </p:nvSpPr>
        <p:spPr>
          <a:xfrm>
            <a:off x="5596128" y="3282696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39" name="Text 34"/>
          <p:cNvSpPr txBox="1"/>
          <p:nvPr/>
        </p:nvSpPr>
        <p:spPr>
          <a:xfrm>
            <a:off x="5596128" y="32826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40" name="Shape 35"/>
          <p:cNvSpPr/>
          <p:nvPr/>
        </p:nvSpPr>
        <p:spPr>
          <a:xfrm>
            <a:off x="4078224" y="3282696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41" name="Text 36"/>
          <p:cNvSpPr txBox="1"/>
          <p:nvPr/>
        </p:nvSpPr>
        <p:spPr>
          <a:xfrm>
            <a:off x="4078224" y="32826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42" name="Shape 37"/>
          <p:cNvSpPr/>
          <p:nvPr/>
        </p:nvSpPr>
        <p:spPr>
          <a:xfrm>
            <a:off x="2560320" y="3282696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2560320" y="32826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44" name="Shape 39"/>
          <p:cNvSpPr/>
          <p:nvPr/>
        </p:nvSpPr>
        <p:spPr>
          <a:xfrm>
            <a:off x="1042416" y="3282696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45" name="Text 40"/>
          <p:cNvSpPr txBox="1"/>
          <p:nvPr/>
        </p:nvSpPr>
        <p:spPr>
          <a:xfrm>
            <a:off x="1042416" y="32826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46" name="Shape 41"/>
          <p:cNvSpPr/>
          <p:nvPr/>
        </p:nvSpPr>
        <p:spPr>
          <a:xfrm>
            <a:off x="457200" y="3712464"/>
            <a:ext cx="11277295" cy="0"/>
          </a:xfrm>
          <a:prstGeom prst="line">
            <a:avLst/>
          </a:prstGeom>
          <a:noFill/>
          <a:ln w="9525">
            <a:solidFill>
              <a:srgbClr val="E3D5CC"/>
            </a:solidFill>
            <a:prstDash val="solid"/>
          </a:ln>
        </p:spPr>
      </p:sp>
      <p:sp>
        <p:nvSpPr>
          <p:cNvPr id="47" name="Text 42"/>
          <p:cNvSpPr txBox="1"/>
          <p:nvPr/>
        </p:nvSpPr>
        <p:spPr>
          <a:xfrm>
            <a:off x="8229600" y="3712464"/>
            <a:ext cx="35048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كل السحابات في لوحة واحدة</a:t>
            </a:r>
            <a:endParaRPr lang="en-US" sz="1500" dirty="0"/>
          </a:p>
        </p:txBody>
      </p:sp>
      <p:sp>
        <p:nvSpPr>
          <p:cNvPr id="48" name="Shape 43"/>
          <p:cNvSpPr/>
          <p:nvPr/>
        </p:nvSpPr>
        <p:spPr>
          <a:xfrm>
            <a:off x="7114032" y="3794760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49" name="Text 44"/>
          <p:cNvSpPr txBox="1"/>
          <p:nvPr/>
        </p:nvSpPr>
        <p:spPr>
          <a:xfrm>
            <a:off x="7114032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50" name="Shape 45"/>
          <p:cNvSpPr/>
          <p:nvPr/>
        </p:nvSpPr>
        <p:spPr>
          <a:xfrm>
            <a:off x="5596128" y="3794760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51" name="Text 46"/>
          <p:cNvSpPr txBox="1"/>
          <p:nvPr/>
        </p:nvSpPr>
        <p:spPr>
          <a:xfrm>
            <a:off x="5596128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52" name="Shape 47"/>
          <p:cNvSpPr/>
          <p:nvPr/>
        </p:nvSpPr>
        <p:spPr>
          <a:xfrm>
            <a:off x="4078224" y="3794760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53" name="Text 48"/>
          <p:cNvSpPr txBox="1"/>
          <p:nvPr/>
        </p:nvSpPr>
        <p:spPr>
          <a:xfrm>
            <a:off x="4078224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54" name="Shape 49"/>
          <p:cNvSpPr/>
          <p:nvPr/>
        </p:nvSpPr>
        <p:spPr>
          <a:xfrm>
            <a:off x="2560320" y="3794760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55" name="Text 50"/>
          <p:cNvSpPr txBox="1"/>
          <p:nvPr/>
        </p:nvSpPr>
        <p:spPr>
          <a:xfrm>
            <a:off x="2560320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56" name="Shape 51"/>
          <p:cNvSpPr/>
          <p:nvPr/>
        </p:nvSpPr>
        <p:spPr>
          <a:xfrm>
            <a:off x="1042416" y="3794760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57" name="Text 52"/>
          <p:cNvSpPr txBox="1"/>
          <p:nvPr/>
        </p:nvSpPr>
        <p:spPr>
          <a:xfrm>
            <a:off x="1042416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58" name="Shape 53"/>
          <p:cNvSpPr/>
          <p:nvPr/>
        </p:nvSpPr>
        <p:spPr>
          <a:xfrm>
            <a:off x="457200" y="4224528"/>
            <a:ext cx="11277295" cy="0"/>
          </a:xfrm>
          <a:prstGeom prst="line">
            <a:avLst/>
          </a:prstGeom>
          <a:noFill/>
          <a:ln w="9525">
            <a:solidFill>
              <a:srgbClr val="E3D5CC"/>
            </a:solidFill>
            <a:prstDash val="solid"/>
          </a:ln>
        </p:spPr>
      </p:sp>
      <p:sp>
        <p:nvSpPr>
          <p:cNvPr id="59" name="Text 54"/>
          <p:cNvSpPr txBox="1"/>
          <p:nvPr/>
        </p:nvSpPr>
        <p:spPr>
          <a:xfrm>
            <a:off x="8229600" y="4224528"/>
            <a:ext cx="35048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تنفيذ بنقرة بعد موافقتك</a:t>
            </a:r>
            <a:endParaRPr lang="en-US" sz="1500" dirty="0"/>
          </a:p>
        </p:txBody>
      </p:sp>
      <p:sp>
        <p:nvSpPr>
          <p:cNvPr id="60" name="Shape 55"/>
          <p:cNvSpPr/>
          <p:nvPr/>
        </p:nvSpPr>
        <p:spPr>
          <a:xfrm>
            <a:off x="7114032" y="4306824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61" name="Text 56"/>
          <p:cNvSpPr txBox="1"/>
          <p:nvPr/>
        </p:nvSpPr>
        <p:spPr>
          <a:xfrm>
            <a:off x="7114032" y="43068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62" name="Shape 57"/>
          <p:cNvSpPr/>
          <p:nvPr/>
        </p:nvSpPr>
        <p:spPr>
          <a:xfrm>
            <a:off x="5596128" y="4306824"/>
            <a:ext cx="347472" cy="347472"/>
          </a:xfrm>
          <a:prstGeom prst="ellipse">
            <a:avLst/>
          </a:prstGeom>
          <a:solidFill>
            <a:srgbClr val="C9A46E"/>
          </a:solidFill>
          <a:ln/>
        </p:spPr>
      </p:sp>
      <p:sp>
        <p:nvSpPr>
          <p:cNvPr id="63" name="Text 58"/>
          <p:cNvSpPr txBox="1"/>
          <p:nvPr/>
        </p:nvSpPr>
        <p:spPr>
          <a:xfrm>
            <a:off x="5596128" y="43068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~</a:t>
            </a:r>
            <a:endParaRPr lang="en-US" sz="1300" dirty="0"/>
          </a:p>
        </p:txBody>
      </p:sp>
      <p:sp>
        <p:nvSpPr>
          <p:cNvPr id="64" name="Shape 59"/>
          <p:cNvSpPr/>
          <p:nvPr/>
        </p:nvSpPr>
        <p:spPr>
          <a:xfrm>
            <a:off x="4078224" y="4306824"/>
            <a:ext cx="347472" cy="347472"/>
          </a:xfrm>
          <a:prstGeom prst="ellipse">
            <a:avLst/>
          </a:prstGeom>
          <a:solidFill>
            <a:srgbClr val="C9A46E"/>
          </a:solidFill>
          <a:ln/>
        </p:spPr>
      </p:sp>
      <p:sp>
        <p:nvSpPr>
          <p:cNvPr id="65" name="Text 60"/>
          <p:cNvSpPr txBox="1"/>
          <p:nvPr/>
        </p:nvSpPr>
        <p:spPr>
          <a:xfrm>
            <a:off x="4078224" y="43068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~</a:t>
            </a:r>
            <a:endParaRPr lang="en-US" sz="1300" dirty="0"/>
          </a:p>
        </p:txBody>
      </p:sp>
      <p:sp>
        <p:nvSpPr>
          <p:cNvPr id="66" name="Shape 61"/>
          <p:cNvSpPr/>
          <p:nvPr/>
        </p:nvSpPr>
        <p:spPr>
          <a:xfrm>
            <a:off x="2560320" y="4306824"/>
            <a:ext cx="347472" cy="347472"/>
          </a:xfrm>
          <a:prstGeom prst="ellipse">
            <a:avLst/>
          </a:prstGeom>
          <a:solidFill>
            <a:srgbClr val="C9A46E"/>
          </a:solidFill>
          <a:ln/>
        </p:spPr>
      </p:sp>
      <p:sp>
        <p:nvSpPr>
          <p:cNvPr id="67" name="Text 62"/>
          <p:cNvSpPr txBox="1"/>
          <p:nvPr/>
        </p:nvSpPr>
        <p:spPr>
          <a:xfrm>
            <a:off x="2560320" y="43068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~</a:t>
            </a:r>
            <a:endParaRPr lang="en-US" sz="1300" dirty="0"/>
          </a:p>
        </p:txBody>
      </p:sp>
      <p:sp>
        <p:nvSpPr>
          <p:cNvPr id="68" name="Shape 63"/>
          <p:cNvSpPr/>
          <p:nvPr/>
        </p:nvSpPr>
        <p:spPr>
          <a:xfrm>
            <a:off x="1042416" y="4306824"/>
            <a:ext cx="347472" cy="347472"/>
          </a:xfrm>
          <a:prstGeom prst="ellipse">
            <a:avLst/>
          </a:prstGeom>
          <a:solidFill>
            <a:srgbClr val="C9A46E"/>
          </a:solidFill>
          <a:ln/>
        </p:spPr>
      </p:sp>
      <p:sp>
        <p:nvSpPr>
          <p:cNvPr id="69" name="Text 64"/>
          <p:cNvSpPr txBox="1"/>
          <p:nvPr/>
        </p:nvSpPr>
        <p:spPr>
          <a:xfrm>
            <a:off x="1042416" y="43068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~</a:t>
            </a:r>
            <a:endParaRPr lang="en-US" sz="1300" dirty="0"/>
          </a:p>
        </p:txBody>
      </p:sp>
      <p:sp>
        <p:nvSpPr>
          <p:cNvPr id="70" name="Shape 65"/>
          <p:cNvSpPr/>
          <p:nvPr/>
        </p:nvSpPr>
        <p:spPr>
          <a:xfrm>
            <a:off x="457200" y="4736592"/>
            <a:ext cx="11277295" cy="0"/>
          </a:xfrm>
          <a:prstGeom prst="line">
            <a:avLst/>
          </a:prstGeom>
          <a:noFill/>
          <a:ln w="9525">
            <a:solidFill>
              <a:srgbClr val="E3D5CC"/>
            </a:solidFill>
            <a:prstDash val="solid"/>
          </a:ln>
        </p:spPr>
      </p:sp>
      <p:sp>
        <p:nvSpPr>
          <p:cNvPr id="71" name="Text 66"/>
          <p:cNvSpPr txBox="1"/>
          <p:nvPr/>
        </p:nvSpPr>
        <p:spPr>
          <a:xfrm>
            <a:off x="8229600" y="4736592"/>
            <a:ext cx="35048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تنبيهات واتساب وتيليجرام</a:t>
            </a:r>
            <a:endParaRPr lang="en-US" sz="1500" dirty="0"/>
          </a:p>
        </p:txBody>
      </p:sp>
      <p:sp>
        <p:nvSpPr>
          <p:cNvPr id="72" name="Shape 67"/>
          <p:cNvSpPr/>
          <p:nvPr/>
        </p:nvSpPr>
        <p:spPr>
          <a:xfrm>
            <a:off x="7114032" y="4818888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73" name="Text 68"/>
          <p:cNvSpPr txBox="1"/>
          <p:nvPr/>
        </p:nvSpPr>
        <p:spPr>
          <a:xfrm>
            <a:off x="7114032" y="48188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74" name="Shape 69"/>
          <p:cNvSpPr/>
          <p:nvPr/>
        </p:nvSpPr>
        <p:spPr>
          <a:xfrm>
            <a:off x="5596128" y="4818888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75" name="Text 70"/>
          <p:cNvSpPr txBox="1"/>
          <p:nvPr/>
        </p:nvSpPr>
        <p:spPr>
          <a:xfrm>
            <a:off x="5596128" y="48188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76" name="Shape 71"/>
          <p:cNvSpPr/>
          <p:nvPr/>
        </p:nvSpPr>
        <p:spPr>
          <a:xfrm>
            <a:off x="4078224" y="4818888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77" name="Text 72"/>
          <p:cNvSpPr txBox="1"/>
          <p:nvPr/>
        </p:nvSpPr>
        <p:spPr>
          <a:xfrm>
            <a:off x="4078224" y="48188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78" name="Shape 73"/>
          <p:cNvSpPr/>
          <p:nvPr/>
        </p:nvSpPr>
        <p:spPr>
          <a:xfrm>
            <a:off x="2560320" y="4818888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79" name="Text 74"/>
          <p:cNvSpPr txBox="1"/>
          <p:nvPr/>
        </p:nvSpPr>
        <p:spPr>
          <a:xfrm>
            <a:off x="2560320" y="48188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80" name="Shape 75"/>
          <p:cNvSpPr/>
          <p:nvPr/>
        </p:nvSpPr>
        <p:spPr>
          <a:xfrm>
            <a:off x="1042416" y="4818888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81" name="Text 76"/>
          <p:cNvSpPr txBox="1"/>
          <p:nvPr/>
        </p:nvSpPr>
        <p:spPr>
          <a:xfrm>
            <a:off x="1042416" y="48188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82" name="Shape 77"/>
          <p:cNvSpPr/>
          <p:nvPr/>
        </p:nvSpPr>
        <p:spPr>
          <a:xfrm>
            <a:off x="457200" y="5248656"/>
            <a:ext cx="11277295" cy="0"/>
          </a:xfrm>
          <a:prstGeom prst="line">
            <a:avLst/>
          </a:prstGeom>
          <a:noFill/>
          <a:ln w="9525">
            <a:solidFill>
              <a:srgbClr val="E3D5CC"/>
            </a:solidFill>
            <a:prstDash val="solid"/>
          </a:ln>
        </p:spPr>
      </p:sp>
      <p:sp>
        <p:nvSpPr>
          <p:cNvPr id="83" name="Text 78"/>
          <p:cNvSpPr txBox="1"/>
          <p:nvPr/>
        </p:nvSpPr>
        <p:spPr>
          <a:xfrm>
            <a:off x="8229600" y="5248656"/>
            <a:ext cx="35048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سعر مناسب للشركات المتوسطة</a:t>
            </a:r>
            <a:endParaRPr lang="en-US" sz="1500" dirty="0"/>
          </a:p>
        </p:txBody>
      </p:sp>
      <p:sp>
        <p:nvSpPr>
          <p:cNvPr id="84" name="Shape 79"/>
          <p:cNvSpPr/>
          <p:nvPr/>
        </p:nvSpPr>
        <p:spPr>
          <a:xfrm>
            <a:off x="7114032" y="5330952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85" name="Text 80"/>
          <p:cNvSpPr txBox="1"/>
          <p:nvPr/>
        </p:nvSpPr>
        <p:spPr>
          <a:xfrm>
            <a:off x="7114032" y="53309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86" name="Shape 81"/>
          <p:cNvSpPr/>
          <p:nvPr/>
        </p:nvSpPr>
        <p:spPr>
          <a:xfrm>
            <a:off x="5596128" y="5330952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87" name="Text 82"/>
          <p:cNvSpPr txBox="1"/>
          <p:nvPr/>
        </p:nvSpPr>
        <p:spPr>
          <a:xfrm>
            <a:off x="5596128" y="53309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88" name="Shape 83"/>
          <p:cNvSpPr/>
          <p:nvPr/>
        </p:nvSpPr>
        <p:spPr>
          <a:xfrm>
            <a:off x="4078224" y="5330952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89" name="Text 84"/>
          <p:cNvSpPr txBox="1"/>
          <p:nvPr/>
        </p:nvSpPr>
        <p:spPr>
          <a:xfrm>
            <a:off x="4078224" y="53309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90" name="Shape 85"/>
          <p:cNvSpPr/>
          <p:nvPr/>
        </p:nvSpPr>
        <p:spPr>
          <a:xfrm>
            <a:off x="2560320" y="5330952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91" name="Text 86"/>
          <p:cNvSpPr txBox="1"/>
          <p:nvPr/>
        </p:nvSpPr>
        <p:spPr>
          <a:xfrm>
            <a:off x="2560320" y="53309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92" name="Shape 87"/>
          <p:cNvSpPr/>
          <p:nvPr/>
        </p:nvSpPr>
        <p:spPr>
          <a:xfrm>
            <a:off x="1042416" y="5330952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93" name="Text 88"/>
          <p:cNvSpPr txBox="1"/>
          <p:nvPr/>
        </p:nvSpPr>
        <p:spPr>
          <a:xfrm>
            <a:off x="1042416" y="53309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94" name="Shape 89"/>
          <p:cNvSpPr/>
          <p:nvPr/>
        </p:nvSpPr>
        <p:spPr>
          <a:xfrm>
            <a:off x="11551615" y="5943600"/>
            <a:ext cx="182880" cy="182880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95" name="Text 90"/>
          <p:cNvSpPr txBox="1"/>
          <p:nvPr/>
        </p:nvSpPr>
        <p:spPr>
          <a:xfrm>
            <a:off x="10865815" y="5879592"/>
            <a:ext cx="612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نعم</a:t>
            </a:r>
            <a:endParaRPr lang="en-US" sz="1200" dirty="0"/>
          </a:p>
        </p:txBody>
      </p:sp>
      <p:sp>
        <p:nvSpPr>
          <p:cNvPr id="96" name="Shape 91"/>
          <p:cNvSpPr/>
          <p:nvPr/>
        </p:nvSpPr>
        <p:spPr>
          <a:xfrm>
            <a:off x="10591495" y="5943600"/>
            <a:ext cx="182880" cy="182880"/>
          </a:xfrm>
          <a:prstGeom prst="ellipse">
            <a:avLst/>
          </a:prstGeom>
          <a:solidFill>
            <a:srgbClr val="C9A46E"/>
          </a:solidFill>
          <a:ln/>
        </p:spPr>
      </p:sp>
      <p:sp>
        <p:nvSpPr>
          <p:cNvPr id="97" name="Text 92"/>
          <p:cNvSpPr txBox="1"/>
          <p:nvPr/>
        </p:nvSpPr>
        <p:spPr>
          <a:xfrm>
            <a:off x="9905695" y="5879592"/>
            <a:ext cx="612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جزئياً</a:t>
            </a:r>
            <a:endParaRPr lang="en-US" sz="1200" dirty="0"/>
          </a:p>
        </p:txBody>
      </p:sp>
      <p:sp>
        <p:nvSpPr>
          <p:cNvPr id="98" name="Shape 93"/>
          <p:cNvSpPr/>
          <p:nvPr/>
        </p:nvSpPr>
        <p:spPr>
          <a:xfrm>
            <a:off x="9631375" y="5943600"/>
            <a:ext cx="182880" cy="182880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99" name="Text 94"/>
          <p:cNvSpPr txBox="1"/>
          <p:nvPr/>
        </p:nvSpPr>
        <p:spPr>
          <a:xfrm>
            <a:off x="8945575" y="5879592"/>
            <a:ext cx="612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لا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654235" y="987552"/>
            <a:ext cx="2080260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654235" y="987552"/>
            <a:ext cx="20802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الفئة المستهدفة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06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60020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شركات سعودية من 50 إلى 250 موظفاً</a:t>
            </a:r>
            <a:endParaRPr lang="en-US" sz="3400" dirty="0"/>
          </a:p>
        </p:txBody>
      </p:sp>
      <p:sp>
        <p:nvSpPr>
          <p:cNvPr id="23" name="Text 18"/>
          <p:cNvSpPr txBox="1"/>
          <p:nvPr/>
        </p:nvSpPr>
        <p:spPr>
          <a:xfrm>
            <a:off x="457200" y="2331720"/>
            <a:ext cx="112772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8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بلا فريق FinOps، وفاتورتها عشرات الآلاف شهرياً</a:t>
            </a:r>
            <a:endParaRPr lang="en-US" sz="1800" dirty="0"/>
          </a:p>
        </p:txBody>
      </p:sp>
      <p:sp>
        <p:nvSpPr>
          <p:cNvPr id="24" name="Shape 19"/>
          <p:cNvSpPr/>
          <p:nvPr/>
        </p:nvSpPr>
        <p:spPr>
          <a:xfrm>
            <a:off x="8188757" y="306324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5" name="Image 3" descr="/tmp/claude-0/-home-claude/750ff410-f4aa-5276-9360-1e19d018b112/scratchpad/c/assets/i-building-b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87306" y="3337560"/>
            <a:ext cx="548640" cy="54864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8188757" y="393192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50-250</a:t>
            </a:r>
            <a:endParaRPr lang="en-US" sz="4600" dirty="0"/>
          </a:p>
        </p:txBody>
      </p:sp>
      <p:sp>
        <p:nvSpPr>
          <p:cNvPr id="27" name="Text 21"/>
          <p:cNvSpPr txBox="1"/>
          <p:nvPr/>
        </p:nvSpPr>
        <p:spPr>
          <a:xfrm>
            <a:off x="8463077" y="484632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موظفاً</a:t>
            </a:r>
            <a:endParaRPr lang="en-US" sz="1800" dirty="0"/>
          </a:p>
        </p:txBody>
      </p:sp>
      <p:sp>
        <p:nvSpPr>
          <p:cNvPr id="28" name="Shape 22"/>
          <p:cNvSpPr/>
          <p:nvPr/>
        </p:nvSpPr>
        <p:spPr>
          <a:xfrm>
            <a:off x="4322978" y="306324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9" name="Image 4" descr="/tmp/claude-0/-home-claude/750ff410-f4aa-5276-9360-1e19d018b112/scratchpad/c/assets/i-cloud-b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1528" y="3337560"/>
            <a:ext cx="548640" cy="54864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4322978" y="393192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$5.1B</a:t>
            </a:r>
            <a:endParaRPr lang="en-US" sz="4600" dirty="0"/>
          </a:p>
        </p:txBody>
      </p:sp>
      <p:sp>
        <p:nvSpPr>
          <p:cNvPr id="31" name="Text 24"/>
          <p:cNvSpPr txBox="1"/>
          <p:nvPr/>
        </p:nvSpPr>
        <p:spPr>
          <a:xfrm>
            <a:off x="4597298" y="484632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سوق السحابة السعودي 2025</a:t>
            </a:r>
            <a:endParaRPr lang="en-US" sz="1800" dirty="0"/>
          </a:p>
        </p:txBody>
      </p:sp>
      <p:sp>
        <p:nvSpPr>
          <p:cNvPr id="32" name="Shape 25"/>
          <p:cNvSpPr/>
          <p:nvPr/>
        </p:nvSpPr>
        <p:spPr>
          <a:xfrm>
            <a:off x="457200" y="306324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8E2F3C"/>
          </a:solidFill>
          <a:ln/>
        </p:spPr>
      </p:sp>
      <p:pic>
        <p:nvPicPr>
          <p:cNvPr id="33" name="Image 5" descr="/tmp/claude-0/-home-claude/750ff410-f4aa-5276-9360-1e19d018b112/scratchpad/c/assets/i-trend-c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55749" y="3337560"/>
            <a:ext cx="548640" cy="548640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457200" y="393192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$14.6B</a:t>
            </a:r>
            <a:endParaRPr lang="en-US" sz="4600" dirty="0"/>
          </a:p>
        </p:txBody>
      </p:sp>
      <p:sp>
        <p:nvSpPr>
          <p:cNvPr id="35" name="Text 27"/>
          <p:cNvSpPr txBox="1"/>
          <p:nvPr/>
        </p:nvSpPr>
        <p:spPr>
          <a:xfrm>
            <a:off x="731520" y="484632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المتوقع 2030</a:t>
            </a:r>
            <a:endParaRPr lang="en-US" sz="1800" dirty="0"/>
          </a:p>
        </p:txBody>
      </p:sp>
      <p:sp>
        <p:nvSpPr>
          <p:cNvPr id="36" name="Text 28"/>
          <p:cNvSpPr txBox="1"/>
          <p:nvPr/>
        </p:nvSpPr>
        <p:spPr>
          <a:xfrm>
            <a:off x="457200" y="5989320"/>
            <a:ext cx="112772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MarketsandMarkets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10074859" y="987552"/>
            <a:ext cx="1659636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10074859" y="987552"/>
            <a:ext cx="16596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نموذج العمل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07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9566819" y="1554480"/>
            <a:ext cx="2167677" cy="3017520"/>
          </a:xfrm>
          <a:prstGeom prst="roundRect">
            <a:avLst>
              <a:gd name="adj" fmla="val 5906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3" name="Image 3" descr="/tmp/claude-0/-home-claude/750ff410-f4aa-5276-9360-1e19d018b112/scratchpad/c/assets/i-users-b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0719" y="1709928"/>
            <a:ext cx="310896" cy="310896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9703979" y="1682496"/>
            <a:ext cx="148187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شرائح العملاء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11460175" y="2295144"/>
            <a:ext cx="82296" cy="82296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9703979" y="2176272"/>
            <a:ext cx="16647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شركات 50 إلى 250 موظفاً</a:t>
            </a:r>
            <a:endParaRPr lang="en-US" sz="1350" dirty="0"/>
          </a:p>
        </p:txBody>
      </p:sp>
      <p:sp>
        <p:nvSpPr>
          <p:cNvPr id="27" name="Shape 21"/>
          <p:cNvSpPr/>
          <p:nvPr/>
        </p:nvSpPr>
        <p:spPr>
          <a:xfrm>
            <a:off x="11460175" y="2660904"/>
            <a:ext cx="82296" cy="82296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9703979" y="2542032"/>
            <a:ext cx="16647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شركات ناشئة</a:t>
            </a:r>
            <a:endParaRPr lang="en-US" sz="1350" dirty="0"/>
          </a:p>
        </p:txBody>
      </p:sp>
      <p:sp>
        <p:nvSpPr>
          <p:cNvPr id="29" name="Shape 23"/>
          <p:cNvSpPr/>
          <p:nvPr/>
        </p:nvSpPr>
        <p:spPr>
          <a:xfrm>
            <a:off x="11460175" y="3026664"/>
            <a:ext cx="82296" cy="82296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0" name="Text 24"/>
          <p:cNvSpPr txBox="1"/>
          <p:nvPr/>
        </p:nvSpPr>
        <p:spPr>
          <a:xfrm>
            <a:off x="9703979" y="2907792"/>
            <a:ext cx="16647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بلا فريق FinOps</a:t>
            </a:r>
            <a:endParaRPr lang="en-US" sz="1350" dirty="0"/>
          </a:p>
        </p:txBody>
      </p:sp>
      <p:sp>
        <p:nvSpPr>
          <p:cNvPr id="31" name="Shape 25"/>
          <p:cNvSpPr/>
          <p:nvPr/>
        </p:nvSpPr>
        <p:spPr>
          <a:xfrm>
            <a:off x="7289414" y="1554480"/>
            <a:ext cx="2167677" cy="1453896"/>
          </a:xfrm>
          <a:prstGeom prst="roundRect">
            <a:avLst>
              <a:gd name="adj" fmla="val 8805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32" name="Image 4" descr="/tmp/claude-0/-home-claude/750ff410-f4aa-5276-9360-1e19d018b112/scratchpad/c/assets/i-msg-b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3315" y="1709928"/>
            <a:ext cx="310896" cy="310896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7426574" y="1682496"/>
            <a:ext cx="148187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العلاقات مع العملاء</a:t>
            </a:r>
            <a:endParaRPr lang="en-US" sz="1400" dirty="0"/>
          </a:p>
        </p:txBody>
      </p:sp>
      <p:sp>
        <p:nvSpPr>
          <p:cNvPr id="34" name="Shape 27"/>
          <p:cNvSpPr/>
          <p:nvPr/>
        </p:nvSpPr>
        <p:spPr>
          <a:xfrm>
            <a:off x="9182771" y="2295144"/>
            <a:ext cx="82296" cy="82296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5" name="Text 28"/>
          <p:cNvSpPr txBox="1"/>
          <p:nvPr/>
        </p:nvSpPr>
        <p:spPr>
          <a:xfrm>
            <a:off x="7426574" y="2176272"/>
            <a:ext cx="16647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تنبيهات واتساب</a:t>
            </a:r>
            <a:endParaRPr lang="en-US" sz="1250" dirty="0"/>
          </a:p>
        </p:txBody>
      </p:sp>
      <p:sp>
        <p:nvSpPr>
          <p:cNvPr id="36" name="Shape 29"/>
          <p:cNvSpPr/>
          <p:nvPr/>
        </p:nvSpPr>
        <p:spPr>
          <a:xfrm>
            <a:off x="9182771" y="2624328"/>
            <a:ext cx="82296" cy="82296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7" name="Text 30"/>
          <p:cNvSpPr txBox="1"/>
          <p:nvPr/>
        </p:nvSpPr>
        <p:spPr>
          <a:xfrm>
            <a:off x="7426574" y="2505456"/>
            <a:ext cx="16647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دعم بالعربي</a:t>
            </a:r>
            <a:endParaRPr lang="en-US" sz="1250" dirty="0"/>
          </a:p>
        </p:txBody>
      </p:sp>
      <p:sp>
        <p:nvSpPr>
          <p:cNvPr id="38" name="Shape 31"/>
          <p:cNvSpPr/>
          <p:nvPr/>
        </p:nvSpPr>
        <p:spPr>
          <a:xfrm>
            <a:off x="7289414" y="3118104"/>
            <a:ext cx="2167677" cy="1453896"/>
          </a:xfrm>
          <a:prstGeom prst="roundRect">
            <a:avLst>
              <a:gd name="adj" fmla="val 8805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39" name="Image 5" descr="/tmp/claude-0/-home-claude/750ff410-f4aa-5276-9360-1e19d018b112/scratchpad/c/assets/i-mega-b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63315" y="3273552"/>
            <a:ext cx="310896" cy="310896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7426574" y="3246120"/>
            <a:ext cx="148187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القنوات</a:t>
            </a:r>
            <a:endParaRPr lang="en-US" sz="1400" dirty="0"/>
          </a:p>
        </p:txBody>
      </p:sp>
      <p:sp>
        <p:nvSpPr>
          <p:cNvPr id="41" name="Shape 33"/>
          <p:cNvSpPr/>
          <p:nvPr/>
        </p:nvSpPr>
        <p:spPr>
          <a:xfrm>
            <a:off x="9182771" y="3858768"/>
            <a:ext cx="82296" cy="82296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42" name="Text 34"/>
          <p:cNvSpPr txBox="1"/>
          <p:nvPr/>
        </p:nvSpPr>
        <p:spPr>
          <a:xfrm>
            <a:off x="7426574" y="3739896"/>
            <a:ext cx="16647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الموقع والفحص المجاني</a:t>
            </a:r>
            <a:endParaRPr lang="en-US" sz="1250" dirty="0"/>
          </a:p>
        </p:txBody>
      </p:sp>
      <p:sp>
        <p:nvSpPr>
          <p:cNvPr id="43" name="Shape 35"/>
          <p:cNvSpPr/>
          <p:nvPr/>
        </p:nvSpPr>
        <p:spPr>
          <a:xfrm>
            <a:off x="9182771" y="4187952"/>
            <a:ext cx="82296" cy="82296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44" name="Text 36"/>
          <p:cNvSpPr txBox="1"/>
          <p:nvPr/>
        </p:nvSpPr>
        <p:spPr>
          <a:xfrm>
            <a:off x="7426574" y="4069080"/>
            <a:ext cx="16647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شركاء السحابة</a:t>
            </a:r>
            <a:endParaRPr lang="en-US" sz="1250" dirty="0"/>
          </a:p>
        </p:txBody>
      </p:sp>
      <p:sp>
        <p:nvSpPr>
          <p:cNvPr id="45" name="Shape 37"/>
          <p:cNvSpPr/>
          <p:nvPr/>
        </p:nvSpPr>
        <p:spPr>
          <a:xfrm>
            <a:off x="5012009" y="1554480"/>
            <a:ext cx="2167677" cy="3017520"/>
          </a:xfrm>
          <a:prstGeom prst="roundRect">
            <a:avLst>
              <a:gd name="adj" fmla="val 5906"/>
            </a:avLst>
          </a:prstGeom>
          <a:solidFill>
            <a:srgbClr val="8E2F3C"/>
          </a:solidFill>
          <a:ln/>
        </p:spPr>
      </p:sp>
      <p:pic>
        <p:nvPicPr>
          <p:cNvPr id="46" name="Image 6" descr="/tmp/claude-0/-home-claude/750ff410-f4aa-5276-9360-1e19d018b112/scratchpad/c/assets/i-gem-c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85910" y="1709928"/>
            <a:ext cx="310896" cy="310896"/>
          </a:xfrm>
          <a:prstGeom prst="rect">
            <a:avLst/>
          </a:prstGeom>
        </p:spPr>
      </p:pic>
      <p:sp>
        <p:nvSpPr>
          <p:cNvPr id="47" name="Text 38"/>
          <p:cNvSpPr txBox="1"/>
          <p:nvPr/>
        </p:nvSpPr>
        <p:spPr>
          <a:xfrm>
            <a:off x="5149169" y="1682496"/>
            <a:ext cx="148187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القيم المقترحة</a:t>
            </a:r>
            <a:endParaRPr lang="en-US" sz="1400" dirty="0"/>
          </a:p>
        </p:txBody>
      </p:sp>
      <p:sp>
        <p:nvSpPr>
          <p:cNvPr id="48" name="Shape 39"/>
          <p:cNvSpPr/>
          <p:nvPr/>
        </p:nvSpPr>
        <p:spPr>
          <a:xfrm>
            <a:off x="6905366" y="2295144"/>
            <a:ext cx="82296" cy="82296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9" name="Text 40"/>
          <p:cNvSpPr txBox="1"/>
          <p:nvPr/>
        </p:nvSpPr>
        <p:spPr>
          <a:xfrm>
            <a:off x="5149169" y="2176272"/>
            <a:ext cx="16647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فاتورة سحابة أقل</a:t>
            </a:r>
            <a:endParaRPr lang="en-US" sz="1350" dirty="0"/>
          </a:p>
        </p:txBody>
      </p:sp>
      <p:sp>
        <p:nvSpPr>
          <p:cNvPr id="50" name="Shape 41"/>
          <p:cNvSpPr/>
          <p:nvPr/>
        </p:nvSpPr>
        <p:spPr>
          <a:xfrm>
            <a:off x="6905366" y="2660904"/>
            <a:ext cx="82296" cy="82296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51" name="Text 42"/>
          <p:cNvSpPr txBox="1"/>
          <p:nvPr/>
        </p:nvSpPr>
        <p:spPr>
          <a:xfrm>
            <a:off x="5149169" y="2542032"/>
            <a:ext cx="16647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قراءة فقط وآمن</a:t>
            </a:r>
            <a:endParaRPr lang="en-US" sz="1350" dirty="0"/>
          </a:p>
        </p:txBody>
      </p:sp>
      <p:sp>
        <p:nvSpPr>
          <p:cNvPr id="52" name="Shape 43"/>
          <p:cNvSpPr/>
          <p:nvPr/>
        </p:nvSpPr>
        <p:spPr>
          <a:xfrm>
            <a:off x="6905366" y="3026664"/>
            <a:ext cx="82296" cy="82296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53" name="Text 44"/>
          <p:cNvSpPr txBox="1"/>
          <p:nvPr/>
        </p:nvSpPr>
        <p:spPr>
          <a:xfrm>
            <a:off x="5149169" y="2907792"/>
            <a:ext cx="16647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تنفيذ بموافقتك</a:t>
            </a:r>
            <a:endParaRPr lang="en-US" sz="1350" dirty="0"/>
          </a:p>
        </p:txBody>
      </p:sp>
      <p:sp>
        <p:nvSpPr>
          <p:cNvPr id="54" name="Shape 45"/>
          <p:cNvSpPr/>
          <p:nvPr/>
        </p:nvSpPr>
        <p:spPr>
          <a:xfrm>
            <a:off x="6905366" y="3392424"/>
            <a:ext cx="82296" cy="82296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55" name="Text 46"/>
          <p:cNvSpPr txBox="1"/>
          <p:nvPr/>
        </p:nvSpPr>
        <p:spPr>
          <a:xfrm>
            <a:off x="5149169" y="3273552"/>
            <a:ext cx="16647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السحب المحلية والعالمية</a:t>
            </a:r>
            <a:endParaRPr lang="en-US" sz="1350" dirty="0"/>
          </a:p>
        </p:txBody>
      </p:sp>
      <p:sp>
        <p:nvSpPr>
          <p:cNvPr id="56" name="Shape 47"/>
          <p:cNvSpPr/>
          <p:nvPr/>
        </p:nvSpPr>
        <p:spPr>
          <a:xfrm>
            <a:off x="2734605" y="1554480"/>
            <a:ext cx="2167677" cy="1453896"/>
          </a:xfrm>
          <a:prstGeom prst="roundRect">
            <a:avLst>
              <a:gd name="adj" fmla="val 8805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57" name="Image 7" descr="/tmp/claude-0/-home-claude/750ff410-f4aa-5276-9360-1e19d018b112/scratchpad/c/assets/i-act-br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08505" y="1709928"/>
            <a:ext cx="310896" cy="310896"/>
          </a:xfrm>
          <a:prstGeom prst="rect">
            <a:avLst/>
          </a:prstGeom>
        </p:spPr>
      </p:pic>
      <p:sp>
        <p:nvSpPr>
          <p:cNvPr id="58" name="Text 48"/>
          <p:cNvSpPr txBox="1"/>
          <p:nvPr/>
        </p:nvSpPr>
        <p:spPr>
          <a:xfrm>
            <a:off x="2871765" y="1682496"/>
            <a:ext cx="148187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الأنشطة الرئيسية</a:t>
            </a:r>
            <a:endParaRPr lang="en-US" sz="1400" dirty="0"/>
          </a:p>
        </p:txBody>
      </p:sp>
      <p:sp>
        <p:nvSpPr>
          <p:cNvPr id="59" name="Shape 49"/>
          <p:cNvSpPr/>
          <p:nvPr/>
        </p:nvSpPr>
        <p:spPr>
          <a:xfrm>
            <a:off x="4627961" y="2295144"/>
            <a:ext cx="82296" cy="82296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0" name="Text 50"/>
          <p:cNvSpPr txBox="1"/>
          <p:nvPr/>
        </p:nvSpPr>
        <p:spPr>
          <a:xfrm>
            <a:off x="2871765" y="2176272"/>
            <a:ext cx="16647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كشف الهدر وتحليله</a:t>
            </a:r>
            <a:endParaRPr lang="en-US" sz="1250" dirty="0"/>
          </a:p>
        </p:txBody>
      </p:sp>
      <p:sp>
        <p:nvSpPr>
          <p:cNvPr id="61" name="Shape 51"/>
          <p:cNvSpPr/>
          <p:nvPr/>
        </p:nvSpPr>
        <p:spPr>
          <a:xfrm>
            <a:off x="4627961" y="2624328"/>
            <a:ext cx="82296" cy="82296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2" name="Text 52"/>
          <p:cNvSpPr txBox="1"/>
          <p:nvPr/>
        </p:nvSpPr>
        <p:spPr>
          <a:xfrm>
            <a:off x="2871765" y="2505456"/>
            <a:ext cx="16647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تطوير المنصة</a:t>
            </a:r>
            <a:endParaRPr lang="en-US" sz="1250" dirty="0"/>
          </a:p>
        </p:txBody>
      </p:sp>
      <p:sp>
        <p:nvSpPr>
          <p:cNvPr id="63" name="Shape 53"/>
          <p:cNvSpPr/>
          <p:nvPr/>
        </p:nvSpPr>
        <p:spPr>
          <a:xfrm>
            <a:off x="2734605" y="3118104"/>
            <a:ext cx="2167677" cy="1453896"/>
          </a:xfrm>
          <a:prstGeom prst="roundRect">
            <a:avLst>
              <a:gd name="adj" fmla="val 8805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64" name="Image 8" descr="/tmp/claude-0/-home-claude/750ff410-f4aa-5276-9360-1e19d018b112/scratchpad/c/assets/i-box-br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08505" y="3273552"/>
            <a:ext cx="310896" cy="310896"/>
          </a:xfrm>
          <a:prstGeom prst="rect">
            <a:avLst/>
          </a:prstGeom>
        </p:spPr>
      </p:pic>
      <p:sp>
        <p:nvSpPr>
          <p:cNvPr id="65" name="Text 54"/>
          <p:cNvSpPr txBox="1"/>
          <p:nvPr/>
        </p:nvSpPr>
        <p:spPr>
          <a:xfrm>
            <a:off x="2871765" y="3246120"/>
            <a:ext cx="148187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الموارد الرئيسية</a:t>
            </a:r>
            <a:endParaRPr lang="en-US" sz="1400" dirty="0"/>
          </a:p>
        </p:txBody>
      </p:sp>
      <p:sp>
        <p:nvSpPr>
          <p:cNvPr id="66" name="Shape 55"/>
          <p:cNvSpPr/>
          <p:nvPr/>
        </p:nvSpPr>
        <p:spPr>
          <a:xfrm>
            <a:off x="4627961" y="3858768"/>
            <a:ext cx="82296" cy="82296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7" name="Text 56"/>
          <p:cNvSpPr txBox="1"/>
          <p:nvPr/>
        </p:nvSpPr>
        <p:spPr>
          <a:xfrm>
            <a:off x="2871765" y="3739896"/>
            <a:ext cx="16647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نموذج الذكاء الاصطناعي</a:t>
            </a:r>
            <a:endParaRPr lang="en-US" sz="1250" dirty="0"/>
          </a:p>
        </p:txBody>
      </p:sp>
      <p:sp>
        <p:nvSpPr>
          <p:cNvPr id="68" name="Shape 57"/>
          <p:cNvSpPr/>
          <p:nvPr/>
        </p:nvSpPr>
        <p:spPr>
          <a:xfrm>
            <a:off x="4627961" y="4187952"/>
            <a:ext cx="82296" cy="82296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9" name="Text 58"/>
          <p:cNvSpPr txBox="1"/>
          <p:nvPr/>
        </p:nvSpPr>
        <p:spPr>
          <a:xfrm>
            <a:off x="2871765" y="4069080"/>
            <a:ext cx="16647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فريق تقني وFinOps</a:t>
            </a:r>
            <a:endParaRPr lang="en-US" sz="1250" dirty="0"/>
          </a:p>
        </p:txBody>
      </p:sp>
      <p:sp>
        <p:nvSpPr>
          <p:cNvPr id="70" name="Shape 59"/>
          <p:cNvSpPr/>
          <p:nvPr/>
        </p:nvSpPr>
        <p:spPr>
          <a:xfrm>
            <a:off x="457200" y="1554480"/>
            <a:ext cx="2167677" cy="3017520"/>
          </a:xfrm>
          <a:prstGeom prst="roundRect">
            <a:avLst>
              <a:gd name="adj" fmla="val 5906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71" name="Image 9" descr="/tmp/claude-0/-home-claude/750ff410-f4aa-5276-9360-1e19d018b112/scratchpad/c/assets/i-handshake-br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131101" y="1709928"/>
            <a:ext cx="310896" cy="310896"/>
          </a:xfrm>
          <a:prstGeom prst="rect">
            <a:avLst/>
          </a:prstGeom>
        </p:spPr>
      </p:pic>
      <p:sp>
        <p:nvSpPr>
          <p:cNvPr id="72" name="Text 60"/>
          <p:cNvSpPr txBox="1"/>
          <p:nvPr/>
        </p:nvSpPr>
        <p:spPr>
          <a:xfrm>
            <a:off x="594360" y="1682496"/>
            <a:ext cx="148187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الشراكات الرئيسية</a:t>
            </a:r>
            <a:endParaRPr lang="en-US" sz="1400" dirty="0"/>
          </a:p>
        </p:txBody>
      </p:sp>
      <p:sp>
        <p:nvSpPr>
          <p:cNvPr id="73" name="Shape 61"/>
          <p:cNvSpPr/>
          <p:nvPr/>
        </p:nvSpPr>
        <p:spPr>
          <a:xfrm>
            <a:off x="2350557" y="2295144"/>
            <a:ext cx="82296" cy="82296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74" name="Text 62"/>
          <p:cNvSpPr txBox="1"/>
          <p:nvPr/>
        </p:nvSpPr>
        <p:spPr>
          <a:xfrm>
            <a:off x="594360" y="2176272"/>
            <a:ext cx="16647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AWS وAzure وGCP</a:t>
            </a:r>
            <a:endParaRPr lang="en-US" sz="1350" dirty="0"/>
          </a:p>
        </p:txBody>
      </p:sp>
      <p:sp>
        <p:nvSpPr>
          <p:cNvPr id="75" name="Shape 63"/>
          <p:cNvSpPr/>
          <p:nvPr/>
        </p:nvSpPr>
        <p:spPr>
          <a:xfrm>
            <a:off x="2350557" y="2660904"/>
            <a:ext cx="82296" cy="82296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76" name="Text 64"/>
          <p:cNvSpPr txBox="1"/>
          <p:nvPr/>
        </p:nvSpPr>
        <p:spPr>
          <a:xfrm>
            <a:off x="594360" y="2542032"/>
            <a:ext cx="16647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STC وSCCC وCNTXT</a:t>
            </a:r>
            <a:endParaRPr lang="en-US" sz="1350" dirty="0"/>
          </a:p>
        </p:txBody>
      </p:sp>
      <p:sp>
        <p:nvSpPr>
          <p:cNvPr id="77" name="Shape 65"/>
          <p:cNvSpPr/>
          <p:nvPr/>
        </p:nvSpPr>
        <p:spPr>
          <a:xfrm>
            <a:off x="2350557" y="3026664"/>
            <a:ext cx="82296" cy="82296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78" name="Text 66"/>
          <p:cNvSpPr txBox="1"/>
          <p:nvPr/>
        </p:nvSpPr>
        <p:spPr>
          <a:xfrm>
            <a:off x="594360" y="2907792"/>
            <a:ext cx="16647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واتساب للأعمال</a:t>
            </a:r>
            <a:endParaRPr lang="en-US" sz="1350" dirty="0"/>
          </a:p>
        </p:txBody>
      </p:sp>
      <p:sp>
        <p:nvSpPr>
          <p:cNvPr id="79" name="Shape 67"/>
          <p:cNvSpPr/>
          <p:nvPr/>
        </p:nvSpPr>
        <p:spPr>
          <a:xfrm>
            <a:off x="6150712" y="4681728"/>
            <a:ext cx="5583784" cy="1417320"/>
          </a:xfrm>
          <a:prstGeom prst="roundRect">
            <a:avLst>
              <a:gd name="adj" fmla="val 9032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80" name="Image 10" descr="/tmp/claude-0/-home-claude/750ff410-f4aa-5276-9360-1e19d018b112/scratchpad/c/assets/i-coins-br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240719" y="4837176"/>
            <a:ext cx="310896" cy="310896"/>
          </a:xfrm>
          <a:prstGeom prst="rect">
            <a:avLst/>
          </a:prstGeom>
        </p:spPr>
      </p:pic>
      <p:sp>
        <p:nvSpPr>
          <p:cNvPr id="81" name="Text 68"/>
          <p:cNvSpPr txBox="1"/>
          <p:nvPr/>
        </p:nvSpPr>
        <p:spPr>
          <a:xfrm>
            <a:off x="6287872" y="4809744"/>
            <a:ext cx="489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مصادر الإيرادات</a:t>
            </a:r>
            <a:endParaRPr lang="en-US" sz="1400" dirty="0"/>
          </a:p>
        </p:txBody>
      </p:sp>
      <p:sp>
        <p:nvSpPr>
          <p:cNvPr id="82" name="Shape 69"/>
          <p:cNvSpPr/>
          <p:nvPr/>
        </p:nvSpPr>
        <p:spPr>
          <a:xfrm>
            <a:off x="11460175" y="5422392"/>
            <a:ext cx="82296" cy="82296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3" name="Text 70"/>
          <p:cNvSpPr txBox="1"/>
          <p:nvPr/>
        </p:nvSpPr>
        <p:spPr>
          <a:xfrm>
            <a:off x="6287872" y="5303520"/>
            <a:ext cx="5080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فحص أول مجاني · من 15 ريال لكل مورد</a:t>
            </a:r>
            <a:endParaRPr lang="en-US" sz="1350" dirty="0"/>
          </a:p>
        </p:txBody>
      </p:sp>
      <p:sp>
        <p:nvSpPr>
          <p:cNvPr id="84" name="Shape 71"/>
          <p:cNvSpPr/>
          <p:nvPr/>
        </p:nvSpPr>
        <p:spPr>
          <a:xfrm>
            <a:off x="11460175" y="5788152"/>
            <a:ext cx="82296" cy="82296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5" name="Text 72"/>
          <p:cNvSpPr txBox="1"/>
          <p:nvPr/>
        </p:nvSpPr>
        <p:spPr>
          <a:xfrm>
            <a:off x="6287872" y="5669280"/>
            <a:ext cx="5080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استشارات FinOps حسب المشروع</a:t>
            </a:r>
            <a:endParaRPr lang="en-US" sz="1350" dirty="0"/>
          </a:p>
        </p:txBody>
      </p:sp>
      <p:sp>
        <p:nvSpPr>
          <p:cNvPr id="86" name="Shape 73"/>
          <p:cNvSpPr/>
          <p:nvPr/>
        </p:nvSpPr>
        <p:spPr>
          <a:xfrm>
            <a:off x="457200" y="4681728"/>
            <a:ext cx="5583784" cy="1417320"/>
          </a:xfrm>
          <a:prstGeom prst="roundRect">
            <a:avLst>
              <a:gd name="adj" fmla="val 9032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87" name="Image 11" descr="/tmp/claude-0/-home-claude/750ff410-f4aa-5276-9360-1e19d018b112/scratchpad/c/assets/i-receipt-br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547208" y="4837176"/>
            <a:ext cx="310896" cy="310896"/>
          </a:xfrm>
          <a:prstGeom prst="rect">
            <a:avLst/>
          </a:prstGeom>
        </p:spPr>
      </p:pic>
      <p:sp>
        <p:nvSpPr>
          <p:cNvPr id="88" name="Text 74"/>
          <p:cNvSpPr txBox="1"/>
          <p:nvPr/>
        </p:nvSpPr>
        <p:spPr>
          <a:xfrm>
            <a:off x="594360" y="4809744"/>
            <a:ext cx="489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هيكل التكاليف</a:t>
            </a:r>
            <a:endParaRPr lang="en-US" sz="1400" dirty="0"/>
          </a:p>
        </p:txBody>
      </p:sp>
      <p:sp>
        <p:nvSpPr>
          <p:cNvPr id="89" name="Shape 75"/>
          <p:cNvSpPr/>
          <p:nvPr/>
        </p:nvSpPr>
        <p:spPr>
          <a:xfrm>
            <a:off x="5766664" y="5422392"/>
            <a:ext cx="82296" cy="82296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90" name="Text 76"/>
          <p:cNvSpPr txBox="1"/>
          <p:nvPr/>
        </p:nvSpPr>
        <p:spPr>
          <a:xfrm>
            <a:off x="594360" y="5303520"/>
            <a:ext cx="5080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الاستضافة والذكاء الاصطناعي</a:t>
            </a:r>
            <a:endParaRPr lang="en-US" sz="1350" dirty="0"/>
          </a:p>
        </p:txBody>
      </p:sp>
      <p:sp>
        <p:nvSpPr>
          <p:cNvPr id="91" name="Shape 77"/>
          <p:cNvSpPr/>
          <p:nvPr/>
        </p:nvSpPr>
        <p:spPr>
          <a:xfrm>
            <a:off x="5766664" y="5788152"/>
            <a:ext cx="82296" cy="82296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92" name="Text 78"/>
          <p:cNvSpPr txBox="1"/>
          <p:nvPr/>
        </p:nvSpPr>
        <p:spPr>
          <a:xfrm>
            <a:off x="594360" y="5669280"/>
            <a:ext cx="5080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الفريق والتطوير · التسويق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759391" y="987552"/>
            <a:ext cx="197510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759391" y="98755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قابلية التنفيذ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08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6172200" y="1691640"/>
            <a:ext cx="5562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كيف يمكن تنفيذ الحل في الوقت الحالي؟</a:t>
            </a:r>
            <a:endParaRPr lang="en-US" sz="2100" dirty="0"/>
          </a:p>
        </p:txBody>
      </p:sp>
      <p:sp>
        <p:nvSpPr>
          <p:cNvPr id="23" name="Shape 18"/>
          <p:cNvSpPr/>
          <p:nvPr/>
        </p:nvSpPr>
        <p:spPr>
          <a:xfrm>
            <a:off x="6172200" y="2423160"/>
            <a:ext cx="5562295" cy="1005840"/>
          </a:xfrm>
          <a:prstGeom prst="roundRect">
            <a:avLst>
              <a:gd name="adj" fmla="val 14545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10865815" y="260604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F1E4DF"/>
          </a:solidFill>
          <a:ln/>
        </p:spPr>
      </p:sp>
      <p:pic>
        <p:nvPicPr>
          <p:cNvPr id="25" name="Image 3" descr="/tmp/claude-0/-home-claude/750ff410-f4aa-5276-9360-1e19d018b112/scratchpad/c/assets/i-plug-b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2697480"/>
            <a:ext cx="457200" cy="45720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6446520" y="2423160"/>
            <a:ext cx="4236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ربط المنصة بحساب الشركة السحابي عبر API</a:t>
            </a:r>
            <a:endParaRPr lang="en-US" sz="1600" dirty="0"/>
          </a:p>
        </p:txBody>
      </p:sp>
      <p:sp>
        <p:nvSpPr>
          <p:cNvPr id="27" name="Shape 21"/>
          <p:cNvSpPr/>
          <p:nvPr/>
        </p:nvSpPr>
        <p:spPr>
          <a:xfrm>
            <a:off x="6172200" y="3611880"/>
            <a:ext cx="5562295" cy="1005840"/>
          </a:xfrm>
          <a:prstGeom prst="roundRect">
            <a:avLst>
              <a:gd name="adj" fmla="val 14545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10865815" y="379476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F1E4DF"/>
          </a:solidFill>
          <a:ln/>
        </p:spPr>
      </p:sp>
      <p:pic>
        <p:nvPicPr>
          <p:cNvPr id="29" name="Image 4" descr="/tmp/claude-0/-home-claude/750ff410-f4aa-5276-9360-1e19d018b112/scratchpad/c/assets/i-bot-b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57255" y="3886200"/>
            <a:ext cx="457200" cy="45720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6446520" y="3611880"/>
            <a:ext cx="4236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نموذج ذكاء اصطناعي يمسح البنية فوراً ويطابقها مع أفضل الممارسات ويحلل الأحمال</a:t>
            </a:r>
            <a:endParaRPr lang="en-US" sz="1600" dirty="0"/>
          </a:p>
        </p:txBody>
      </p:sp>
      <p:sp>
        <p:nvSpPr>
          <p:cNvPr id="31" name="Shape 24"/>
          <p:cNvSpPr/>
          <p:nvPr/>
        </p:nvSpPr>
        <p:spPr>
          <a:xfrm>
            <a:off x="6172200" y="4800600"/>
            <a:ext cx="5562295" cy="1005840"/>
          </a:xfrm>
          <a:prstGeom prst="roundRect">
            <a:avLst>
              <a:gd name="adj" fmla="val 14545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10865815" y="498348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F1E4DF"/>
          </a:solidFill>
          <a:ln/>
        </p:spPr>
      </p:sp>
      <p:pic>
        <p:nvPicPr>
          <p:cNvPr id="33" name="Image 5" descr="/tmp/claude-0/-home-claude/750ff410-f4aa-5276-9360-1e19d018b112/scratchpad/c/assets/i-check-b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57255" y="5074920"/>
            <a:ext cx="457200" cy="457200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446520" y="4800600"/>
            <a:ext cx="4236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زر تفاعلي بضغطة واحدة لإيقاف المورد أو تقليصه عبر API</a:t>
            </a:r>
            <a:endParaRPr lang="en-US" sz="1600" dirty="0"/>
          </a:p>
        </p:txBody>
      </p:sp>
      <p:sp>
        <p:nvSpPr>
          <p:cNvPr id="35" name="Shape 27"/>
          <p:cNvSpPr/>
          <p:nvPr/>
        </p:nvSpPr>
        <p:spPr>
          <a:xfrm>
            <a:off x="457200" y="1691640"/>
            <a:ext cx="5257800" cy="4114800"/>
          </a:xfrm>
          <a:prstGeom prst="roundRect">
            <a:avLst>
              <a:gd name="adj" fmla="val 4444"/>
            </a:avLst>
          </a:prstGeom>
          <a:solidFill>
            <a:srgbClr val="8E2F3C"/>
          </a:solidFill>
          <a:ln/>
        </p:spPr>
      </p:sp>
      <p:sp>
        <p:nvSpPr>
          <p:cNvPr id="36" name="Text 28"/>
          <p:cNvSpPr txBox="1"/>
          <p:nvPr/>
        </p:nvSpPr>
        <p:spPr>
          <a:xfrm>
            <a:off x="777240" y="192024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ما التقنيات المتوفرة لتنفيذه؟</a:t>
            </a:r>
            <a:endParaRPr lang="en-US" sz="2100" dirty="0"/>
          </a:p>
        </p:txBody>
      </p:sp>
      <p:sp>
        <p:nvSpPr>
          <p:cNvPr id="37" name="Shape 29"/>
          <p:cNvSpPr/>
          <p:nvPr/>
        </p:nvSpPr>
        <p:spPr>
          <a:xfrm>
            <a:off x="777240" y="2651760"/>
            <a:ext cx="4617720" cy="804672"/>
          </a:xfrm>
          <a:prstGeom prst="roundRect">
            <a:avLst>
              <a:gd name="adj" fmla="val 15909"/>
            </a:avLst>
          </a:prstGeom>
          <a:solidFill>
            <a:srgbClr val="FBF6EE"/>
          </a:solidFill>
          <a:ln/>
        </p:spPr>
      </p:sp>
      <p:pic>
        <p:nvPicPr>
          <p:cNvPr id="38" name="Image 6" descr="/tmp/claude-0/-home-claude/750ff410-f4aa-5276-9360-1e19d018b112/scratchpad/c/assets/i-cloud-b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54880" y="2825496"/>
            <a:ext cx="457200" cy="457200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1005840" y="2651760"/>
            <a:ext cx="3657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 APIs</a:t>
            </a:r>
            <a:endParaRPr lang="en-US" sz="1800" dirty="0"/>
          </a:p>
        </p:txBody>
      </p:sp>
      <p:sp>
        <p:nvSpPr>
          <p:cNvPr id="40" name="Shape 31"/>
          <p:cNvSpPr/>
          <p:nvPr/>
        </p:nvSpPr>
        <p:spPr>
          <a:xfrm>
            <a:off x="777240" y="3639312"/>
            <a:ext cx="4617720" cy="804672"/>
          </a:xfrm>
          <a:prstGeom prst="roundRect">
            <a:avLst>
              <a:gd name="adj" fmla="val 15909"/>
            </a:avLst>
          </a:prstGeom>
          <a:solidFill>
            <a:srgbClr val="FBF6EE"/>
          </a:solidFill>
          <a:ln/>
        </p:spPr>
      </p:sp>
      <p:pic>
        <p:nvPicPr>
          <p:cNvPr id="41" name="Image 7" descr="/tmp/claude-0/-home-claude/750ff410-f4aa-5276-9360-1e19d018b112/scratchpad/c/assets/i-brain-br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54880" y="3813048"/>
            <a:ext cx="457200" cy="457200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1005840" y="3639312"/>
            <a:ext cx="3657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AI Models</a:t>
            </a:r>
            <a:endParaRPr lang="en-US" sz="1800" dirty="0"/>
          </a:p>
        </p:txBody>
      </p:sp>
      <p:sp>
        <p:nvSpPr>
          <p:cNvPr id="43" name="Shape 33"/>
          <p:cNvSpPr/>
          <p:nvPr/>
        </p:nvSpPr>
        <p:spPr>
          <a:xfrm>
            <a:off x="777240" y="4626864"/>
            <a:ext cx="4617720" cy="804672"/>
          </a:xfrm>
          <a:prstGeom prst="roundRect">
            <a:avLst>
              <a:gd name="adj" fmla="val 15909"/>
            </a:avLst>
          </a:prstGeom>
          <a:solidFill>
            <a:srgbClr val="FBF6EE"/>
          </a:solidFill>
          <a:ln/>
        </p:spPr>
      </p:sp>
      <p:pic>
        <p:nvPicPr>
          <p:cNvPr id="44" name="Image 8" descr="/tmp/claude-0/-home-claude/750ff410-f4aa-5276-9360-1e19d018b112/scratchpad/c/assets/i-code-br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54880" y="4800600"/>
            <a:ext cx="457200" cy="457200"/>
          </a:xfrm>
          <a:prstGeom prst="rect">
            <a:avLst/>
          </a:prstGeom>
        </p:spPr>
      </p:pic>
      <p:sp>
        <p:nvSpPr>
          <p:cNvPr id="45" name="Text 34"/>
          <p:cNvSpPr txBox="1"/>
          <p:nvPr/>
        </p:nvSpPr>
        <p:spPr>
          <a:xfrm>
            <a:off x="1005840" y="4626864"/>
            <a:ext cx="3657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أدوات تطوير الواجهات والمواقع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759391" y="987552"/>
            <a:ext cx="197510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759391" y="98755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النموذج الأولي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09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60020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يعمل الآن، جرّبه بنفسك</a:t>
            </a:r>
            <a:endParaRPr lang="en-US" sz="3400" dirty="0"/>
          </a:p>
        </p:txBody>
      </p:sp>
      <p:pic>
        <p:nvPicPr>
          <p:cNvPr id="23" name="Image 3" descr="/tmp/claude-0/-home-claude/750ff410-f4aa-5276-9360-1e19d018b112/scratchpad/c/assets/m-lap-her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6655" y="2514600"/>
            <a:ext cx="5577840" cy="3420196"/>
          </a:xfrm>
          <a:prstGeom prst="rect">
            <a:avLst/>
          </a:prstGeom>
        </p:spPr>
      </p:pic>
      <p:pic>
        <p:nvPicPr>
          <p:cNvPr id="24" name="Image 4" descr="/tmp/claude-0/-home-claude/750ff410-f4aa-5276-9360-1e19d018b112/scratchpad/c/assets/m-ph-star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90163" y="2697480"/>
            <a:ext cx="1569412" cy="324612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640080" y="2606040"/>
            <a:ext cx="2651760" cy="3246120"/>
          </a:xfrm>
          <a:prstGeom prst="roundRect">
            <a:avLst>
              <a:gd name="adj" fmla="val 6207"/>
            </a:avLst>
          </a:prstGeom>
          <a:solidFill>
            <a:srgbClr val="8E2F3C"/>
          </a:solidFill>
          <a:ln/>
        </p:spPr>
      </p:sp>
      <p:sp>
        <p:nvSpPr>
          <p:cNvPr id="26" name="Shape 19"/>
          <p:cNvSpPr/>
          <p:nvPr/>
        </p:nvSpPr>
        <p:spPr>
          <a:xfrm>
            <a:off x="822960" y="2788920"/>
            <a:ext cx="2286000" cy="2286000"/>
          </a:xfrm>
          <a:prstGeom prst="roundRect">
            <a:avLst>
              <a:gd name="adj" fmla="val 4800"/>
            </a:avLst>
          </a:prstGeom>
          <a:solidFill>
            <a:srgbClr val="FFFBF8"/>
          </a:solidFill>
          <a:ln/>
        </p:spPr>
      </p:sp>
      <p:pic>
        <p:nvPicPr>
          <p:cNvPr id="27" name="Image 5" descr="/tmp/claude-0/-home-claude/750ff410-f4aa-5276-9360-1e19d018b112/scratchpad/c/assets/q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2880360"/>
            <a:ext cx="2103120" cy="210312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640080" y="52120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امسح وجرّب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8918143" y="987552"/>
            <a:ext cx="2816352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8918143" y="987552"/>
            <a:ext cx="2816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الأثر والقيمة المتوقعة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10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60020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أثر بالأرقام</a:t>
            </a:r>
            <a:endParaRPr lang="en-US" sz="3400" dirty="0"/>
          </a:p>
        </p:txBody>
      </p:sp>
      <p:sp>
        <p:nvSpPr>
          <p:cNvPr id="23" name="Shape 18"/>
          <p:cNvSpPr/>
          <p:nvPr/>
        </p:nvSpPr>
        <p:spPr>
          <a:xfrm>
            <a:off x="8188757" y="269748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4" name="Image 3" descr="/tmp/claude-0/-home-claude/750ff410-f4aa-5276-9360-1e19d018b112/scratchpad/c/assets/i-wallet-b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87306" y="2971800"/>
            <a:ext cx="548640" cy="54864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188757" y="356616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10.8%</a:t>
            </a:r>
            <a:endParaRPr lang="en-US" sz="5400" dirty="0"/>
          </a:p>
        </p:txBody>
      </p:sp>
      <p:sp>
        <p:nvSpPr>
          <p:cNvPr id="26" name="Text 20"/>
          <p:cNvSpPr txBox="1"/>
          <p:nvPr/>
        </p:nvSpPr>
        <p:spPr>
          <a:xfrm>
            <a:off x="8463077" y="448056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توفير من الفاتورة</a:t>
            </a:r>
            <a:endParaRPr lang="en-US" sz="1800" dirty="0"/>
          </a:p>
        </p:txBody>
      </p:sp>
      <p:sp>
        <p:nvSpPr>
          <p:cNvPr id="27" name="Shape 21"/>
          <p:cNvSpPr/>
          <p:nvPr/>
        </p:nvSpPr>
        <p:spPr>
          <a:xfrm>
            <a:off x="4322978" y="269748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8E2F3C"/>
          </a:solidFill>
          <a:ln/>
        </p:spPr>
      </p:sp>
      <p:pic>
        <p:nvPicPr>
          <p:cNvPr id="28" name="Image 4" descr="/tmp/claude-0/-home-claude/750ff410-f4aa-5276-9360-1e19d018b112/scratchpad/c/assets/i-trend-c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1528" y="2971800"/>
            <a:ext cx="548640" cy="54864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4322978" y="356616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110K</a:t>
            </a:r>
            <a:endParaRPr lang="en-US" sz="5400" dirty="0"/>
          </a:p>
        </p:txBody>
      </p:sp>
      <p:sp>
        <p:nvSpPr>
          <p:cNvPr id="30" name="Text 23"/>
          <p:cNvSpPr txBox="1"/>
          <p:nvPr/>
        </p:nvSpPr>
        <p:spPr>
          <a:xfrm>
            <a:off x="4597298" y="448056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ريال سنوياً</a:t>
            </a:r>
            <a:endParaRPr lang="en-US" sz="1800" dirty="0"/>
          </a:p>
        </p:txBody>
      </p:sp>
      <p:sp>
        <p:nvSpPr>
          <p:cNvPr id="31" name="Shape 24"/>
          <p:cNvSpPr/>
          <p:nvPr/>
        </p:nvSpPr>
        <p:spPr>
          <a:xfrm>
            <a:off x="457200" y="269748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32" name="Image 5" descr="/tmp/claude-0/-home-claude/750ff410-f4aa-5276-9360-1e19d018b112/scratchpad/c/assets/i-clock-b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55749" y="2971800"/>
            <a:ext cx="548640" cy="54864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457200" y="356616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دقائق</a:t>
            </a:r>
            <a:endParaRPr lang="en-US" sz="5400" dirty="0"/>
          </a:p>
        </p:txBody>
      </p:sp>
      <p:sp>
        <p:nvSpPr>
          <p:cNvPr id="34" name="Text 26"/>
          <p:cNvSpPr txBox="1"/>
          <p:nvPr/>
        </p:nvSpPr>
        <p:spPr>
          <a:xfrm>
            <a:off x="731520" y="448056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بدل أسابيع</a:t>
            </a:r>
            <a:endParaRPr lang="en-US" sz="1800" dirty="0"/>
          </a:p>
        </p:txBody>
      </p:sp>
      <p:sp>
        <p:nvSpPr>
          <p:cNvPr id="35" name="Text 27"/>
          <p:cNvSpPr txBox="1"/>
          <p:nvPr/>
        </p:nvSpPr>
        <p:spPr>
          <a:xfrm>
            <a:off x="457200" y="534924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مثال: شركة افتراضية من 120 موظفاً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759391" y="987552"/>
            <a:ext cx="197510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759391" y="98755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الخطوة التالية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11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60020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ما بعد التحدي</a:t>
            </a:r>
            <a:endParaRPr lang="en-US" sz="3400" dirty="0"/>
          </a:p>
        </p:txBody>
      </p:sp>
      <p:sp>
        <p:nvSpPr>
          <p:cNvPr id="23" name="Shape 18"/>
          <p:cNvSpPr/>
          <p:nvPr/>
        </p:nvSpPr>
        <p:spPr>
          <a:xfrm>
            <a:off x="8188757" y="2697480"/>
            <a:ext cx="3545738" cy="1920240"/>
          </a:xfrm>
          <a:prstGeom prst="roundRect">
            <a:avLst>
              <a:gd name="adj" fmla="val 9524"/>
            </a:avLst>
          </a:prstGeom>
          <a:solidFill>
            <a:srgbClr val="8E2F3C"/>
          </a:solidFill>
          <a:ln/>
        </p:spPr>
      </p:sp>
      <p:pic>
        <p:nvPicPr>
          <p:cNvPr id="24" name="Image 3" descr="/tmp/claude-0/-home-claude/750ff410-f4aa-5276-9360-1e19d018b112/scratchpad/c/assets/i-scale-c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8726" y="3017520"/>
            <a:ext cx="685800" cy="68580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188757" y="3886200"/>
            <a:ext cx="35457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2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مقارنة السحابات</a:t>
            </a:r>
            <a:endParaRPr lang="en-US" sz="2200" dirty="0"/>
          </a:p>
        </p:txBody>
      </p:sp>
      <p:sp>
        <p:nvSpPr>
          <p:cNvPr id="26" name="Shape 20"/>
          <p:cNvSpPr/>
          <p:nvPr/>
        </p:nvSpPr>
        <p:spPr>
          <a:xfrm>
            <a:off x="4322978" y="2697480"/>
            <a:ext cx="3545738" cy="1920240"/>
          </a:xfrm>
          <a:prstGeom prst="roundRect">
            <a:avLst>
              <a:gd name="adj" fmla="val 9524"/>
            </a:avLst>
          </a:prstGeom>
          <a:solidFill>
            <a:srgbClr val="8E2F3C"/>
          </a:solidFill>
          <a:ln/>
        </p:spPr>
      </p:sp>
      <p:pic>
        <p:nvPicPr>
          <p:cNvPr id="27" name="Image 4" descr="/tmp/claude-0/-home-claude/750ff410-f4aa-5276-9360-1e19d018b112/scratchpad/c/assets/i-server-c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52948" y="3017520"/>
            <a:ext cx="685800" cy="6858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322978" y="3886200"/>
            <a:ext cx="35457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2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البنية الهجينة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457200" y="2697480"/>
            <a:ext cx="3545738" cy="1920240"/>
          </a:xfrm>
          <a:prstGeom prst="roundRect">
            <a:avLst>
              <a:gd name="adj" fmla="val 9524"/>
            </a:avLst>
          </a:prstGeom>
          <a:solidFill>
            <a:srgbClr val="8E2F3C"/>
          </a:solidFill>
          <a:ln/>
        </p:spPr>
      </p:sp>
      <p:pic>
        <p:nvPicPr>
          <p:cNvPr id="30" name="Image 5" descr="/tmp/claude-0/-home-claude/750ff410-f4aa-5276-9360-1e19d018b112/scratchpad/c/assets/i-bell-c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87169" y="3017520"/>
            <a:ext cx="685800" cy="68580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457200" y="3886200"/>
            <a:ext cx="35457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2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إنذار مبكر 24/7</a:t>
            </a:r>
            <a:endParaRPr lang="en-US" sz="2200" dirty="0"/>
          </a:p>
        </p:txBody>
      </p:sp>
      <p:sp>
        <p:nvSpPr>
          <p:cNvPr id="32" name="Text 24"/>
          <p:cNvSpPr txBox="1"/>
          <p:nvPr/>
        </p:nvSpPr>
        <p:spPr>
          <a:xfrm>
            <a:off x="457200" y="502920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نحتاج: توجيه خبراء · شريك سحابي محلي · 10 شركات للتجربة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10600639" y="987552"/>
            <a:ext cx="1133856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10600639" y="987552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الختام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12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8442655" y="1600200"/>
            <a:ext cx="3291840" cy="4069080"/>
          </a:xfrm>
          <a:prstGeom prst="roundRect">
            <a:avLst>
              <a:gd name="adj" fmla="val 5556"/>
            </a:avLst>
          </a:prstGeom>
          <a:solidFill>
            <a:srgbClr val="8E2F3C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442655" y="17830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9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جرّب CloudTrim</a:t>
            </a:r>
            <a:endParaRPr lang="en-US" sz="1900" dirty="0"/>
          </a:p>
        </p:txBody>
      </p:sp>
      <p:sp>
        <p:nvSpPr>
          <p:cNvPr id="24" name="Shape 19"/>
          <p:cNvSpPr/>
          <p:nvPr/>
        </p:nvSpPr>
        <p:spPr>
          <a:xfrm>
            <a:off x="8854135" y="2331720"/>
            <a:ext cx="2468880" cy="2468880"/>
          </a:xfrm>
          <a:prstGeom prst="roundRect">
            <a:avLst>
              <a:gd name="adj" fmla="val 5185"/>
            </a:avLst>
          </a:prstGeom>
          <a:solidFill>
            <a:srgbClr val="FFFBF8"/>
          </a:solidFill>
          <a:ln/>
        </p:spPr>
      </p:sp>
      <p:pic>
        <p:nvPicPr>
          <p:cNvPr id="25" name="Image 3" descr="/tmp/claude-0/-home-claude/750ff410-f4aa-5276-9360-1e19d018b112/scratchpad/c/assets/q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1295" y="2468880"/>
            <a:ext cx="2194560" cy="2194560"/>
          </a:xfrm>
          <a:prstGeom prst="rect">
            <a:avLst/>
          </a:prstGeom>
        </p:spPr>
      </p:pic>
      <p:sp>
        <p:nvSpPr>
          <p:cNvPr id="26" name="Text 20">
            <a:hlinkClick r:id="rId5" tooltip=""/>
          </p:cNvPr>
          <p:cNvSpPr txBox="1"/>
          <p:nvPr/>
        </p:nvSpPr>
        <p:spPr>
          <a:xfrm>
            <a:off x="8442655" y="502920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cloudtrim-sa.vercel.app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457200" y="2194560"/>
            <a:ext cx="75282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60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شكراً لكم</a:t>
            </a:r>
            <a:endParaRPr lang="en-US" sz="6000" dirty="0"/>
          </a:p>
        </p:txBody>
      </p:sp>
      <p:sp>
        <p:nvSpPr>
          <p:cNvPr id="28" name="Text 22"/>
          <p:cNvSpPr txBox="1"/>
          <p:nvPr/>
        </p:nvSpPr>
        <p:spPr>
          <a:xfrm>
            <a:off x="457200" y="3337560"/>
            <a:ext cx="7528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وفّر في سحابتك… والقرار بيدك.</a:t>
            </a:r>
            <a:endParaRPr lang="en-US" sz="2600" dirty="0"/>
          </a:p>
        </p:txBody>
      </p:sp>
      <p:sp>
        <p:nvSpPr>
          <p:cNvPr id="29" name="Text 23"/>
          <p:cNvSpPr txBox="1"/>
          <p:nvPr/>
        </p:nvSpPr>
        <p:spPr>
          <a:xfrm>
            <a:off x="457200" y="3886200"/>
            <a:ext cx="7528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Trim the cloud, keep the control.</a:t>
            </a:r>
            <a:endParaRPr lang="en-US" sz="1600" dirty="0"/>
          </a:p>
        </p:txBody>
      </p:sp>
      <p:pic>
        <p:nvPicPr>
          <p:cNvPr id="30" name="Image 4" descr="/tmp/claude-0/-home-claude/750ff410-f4aa-5276-9360-1e19d018b112/scratchpad/c/assets/sponsors-in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5532120"/>
            <a:ext cx="3352800" cy="457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BM Plex Sans Arab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BM Plex Sans Arab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CloudTrim · SSB · VentureX</dc:title>
  <dc:subject>PptxGenJS Presentation</dc:subject>
  <dc:creator>SSB</dc:creator>
  <cp:lastModifiedBy>SSB</cp:lastModifiedBy>
  <cp:revision>1</cp:revision>
  <dcterms:created xsi:type="dcterms:W3CDTF">2026-10-03T10:18:38Z</dcterms:created>
  <dcterms:modified xsi:type="dcterms:W3CDTF">2026-10-03T10:18:38Z</dcterms:modified>
</cp:coreProperties>
</file>