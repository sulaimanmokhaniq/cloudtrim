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6" Type="http://schemas.openxmlformats.org/officeDocument/2006/relationships/image" Target="../media/image-11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0390327" y="443484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390327" y="443484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8515807" y="44348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515807" y="4434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7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8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4" name="Text 26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صامت في فاتورة السحابة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wallet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01752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مهدر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tren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0175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تجاوز للميزانية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server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01752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أعطال سببها خطأ بشري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ولا يوجد مختص FinOps في الشركات المتوسطة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Flexera State of the Cloud 2026 · Uptime Institute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يكتشف الهدر… وأنت تقرّر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1167567" y="274320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11167567" y="2743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6766560" y="265176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نربط حسابك السحابي بصلاحية قراءة فقط</a:t>
            </a:r>
            <a:endParaRPr lang="en-US" sz="2000" dirty="0"/>
          </a:p>
        </p:txBody>
      </p:sp>
      <p:sp>
        <p:nvSpPr>
          <p:cNvPr id="26" name="Shape 21"/>
          <p:cNvSpPr/>
          <p:nvPr/>
        </p:nvSpPr>
        <p:spPr>
          <a:xfrm>
            <a:off x="11167567" y="374904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11167567" y="3749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365760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يكتشف الهدر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11167567" y="475488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1167567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2000" dirty="0"/>
          </a:p>
        </p:txBody>
      </p:sp>
      <p:sp>
        <p:nvSpPr>
          <p:cNvPr id="31" name="Text 26"/>
          <p:cNvSpPr txBox="1"/>
          <p:nvPr/>
        </p:nvSpPr>
        <p:spPr>
          <a:xfrm>
            <a:off x="6766560" y="466344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توافق بنقرة واحدة… وتوفّر</a:t>
            </a:r>
            <a:endParaRPr lang="en-US" sz="2000" dirty="0"/>
          </a:p>
        </p:txBody>
      </p:sp>
      <p:pic>
        <p:nvPicPr>
          <p:cNvPr id="32" name="Image 3" descr="/tmp/claude-0/-home-claude/750ff410-f4aa-5276-9360-1e19d018b112/scratchpad/c/assets/m-lap-dem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14600"/>
            <a:ext cx="5852160" cy="3588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مقابل أدوات المزودين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6601968" y="2468880"/>
            <a:ext cx="1371600" cy="3337560"/>
          </a:xfrm>
          <a:prstGeom prst="roundRect">
            <a:avLst>
              <a:gd name="adj" fmla="val 9333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528816" y="2514600"/>
            <a:ext cx="1517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010912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10912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3493008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Google Cloud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493008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1975104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Microsoft Azure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975104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457200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Oracle Cloud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8229600" y="2514600"/>
            <a:ext cx="3504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457200" y="320040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229600" y="3200400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114032" y="3282696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114032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5596128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596128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078224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078224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2560320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56032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1042416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1042416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457200" y="371246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29600" y="3712464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السحابات في لوحة واحدة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7114032" y="3794760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114032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50" name="Shape 45"/>
          <p:cNvSpPr/>
          <p:nvPr/>
        </p:nvSpPr>
        <p:spPr>
          <a:xfrm>
            <a:off x="5596128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5596128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2" name="Shape 47"/>
          <p:cNvSpPr/>
          <p:nvPr/>
        </p:nvSpPr>
        <p:spPr>
          <a:xfrm>
            <a:off x="4078224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4078224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4" name="Shape 49"/>
          <p:cNvSpPr/>
          <p:nvPr/>
        </p:nvSpPr>
        <p:spPr>
          <a:xfrm>
            <a:off x="2560320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2560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6" name="Shape 51"/>
          <p:cNvSpPr/>
          <p:nvPr/>
        </p:nvSpPr>
        <p:spPr>
          <a:xfrm>
            <a:off x="1042416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1042416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8" name="Shape 53"/>
          <p:cNvSpPr/>
          <p:nvPr/>
        </p:nvSpPr>
        <p:spPr>
          <a:xfrm>
            <a:off x="457200" y="422452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8229600" y="4224528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بنقرة بعد موافقتك</a:t>
            </a:r>
            <a:endParaRPr lang="en-US" sz="1500" dirty="0"/>
          </a:p>
        </p:txBody>
      </p:sp>
      <p:sp>
        <p:nvSpPr>
          <p:cNvPr id="60" name="Shape 55"/>
          <p:cNvSpPr/>
          <p:nvPr/>
        </p:nvSpPr>
        <p:spPr>
          <a:xfrm>
            <a:off x="7114032" y="4306824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7114032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2" name="Shape 57"/>
          <p:cNvSpPr/>
          <p:nvPr/>
        </p:nvSpPr>
        <p:spPr>
          <a:xfrm>
            <a:off x="5596128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5596128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4" name="Shape 59"/>
          <p:cNvSpPr/>
          <p:nvPr/>
        </p:nvSpPr>
        <p:spPr>
          <a:xfrm>
            <a:off x="4078224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407822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6" name="Shape 61"/>
          <p:cNvSpPr/>
          <p:nvPr/>
        </p:nvSpPr>
        <p:spPr>
          <a:xfrm>
            <a:off x="2560320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25603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8" name="Shape 63"/>
          <p:cNvSpPr/>
          <p:nvPr/>
        </p:nvSpPr>
        <p:spPr>
          <a:xfrm>
            <a:off x="1042416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1042416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70" name="Shape 65"/>
          <p:cNvSpPr/>
          <p:nvPr/>
        </p:nvSpPr>
        <p:spPr>
          <a:xfrm>
            <a:off x="457200" y="473659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8229600" y="4736592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500" dirty="0"/>
          </a:p>
        </p:txBody>
      </p:sp>
      <p:sp>
        <p:nvSpPr>
          <p:cNvPr id="72" name="Shape 67"/>
          <p:cNvSpPr/>
          <p:nvPr/>
        </p:nvSpPr>
        <p:spPr>
          <a:xfrm>
            <a:off x="7114032" y="4818888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7114032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5596128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5596128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Shape 71"/>
          <p:cNvSpPr/>
          <p:nvPr/>
        </p:nvSpPr>
        <p:spPr>
          <a:xfrm>
            <a:off x="4078224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4078224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8" name="Shape 73"/>
          <p:cNvSpPr/>
          <p:nvPr/>
        </p:nvSpPr>
        <p:spPr>
          <a:xfrm>
            <a:off x="2560320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2560320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0" name="Shape 75"/>
          <p:cNvSpPr/>
          <p:nvPr/>
        </p:nvSpPr>
        <p:spPr>
          <a:xfrm>
            <a:off x="1042416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1042416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2" name="Shape 77"/>
          <p:cNvSpPr/>
          <p:nvPr/>
        </p:nvSpPr>
        <p:spPr>
          <a:xfrm>
            <a:off x="457200" y="524865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8229600" y="5248656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مناسب للشركات المتوسطة</a:t>
            </a:r>
            <a:endParaRPr lang="en-US" sz="1500" dirty="0"/>
          </a:p>
        </p:txBody>
      </p:sp>
      <p:sp>
        <p:nvSpPr>
          <p:cNvPr id="84" name="Shape 79"/>
          <p:cNvSpPr/>
          <p:nvPr/>
        </p:nvSpPr>
        <p:spPr>
          <a:xfrm>
            <a:off x="7114032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114032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6" name="Shape 81"/>
          <p:cNvSpPr/>
          <p:nvPr/>
        </p:nvSpPr>
        <p:spPr>
          <a:xfrm>
            <a:off x="5596128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5596128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8" name="Shape 83"/>
          <p:cNvSpPr/>
          <p:nvPr/>
        </p:nvSpPr>
        <p:spPr>
          <a:xfrm>
            <a:off x="4078224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4078224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0" name="Shape 85"/>
          <p:cNvSpPr/>
          <p:nvPr/>
        </p:nvSpPr>
        <p:spPr>
          <a:xfrm>
            <a:off x="2560320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256032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2" name="Shape 87"/>
          <p:cNvSpPr/>
          <p:nvPr/>
        </p:nvSpPr>
        <p:spPr>
          <a:xfrm>
            <a:off x="1042416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42416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4" name="Shape 89"/>
          <p:cNvSpPr/>
          <p:nvPr/>
        </p:nvSpPr>
        <p:spPr>
          <a:xfrm>
            <a:off x="11551615" y="5943600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86581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96" name="Shape 91"/>
          <p:cNvSpPr/>
          <p:nvPr/>
        </p:nvSpPr>
        <p:spPr>
          <a:xfrm>
            <a:off x="10591495" y="5943600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990569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98" name="Shape 93"/>
          <p:cNvSpPr/>
          <p:nvPr/>
        </p:nvSpPr>
        <p:spPr>
          <a:xfrm>
            <a:off x="9631375" y="5943600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94557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331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FinOps، وفاتورتها عشرات الآلاف شهرياً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188757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/tmp/claude-0/-home-claude/750ff410-f4aa-5276-9360-1e19d018b112/scratchpad/c/assets/i-buildin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33756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88757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50-250</a:t>
            </a:r>
            <a:endParaRPr lang="en-US" sz="4600" dirty="0"/>
          </a:p>
        </p:txBody>
      </p:sp>
      <p:sp>
        <p:nvSpPr>
          <p:cNvPr id="27" name="Text 21"/>
          <p:cNvSpPr txBox="1"/>
          <p:nvPr/>
        </p:nvSpPr>
        <p:spPr>
          <a:xfrm>
            <a:off x="8463077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322978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4"/>
          <p:cNvSpPr txBox="1"/>
          <p:nvPr/>
        </p:nvSpPr>
        <p:spPr>
          <a:xfrm>
            <a:off x="4597298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السحابة السعودي 2025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457200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33" name="Image 5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33756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7200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46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2030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MarketsandMarkets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691640"/>
            <a:ext cx="5562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يمكن تنفيذ الحل في الوقت الحالي؟</a:t>
            </a:r>
            <a:endParaRPr lang="en-US" sz="2100" dirty="0"/>
          </a:p>
        </p:txBody>
      </p:sp>
      <p:sp>
        <p:nvSpPr>
          <p:cNvPr id="23" name="Shape 18"/>
          <p:cNvSpPr/>
          <p:nvPr/>
        </p:nvSpPr>
        <p:spPr>
          <a:xfrm>
            <a:off x="6172200" y="242316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865815" y="26060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5" name="Image 3" descr="/tmp/claude-0/-home-claude/750ff410-f4aa-5276-9360-1e19d018b112/scratchpad/c/assets/i-plu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697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46520" y="242316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المنصة بحساب الشركة السحابي عبر API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172200" y="361188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865815" y="3794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9" name="Image 4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388620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446520" y="361188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 يمسح البنية فوراً ويطابقها مع أفضل الممارسات ويحلل الأحمال</a:t>
            </a:r>
            <a:endParaRPr lang="en-US" sz="1600" dirty="0"/>
          </a:p>
        </p:txBody>
      </p:sp>
      <p:sp>
        <p:nvSpPr>
          <p:cNvPr id="31" name="Shape 24"/>
          <p:cNvSpPr/>
          <p:nvPr/>
        </p:nvSpPr>
        <p:spPr>
          <a:xfrm>
            <a:off x="6172200" y="480060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10865815" y="498348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33" name="Image 5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507492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46520" y="480060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تفاعلي بضغطة واحدة لإيقاف المورد أو تقليصه عبر API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457200" y="1691640"/>
            <a:ext cx="5257800" cy="411480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1920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التقنيات المتوفرة لتنفيذه؟</a:t>
            </a:r>
            <a:endParaRPr lang="en-US" sz="2100" dirty="0"/>
          </a:p>
        </p:txBody>
      </p:sp>
      <p:sp>
        <p:nvSpPr>
          <p:cNvPr id="37" name="Shape 29"/>
          <p:cNvSpPr/>
          <p:nvPr/>
        </p:nvSpPr>
        <p:spPr>
          <a:xfrm>
            <a:off x="777240" y="2651760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38" name="Image 6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825496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005840" y="2651760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777240" y="3639312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1" name="Image 7" descr="/tmp/claude-0/-home-claude/750ff410-f4aa-5276-9360-1e19d018b112/scratchpad/c/assets/i-brain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813048"/>
            <a:ext cx="457200" cy="4572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05840" y="3639312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 Models</a:t>
            </a:r>
            <a:endParaRPr lang="en-US" sz="1800" dirty="0"/>
          </a:p>
        </p:txBody>
      </p:sp>
      <p:sp>
        <p:nvSpPr>
          <p:cNvPr id="43" name="Shape 33"/>
          <p:cNvSpPr/>
          <p:nvPr/>
        </p:nvSpPr>
        <p:spPr>
          <a:xfrm>
            <a:off x="777240" y="4626864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4" name="Image 8" descr="/tmp/claude-0/-home-claude/750ff410-f4aa-5276-9360-1e19d018b112/scratchpad/c/assets/i-code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4800600"/>
            <a:ext cx="457200" cy="4572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1005840" y="4626864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تطوير الواجهات والمواقع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يعمل الآن، جرّبه بنفسك</a:t>
            </a:r>
            <a:endParaRPr lang="en-US" sz="3400" dirty="0"/>
          </a:p>
        </p:txBody>
      </p:sp>
      <p:pic>
        <p:nvPicPr>
          <p:cNvPr id="23" name="Image 3" descr="/tmp/claude-0/-home-claude/750ff410-f4aa-5276-9360-1e19d018b112/scratchpad/c/assets/m-lap-her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6655" y="2514600"/>
            <a:ext cx="5577840" cy="3420196"/>
          </a:xfrm>
          <a:prstGeom prst="rect">
            <a:avLst/>
          </a:prstGeom>
        </p:spPr>
      </p:pic>
      <p:pic>
        <p:nvPicPr>
          <p:cNvPr id="24" name="Image 4" descr="/tmp/claude-0/-home-claude/750ff410-f4aa-5276-9360-1e19d018b112/scratchpad/c/assets/m-ph-st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163" y="2697480"/>
            <a:ext cx="1569412" cy="324612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0080" y="2606040"/>
            <a:ext cx="2651760" cy="3246120"/>
          </a:xfrm>
          <a:prstGeom prst="roundRect">
            <a:avLst>
              <a:gd name="adj" fmla="val 6207"/>
            </a:avLst>
          </a:prstGeom>
          <a:solidFill>
            <a:srgbClr val="8E2F3C"/>
          </a:solidFill>
          <a:ln/>
        </p:spPr>
      </p:sp>
      <p:sp>
        <p:nvSpPr>
          <p:cNvPr id="26" name="Shape 19"/>
          <p:cNvSpPr/>
          <p:nvPr/>
        </p:nvSpPr>
        <p:spPr>
          <a:xfrm>
            <a:off x="822960" y="2788920"/>
            <a:ext cx="2286000" cy="2286000"/>
          </a:xfrm>
          <a:prstGeom prst="roundRect">
            <a:avLst>
              <a:gd name="adj" fmla="val 4800"/>
            </a:avLst>
          </a:prstGeom>
          <a:solidFill>
            <a:srgbClr val="FFFBF8"/>
          </a:solidFill>
          <a:ln/>
        </p:spPr>
      </p:sp>
      <p:pic>
        <p:nvPicPr>
          <p:cNvPr id="27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880360"/>
            <a:ext cx="2103120" cy="21031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40080" y="5212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امسح وجرّب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أثر بالأرقام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walle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9718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10.8%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توفير من الفاتورة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8" name="Image 4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9718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110K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سنوياً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clo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97180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دقائق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بدل أسابيع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مثال: شركة افتراضية من 120 موظفاً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بعد التحدي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scale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8726" y="301752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322978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7" name="Image 4" descr="/tmp/claude-0/-home-claude/750ff410-f4aa-5276-9360-1e19d018b112/scratchpad/c/assets/i-server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48" y="3017520"/>
            <a:ext cx="685800" cy="6858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22978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457200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30" name="Image 5" descr="/tmp/claude-0/-home-claude/750ff410-f4aa-5276-9360-1e19d018b112/scratchpad/c/assets/i-bell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169" y="3017520"/>
            <a:ext cx="685800" cy="6858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57200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إنذار مبكر 24/7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نحتاج: توجيه خبراء · شريك سحابي محلي · 10 شركات للتجربة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2194560"/>
            <a:ext cx="7528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60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333756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88620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pic>
        <p:nvPicPr>
          <p:cNvPr id="30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2026-10-03T07:50:40Z</dcterms:created>
  <dcterms:modified xsi:type="dcterms:W3CDTF">2026-10-03T07:50:40Z</dcterms:modified>
</cp:coreProperties>
</file>