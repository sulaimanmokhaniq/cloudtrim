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4.png"/><Relationship Id="rId6" Type="http://schemas.openxmlformats.org/officeDocument/2006/relationships/image" Target="../media/image-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hyperlink" Target="https://cloudtrim-sa.vercel.app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6" Type="http://schemas.openxmlformats.org/officeDocument/2006/relationships/image" Target="../media/image-12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pic>
        <p:nvPicPr>
          <p:cNvPr id="10" name="Image 0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34459" y="274320"/>
            <a:ext cx="1700036" cy="74980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" y="1234440"/>
            <a:ext cx="5394960" cy="452628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12" name="Shape 9"/>
          <p:cNvSpPr/>
          <p:nvPr/>
        </p:nvSpPr>
        <p:spPr>
          <a:xfrm>
            <a:off x="914400" y="1691640"/>
            <a:ext cx="4480560" cy="3611880"/>
          </a:xfrm>
          <a:prstGeom prst="roundRect">
            <a:avLst>
              <a:gd name="adj" fmla="val 4051"/>
            </a:avLst>
          </a:prstGeom>
          <a:solidFill>
            <a:srgbClr val="FFFB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فاتورة السحابة الشهرية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25880" y="3108960"/>
            <a:ext cx="457200" cy="14630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1325880" y="2377440"/>
            <a:ext cx="457200" cy="73152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84248" y="3182112"/>
            <a:ext cx="457200" cy="1389888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7" name="Shape 14"/>
          <p:cNvSpPr/>
          <p:nvPr/>
        </p:nvSpPr>
        <p:spPr>
          <a:xfrm>
            <a:off x="1984248" y="2377440"/>
            <a:ext cx="457200" cy="804672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>
            <a:off x="2642616" y="3246120"/>
            <a:ext cx="457200" cy="132588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9" name="Shape 16"/>
          <p:cNvSpPr/>
          <p:nvPr/>
        </p:nvSpPr>
        <p:spPr>
          <a:xfrm>
            <a:off x="2642616" y="2377440"/>
            <a:ext cx="457200" cy="86868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300984" y="2423160"/>
            <a:ext cx="457200" cy="21488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1" name="Shape 18"/>
          <p:cNvSpPr/>
          <p:nvPr/>
        </p:nvSpPr>
        <p:spPr>
          <a:xfrm>
            <a:off x="3959352" y="2331720"/>
            <a:ext cx="457200" cy="224028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2" name="Shape 19"/>
          <p:cNvSpPr/>
          <p:nvPr/>
        </p:nvSpPr>
        <p:spPr>
          <a:xfrm>
            <a:off x="4617720" y="2240280"/>
            <a:ext cx="457200" cy="233172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3" name="Shape 20"/>
          <p:cNvSpPr/>
          <p:nvPr/>
        </p:nvSpPr>
        <p:spPr>
          <a:xfrm>
            <a:off x="1188720" y="4572000"/>
            <a:ext cx="3931920" cy="0"/>
          </a:xfrm>
          <a:prstGeom prst="line">
            <a:avLst/>
          </a:prstGeom>
          <a:noFill/>
          <a:ln w="12700">
            <a:solidFill>
              <a:srgbClr val="E3D5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19472" y="4800600"/>
            <a:ext cx="128016" cy="12801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206240" y="4736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قبل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703320" y="4800600"/>
            <a:ext cx="128016" cy="128016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377440" y="47365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مع CloudTrim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141732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مسار الحوسبة السحابية والبنية التحتية</a:t>
            </a:r>
            <a:endParaRPr lang="en-US" sz="1500" dirty="0"/>
          </a:p>
        </p:txBody>
      </p:sp>
      <p:pic>
        <p:nvPicPr>
          <p:cNvPr id="29" name="Image 1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1901952"/>
            <a:ext cx="868680" cy="86868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400800" y="1847088"/>
            <a:ext cx="4282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5800" dirty="0"/>
          </a:p>
        </p:txBody>
      </p:sp>
      <p:sp>
        <p:nvSpPr>
          <p:cNvPr id="31" name="Text 27"/>
          <p:cNvSpPr txBox="1"/>
          <p:nvPr/>
        </p:nvSpPr>
        <p:spPr>
          <a:xfrm>
            <a:off x="6400800" y="2971800"/>
            <a:ext cx="5333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3200" dirty="0"/>
          </a:p>
        </p:txBody>
      </p:sp>
      <p:sp>
        <p:nvSpPr>
          <p:cNvPr id="32" name="Text 28"/>
          <p:cNvSpPr txBox="1"/>
          <p:nvPr/>
        </p:nvSpPr>
        <p:spPr>
          <a:xfrm>
            <a:off x="6400800" y="3639312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10390327" y="4434840"/>
            <a:ext cx="1344168" cy="420624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10390327" y="4434840"/>
            <a:ext cx="1344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1400" dirty="0"/>
          </a:p>
        </p:txBody>
      </p:sp>
      <p:sp>
        <p:nvSpPr>
          <p:cNvPr id="35" name="Shape 31"/>
          <p:cNvSpPr/>
          <p:nvPr/>
        </p:nvSpPr>
        <p:spPr>
          <a:xfrm>
            <a:off x="8515807" y="4434840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8515807" y="443484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</a:t>
            </a:r>
            <a:endParaRPr lang="en-US" sz="1400" dirty="0"/>
          </a:p>
        </p:txBody>
      </p:sp>
      <p:pic>
        <p:nvPicPr>
          <p:cNvPr id="37" name="Image 2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035040"/>
            <a:ext cx="4023360" cy="548640"/>
          </a:xfrm>
          <a:prstGeom prst="rect">
            <a:avLst/>
          </a:prstGeom>
        </p:spPr>
      </p:pic>
      <p:pic>
        <p:nvPicPr>
          <p:cNvPr id="38" name="Image 3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3910" y="5989320"/>
            <a:ext cx="1400585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707831" y="987552"/>
            <a:ext cx="302666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707831" y="98755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المقدمة والتعريف بالفريق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3000" dirty="0"/>
          </a:p>
        </p:txBody>
      </p:sp>
      <p:sp>
        <p:nvSpPr>
          <p:cNvPr id="23" name="Shape 18"/>
          <p:cNvSpPr/>
          <p:nvPr/>
        </p:nvSpPr>
        <p:spPr>
          <a:xfrm>
            <a:off x="833612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صورة سلمان عبدالرحمن مشعل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7668" y="3017520"/>
            <a:ext cx="1600200" cy="16002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51900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سلمان عبدالرحمن مشعل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851900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قائد الفريق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40420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صورة سليمان ممدوح مخانق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5748" y="3017520"/>
            <a:ext cx="1600200" cy="16002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58708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سليمان ممدوح مخانق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458708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الواجهات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47228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صورة بلال أنس زكار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3828" y="3017520"/>
            <a:ext cx="1600200" cy="16002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5516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بلال أنس زكار</a:t>
            </a:r>
            <a:endParaRPr lang="en-US" sz="2000" dirty="0"/>
          </a:p>
        </p:txBody>
      </p:sp>
      <p:sp>
        <p:nvSpPr>
          <p:cNvPr id="34" name="Text 26"/>
          <p:cNvSpPr txBox="1"/>
          <p:nvPr/>
        </p:nvSpPr>
        <p:spPr>
          <a:xfrm>
            <a:off x="65516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الفكرة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 والتحدي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هدر صامت في فاتورة السحابة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wallet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301752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29%</a:t>
            </a:r>
            <a:endParaRPr lang="en-US" sz="5400" dirty="0"/>
          </a:p>
        </p:txBody>
      </p:sp>
      <p:sp>
        <p:nvSpPr>
          <p:cNvPr id="26" name="Text 20"/>
          <p:cNvSpPr txBox="1"/>
          <p:nvPr/>
        </p:nvSpPr>
        <p:spPr>
          <a:xfrm>
            <a:off x="8463077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الإنفاق مهدر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4322978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/tmp/claude-0/-home-claude/750ff410-f4aa-5276-9360-1e19d018b112/scratchpad/c/assets/i-trend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301752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17%</a:t>
            </a:r>
            <a:endParaRPr lang="en-US" sz="5400" dirty="0"/>
          </a:p>
        </p:txBody>
      </p:sp>
      <p:sp>
        <p:nvSpPr>
          <p:cNvPr id="30" name="Text 23"/>
          <p:cNvSpPr txBox="1"/>
          <p:nvPr/>
        </p:nvSpPr>
        <p:spPr>
          <a:xfrm>
            <a:off x="4597298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تجاوز للميزانية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457200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server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3017520"/>
            <a:ext cx="548640" cy="5486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40%</a:t>
            </a:r>
            <a:endParaRPr lang="en-US" sz="540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أعطال سببها خطأ بشري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534924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ولا يوجد مختص FinOps في الشركات المتوسطة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598932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Flexera State of the Cloud 2026 · Uptime Institute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810951" y="987552"/>
            <a:ext cx="92354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810951" y="987552"/>
            <a:ext cx="923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الحل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 يكتشف الهدر… وأنت تقرّر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1167567" y="2743200"/>
            <a:ext cx="566928" cy="566928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11167567" y="2743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</a:t>
            </a:r>
            <a:endParaRPr lang="en-US" sz="2000" dirty="0"/>
          </a:p>
        </p:txBody>
      </p:sp>
      <p:sp>
        <p:nvSpPr>
          <p:cNvPr id="25" name="Text 20"/>
          <p:cNvSpPr txBox="1"/>
          <p:nvPr/>
        </p:nvSpPr>
        <p:spPr>
          <a:xfrm>
            <a:off x="6766560" y="2651760"/>
            <a:ext cx="4190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نربط حسابك السحابي بصلاحية قراءة فقط</a:t>
            </a:r>
            <a:endParaRPr lang="en-US" sz="2000" dirty="0"/>
          </a:p>
        </p:txBody>
      </p:sp>
      <p:sp>
        <p:nvSpPr>
          <p:cNvPr id="26" name="Shape 21"/>
          <p:cNvSpPr/>
          <p:nvPr/>
        </p:nvSpPr>
        <p:spPr>
          <a:xfrm>
            <a:off x="11167567" y="3749040"/>
            <a:ext cx="566928" cy="566928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11167567" y="3749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3"/>
          <p:cNvSpPr txBox="1"/>
          <p:nvPr/>
        </p:nvSpPr>
        <p:spPr>
          <a:xfrm>
            <a:off x="6766560" y="3657600"/>
            <a:ext cx="4190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الذكاء الاصطناعي يكتشف الهدر</a:t>
            </a:r>
            <a:endParaRPr lang="en-US" sz="2000" dirty="0"/>
          </a:p>
        </p:txBody>
      </p:sp>
      <p:sp>
        <p:nvSpPr>
          <p:cNvPr id="29" name="Shape 24"/>
          <p:cNvSpPr/>
          <p:nvPr/>
        </p:nvSpPr>
        <p:spPr>
          <a:xfrm>
            <a:off x="11167567" y="4754880"/>
            <a:ext cx="566928" cy="566928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11167567" y="4754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</a:t>
            </a:r>
            <a:endParaRPr lang="en-US" sz="2000" dirty="0"/>
          </a:p>
        </p:txBody>
      </p:sp>
      <p:sp>
        <p:nvSpPr>
          <p:cNvPr id="31" name="Text 26"/>
          <p:cNvSpPr txBox="1"/>
          <p:nvPr/>
        </p:nvSpPr>
        <p:spPr>
          <a:xfrm>
            <a:off x="6766560" y="4663440"/>
            <a:ext cx="4190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توافق بنقرة واحدة… وتوفّر</a:t>
            </a:r>
            <a:endParaRPr lang="en-US" sz="2000" dirty="0"/>
          </a:p>
        </p:txBody>
      </p:sp>
      <p:pic>
        <p:nvPicPr>
          <p:cNvPr id="32" name="Image 3" descr="/tmp/claude-0/-home-claude/750ff410-f4aa-5276-9360-1e19d018b112/scratchpad/c/assets/m-lap-dem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14600"/>
            <a:ext cx="5852160" cy="35884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285171" y="987552"/>
            <a:ext cx="144932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285171" y="987552"/>
            <a:ext cx="14493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المنافسون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 مقابل أدوات المزودين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6601968" y="2468880"/>
            <a:ext cx="1371600" cy="3337560"/>
          </a:xfrm>
          <a:prstGeom prst="roundRect">
            <a:avLst>
              <a:gd name="adj" fmla="val 9333"/>
            </a:avLst>
          </a:prstGeom>
          <a:solidFill>
            <a:srgbClr val="F1E4DF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528816" y="2514600"/>
            <a:ext cx="1517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5010912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5010912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3493008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Google Cloud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3493008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29" name="Text 24"/>
          <p:cNvSpPr txBox="1"/>
          <p:nvPr/>
        </p:nvSpPr>
        <p:spPr>
          <a:xfrm>
            <a:off x="1975104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Microsoft Azure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975104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457200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Oracle Cloud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457200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Infrastructure</a:t>
            </a:r>
            <a:endParaRPr lang="en-US" sz="1050" dirty="0"/>
          </a:p>
        </p:txBody>
      </p:sp>
      <p:sp>
        <p:nvSpPr>
          <p:cNvPr id="33" name="Text 28"/>
          <p:cNvSpPr txBox="1"/>
          <p:nvPr/>
        </p:nvSpPr>
        <p:spPr>
          <a:xfrm>
            <a:off x="8229600" y="2514600"/>
            <a:ext cx="35048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الميزة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457200" y="3200400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229600" y="3200400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STC وSCCC وCNTXT</a:t>
            </a:r>
            <a:endParaRPr lang="en-US" sz="1500" dirty="0"/>
          </a:p>
        </p:txBody>
      </p:sp>
      <p:sp>
        <p:nvSpPr>
          <p:cNvPr id="36" name="Shape 31"/>
          <p:cNvSpPr/>
          <p:nvPr/>
        </p:nvSpPr>
        <p:spPr>
          <a:xfrm>
            <a:off x="7114032" y="3282696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114032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5596128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5596128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4078224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4078224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2" name="Shape 37"/>
          <p:cNvSpPr/>
          <p:nvPr/>
        </p:nvSpPr>
        <p:spPr>
          <a:xfrm>
            <a:off x="2560320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2560320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4" name="Shape 39"/>
          <p:cNvSpPr/>
          <p:nvPr/>
        </p:nvSpPr>
        <p:spPr>
          <a:xfrm>
            <a:off x="1042416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1042416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6" name="Shape 41"/>
          <p:cNvSpPr/>
          <p:nvPr/>
        </p:nvSpPr>
        <p:spPr>
          <a:xfrm>
            <a:off x="457200" y="3712464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8229600" y="3712464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كل السحابات في لوحة واحدة</a:t>
            </a:r>
            <a:endParaRPr lang="en-US" sz="1500" dirty="0"/>
          </a:p>
        </p:txBody>
      </p:sp>
      <p:sp>
        <p:nvSpPr>
          <p:cNvPr id="48" name="Shape 43"/>
          <p:cNvSpPr/>
          <p:nvPr/>
        </p:nvSpPr>
        <p:spPr>
          <a:xfrm>
            <a:off x="7114032" y="3794760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7114032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50" name="Shape 45"/>
          <p:cNvSpPr/>
          <p:nvPr/>
        </p:nvSpPr>
        <p:spPr>
          <a:xfrm>
            <a:off x="5596128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5596128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2" name="Shape 47"/>
          <p:cNvSpPr/>
          <p:nvPr/>
        </p:nvSpPr>
        <p:spPr>
          <a:xfrm>
            <a:off x="4078224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4078224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4" name="Shape 49"/>
          <p:cNvSpPr/>
          <p:nvPr/>
        </p:nvSpPr>
        <p:spPr>
          <a:xfrm>
            <a:off x="2560320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256032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6" name="Shape 51"/>
          <p:cNvSpPr/>
          <p:nvPr/>
        </p:nvSpPr>
        <p:spPr>
          <a:xfrm>
            <a:off x="1042416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1042416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8" name="Shape 53"/>
          <p:cNvSpPr/>
          <p:nvPr/>
        </p:nvSpPr>
        <p:spPr>
          <a:xfrm>
            <a:off x="457200" y="4224528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59" name="Text 54"/>
          <p:cNvSpPr txBox="1"/>
          <p:nvPr/>
        </p:nvSpPr>
        <p:spPr>
          <a:xfrm>
            <a:off x="8229600" y="4224528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تنفيذ بنقرة بعد موافقتك</a:t>
            </a:r>
            <a:endParaRPr lang="en-US" sz="1500" dirty="0"/>
          </a:p>
        </p:txBody>
      </p:sp>
      <p:sp>
        <p:nvSpPr>
          <p:cNvPr id="60" name="Shape 55"/>
          <p:cNvSpPr/>
          <p:nvPr/>
        </p:nvSpPr>
        <p:spPr>
          <a:xfrm>
            <a:off x="7114032" y="4306824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61" name="Text 56"/>
          <p:cNvSpPr txBox="1"/>
          <p:nvPr/>
        </p:nvSpPr>
        <p:spPr>
          <a:xfrm>
            <a:off x="7114032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2" name="Shape 57"/>
          <p:cNvSpPr/>
          <p:nvPr/>
        </p:nvSpPr>
        <p:spPr>
          <a:xfrm>
            <a:off x="5596128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3" name="Text 58"/>
          <p:cNvSpPr txBox="1"/>
          <p:nvPr/>
        </p:nvSpPr>
        <p:spPr>
          <a:xfrm>
            <a:off x="5596128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4" name="Shape 59"/>
          <p:cNvSpPr/>
          <p:nvPr/>
        </p:nvSpPr>
        <p:spPr>
          <a:xfrm>
            <a:off x="4078224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5" name="Text 60"/>
          <p:cNvSpPr txBox="1"/>
          <p:nvPr/>
        </p:nvSpPr>
        <p:spPr>
          <a:xfrm>
            <a:off x="4078224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6" name="Shape 61"/>
          <p:cNvSpPr/>
          <p:nvPr/>
        </p:nvSpPr>
        <p:spPr>
          <a:xfrm>
            <a:off x="2560320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7" name="Text 62"/>
          <p:cNvSpPr txBox="1"/>
          <p:nvPr/>
        </p:nvSpPr>
        <p:spPr>
          <a:xfrm>
            <a:off x="2560320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8" name="Shape 63"/>
          <p:cNvSpPr/>
          <p:nvPr/>
        </p:nvSpPr>
        <p:spPr>
          <a:xfrm>
            <a:off x="1042416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9" name="Text 64"/>
          <p:cNvSpPr txBox="1"/>
          <p:nvPr/>
        </p:nvSpPr>
        <p:spPr>
          <a:xfrm>
            <a:off x="1042416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70" name="Shape 65"/>
          <p:cNvSpPr/>
          <p:nvPr/>
        </p:nvSpPr>
        <p:spPr>
          <a:xfrm>
            <a:off x="457200" y="4736592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8229600" y="4736592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تنبيهات واتساب وتيليجرام</a:t>
            </a:r>
            <a:endParaRPr lang="en-US" sz="1500" dirty="0"/>
          </a:p>
        </p:txBody>
      </p:sp>
      <p:sp>
        <p:nvSpPr>
          <p:cNvPr id="72" name="Shape 67"/>
          <p:cNvSpPr/>
          <p:nvPr/>
        </p:nvSpPr>
        <p:spPr>
          <a:xfrm>
            <a:off x="7114032" y="4818888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73" name="Text 68"/>
          <p:cNvSpPr txBox="1"/>
          <p:nvPr/>
        </p:nvSpPr>
        <p:spPr>
          <a:xfrm>
            <a:off x="7114032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74" name="Shape 69"/>
          <p:cNvSpPr/>
          <p:nvPr/>
        </p:nvSpPr>
        <p:spPr>
          <a:xfrm>
            <a:off x="5596128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5" name="Text 70"/>
          <p:cNvSpPr txBox="1"/>
          <p:nvPr/>
        </p:nvSpPr>
        <p:spPr>
          <a:xfrm>
            <a:off x="5596128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Shape 71"/>
          <p:cNvSpPr/>
          <p:nvPr/>
        </p:nvSpPr>
        <p:spPr>
          <a:xfrm>
            <a:off x="4078224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7" name="Text 72"/>
          <p:cNvSpPr txBox="1"/>
          <p:nvPr/>
        </p:nvSpPr>
        <p:spPr>
          <a:xfrm>
            <a:off x="4078224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8" name="Shape 73"/>
          <p:cNvSpPr/>
          <p:nvPr/>
        </p:nvSpPr>
        <p:spPr>
          <a:xfrm>
            <a:off x="2560320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9" name="Text 74"/>
          <p:cNvSpPr txBox="1"/>
          <p:nvPr/>
        </p:nvSpPr>
        <p:spPr>
          <a:xfrm>
            <a:off x="2560320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80" name="Shape 75"/>
          <p:cNvSpPr/>
          <p:nvPr/>
        </p:nvSpPr>
        <p:spPr>
          <a:xfrm>
            <a:off x="1042416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81" name="Text 76"/>
          <p:cNvSpPr txBox="1"/>
          <p:nvPr/>
        </p:nvSpPr>
        <p:spPr>
          <a:xfrm>
            <a:off x="1042416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82" name="Shape 77"/>
          <p:cNvSpPr/>
          <p:nvPr/>
        </p:nvSpPr>
        <p:spPr>
          <a:xfrm>
            <a:off x="457200" y="5248656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83" name="Text 78"/>
          <p:cNvSpPr txBox="1"/>
          <p:nvPr/>
        </p:nvSpPr>
        <p:spPr>
          <a:xfrm>
            <a:off x="8229600" y="5248656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سعر مناسب للشركات المتوسطة</a:t>
            </a:r>
            <a:endParaRPr lang="en-US" sz="1500" dirty="0"/>
          </a:p>
        </p:txBody>
      </p:sp>
      <p:sp>
        <p:nvSpPr>
          <p:cNvPr id="84" name="Shape 79"/>
          <p:cNvSpPr/>
          <p:nvPr/>
        </p:nvSpPr>
        <p:spPr>
          <a:xfrm>
            <a:off x="7114032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5" name="Text 80"/>
          <p:cNvSpPr txBox="1"/>
          <p:nvPr/>
        </p:nvSpPr>
        <p:spPr>
          <a:xfrm>
            <a:off x="7114032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86" name="Shape 81"/>
          <p:cNvSpPr/>
          <p:nvPr/>
        </p:nvSpPr>
        <p:spPr>
          <a:xfrm>
            <a:off x="5596128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7" name="Text 82"/>
          <p:cNvSpPr txBox="1"/>
          <p:nvPr/>
        </p:nvSpPr>
        <p:spPr>
          <a:xfrm>
            <a:off x="5596128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88" name="Shape 83"/>
          <p:cNvSpPr/>
          <p:nvPr/>
        </p:nvSpPr>
        <p:spPr>
          <a:xfrm>
            <a:off x="4078224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9" name="Text 84"/>
          <p:cNvSpPr txBox="1"/>
          <p:nvPr/>
        </p:nvSpPr>
        <p:spPr>
          <a:xfrm>
            <a:off x="4078224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0" name="Shape 85"/>
          <p:cNvSpPr/>
          <p:nvPr/>
        </p:nvSpPr>
        <p:spPr>
          <a:xfrm>
            <a:off x="2560320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1" name="Text 86"/>
          <p:cNvSpPr txBox="1"/>
          <p:nvPr/>
        </p:nvSpPr>
        <p:spPr>
          <a:xfrm>
            <a:off x="2560320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2" name="Shape 87"/>
          <p:cNvSpPr/>
          <p:nvPr/>
        </p:nvSpPr>
        <p:spPr>
          <a:xfrm>
            <a:off x="1042416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3" name="Text 88"/>
          <p:cNvSpPr txBox="1"/>
          <p:nvPr/>
        </p:nvSpPr>
        <p:spPr>
          <a:xfrm>
            <a:off x="1042416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4" name="Shape 89"/>
          <p:cNvSpPr/>
          <p:nvPr/>
        </p:nvSpPr>
        <p:spPr>
          <a:xfrm>
            <a:off x="11551615" y="5943600"/>
            <a:ext cx="182880" cy="18288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5" name="Text 90"/>
          <p:cNvSpPr txBox="1"/>
          <p:nvPr/>
        </p:nvSpPr>
        <p:spPr>
          <a:xfrm>
            <a:off x="1086581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نعم</a:t>
            </a:r>
            <a:endParaRPr lang="en-US" sz="1200" dirty="0"/>
          </a:p>
        </p:txBody>
      </p:sp>
      <p:sp>
        <p:nvSpPr>
          <p:cNvPr id="96" name="Shape 91"/>
          <p:cNvSpPr/>
          <p:nvPr/>
        </p:nvSpPr>
        <p:spPr>
          <a:xfrm>
            <a:off x="10591495" y="5943600"/>
            <a:ext cx="182880" cy="182880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97" name="Text 92"/>
          <p:cNvSpPr txBox="1"/>
          <p:nvPr/>
        </p:nvSpPr>
        <p:spPr>
          <a:xfrm>
            <a:off x="990569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جزئياً</a:t>
            </a:r>
            <a:endParaRPr lang="en-US" sz="1200" dirty="0"/>
          </a:p>
        </p:txBody>
      </p:sp>
      <p:sp>
        <p:nvSpPr>
          <p:cNvPr id="98" name="Shape 93"/>
          <p:cNvSpPr/>
          <p:nvPr/>
        </p:nvSpPr>
        <p:spPr>
          <a:xfrm>
            <a:off x="9631375" y="5943600"/>
            <a:ext cx="182880" cy="18288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99" name="Text 94"/>
          <p:cNvSpPr txBox="1"/>
          <p:nvPr/>
        </p:nvSpPr>
        <p:spPr>
          <a:xfrm>
            <a:off x="894557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الفئة المستهدفة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شركات سعودية من 50 إلى 250 موظفاً</a:t>
            </a:r>
            <a:endParaRPr lang="en-US" sz="34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33172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 فريق FinOps، وفاتورتها عشرات الآلاف شهرياً</a:t>
            </a:r>
            <a:endParaRPr lang="en-US" sz="1800" dirty="0"/>
          </a:p>
        </p:txBody>
      </p:sp>
      <p:sp>
        <p:nvSpPr>
          <p:cNvPr id="24" name="Shape 19"/>
          <p:cNvSpPr/>
          <p:nvPr/>
        </p:nvSpPr>
        <p:spPr>
          <a:xfrm>
            <a:off x="8188757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5" name="Image 3" descr="/tmp/claude-0/-home-claude/750ff410-f4aa-5276-9360-1e19d018b112/scratchpad/c/assets/i-building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3337560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188757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50-250</a:t>
            </a:r>
            <a:endParaRPr lang="en-US" sz="4600" dirty="0"/>
          </a:p>
        </p:txBody>
      </p:sp>
      <p:sp>
        <p:nvSpPr>
          <p:cNvPr id="27" name="Text 21"/>
          <p:cNvSpPr txBox="1"/>
          <p:nvPr/>
        </p:nvSpPr>
        <p:spPr>
          <a:xfrm>
            <a:off x="8463077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موظفاً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4322978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9" name="Image 4" descr="/tmp/claude-0/-home-claude/750ff410-f4aa-5276-9360-1e19d018b112/scratchpad/c/assets/i-cloud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3337560"/>
            <a:ext cx="548640" cy="54864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322978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$5.1B</a:t>
            </a:r>
            <a:endParaRPr lang="en-US" sz="4600" dirty="0"/>
          </a:p>
        </p:txBody>
      </p:sp>
      <p:sp>
        <p:nvSpPr>
          <p:cNvPr id="31" name="Text 24"/>
          <p:cNvSpPr txBox="1"/>
          <p:nvPr/>
        </p:nvSpPr>
        <p:spPr>
          <a:xfrm>
            <a:off x="4597298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سوق السحابة السعودي 2025</a:t>
            </a:r>
            <a:endParaRPr lang="en-US" sz="1800" dirty="0"/>
          </a:p>
        </p:txBody>
      </p:sp>
      <p:sp>
        <p:nvSpPr>
          <p:cNvPr id="32" name="Shape 25"/>
          <p:cNvSpPr/>
          <p:nvPr/>
        </p:nvSpPr>
        <p:spPr>
          <a:xfrm>
            <a:off x="457200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33" name="Image 5" descr="/tmp/claude-0/-home-claude/750ff410-f4aa-5276-9360-1e19d018b112/scratchpad/c/assets/i-trend-c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3337560"/>
            <a:ext cx="548640" cy="5486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457200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$14.6B</a:t>
            </a:r>
            <a:endParaRPr lang="en-US" sz="4600" dirty="0"/>
          </a:p>
        </p:txBody>
      </p:sp>
      <p:sp>
        <p:nvSpPr>
          <p:cNvPr id="35" name="Text 27"/>
          <p:cNvSpPr txBox="1"/>
          <p:nvPr/>
        </p:nvSpPr>
        <p:spPr>
          <a:xfrm>
            <a:off x="731520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المتوقع 2030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598932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MarketsandMarkets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074859" y="987552"/>
            <a:ext cx="1659636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074859" y="987552"/>
            <a:ext cx="16596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العمل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07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ابدأ مجاناً، ثم ادفع لكل مورد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06040"/>
            <a:ext cx="3545738" cy="2606040"/>
          </a:xfrm>
          <a:prstGeom prst="roundRect">
            <a:avLst>
              <a:gd name="adj" fmla="val 7018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/tmp/claude-0/-home-claude/750ff410-f4aa-5276-9360-1e19d018b112/scratchpad/c/assets/i-gift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288036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52044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الفحص الأول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8188757" y="3886200"/>
            <a:ext cx="3545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مجاني</a:t>
            </a:r>
            <a:endParaRPr lang="en-US" sz="4000" dirty="0"/>
          </a:p>
        </p:txBody>
      </p:sp>
      <p:sp>
        <p:nvSpPr>
          <p:cNvPr id="27" name="Text 21"/>
          <p:cNvSpPr txBox="1"/>
          <p:nvPr/>
        </p:nvSpPr>
        <p:spPr>
          <a:xfrm>
            <a:off x="8188757" y="466344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تقرير الهدر كاملاً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4322978" y="2606040"/>
            <a:ext cx="3545738" cy="2606040"/>
          </a:xfrm>
          <a:prstGeom prst="roundRect">
            <a:avLst>
              <a:gd name="adj" fmla="val 7018"/>
            </a:avLst>
          </a:prstGeom>
          <a:solidFill>
            <a:srgbClr val="8E2F3C"/>
          </a:solidFill>
          <a:ln/>
        </p:spPr>
      </p:sp>
      <p:pic>
        <p:nvPicPr>
          <p:cNvPr id="29" name="Image 4" descr="/tmp/claude-0/-home-claude/750ff410-f4aa-5276-9360-1e19d018b112/scratchpad/c/assets/i-gauge-c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2880360"/>
            <a:ext cx="548640" cy="54864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322978" y="352044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1E4D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حسب الاستخدام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4322978" y="3886200"/>
            <a:ext cx="3545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15 ريال</a:t>
            </a:r>
            <a:endParaRPr lang="en-US" sz="4000" dirty="0"/>
          </a:p>
        </p:txBody>
      </p:sp>
      <p:sp>
        <p:nvSpPr>
          <p:cNvPr id="32" name="Text 25"/>
          <p:cNvSpPr txBox="1"/>
          <p:nvPr/>
        </p:nvSpPr>
        <p:spPr>
          <a:xfrm>
            <a:off x="4322978" y="466344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لكل مورد شهرياً</a:t>
            </a:r>
            <a:endParaRPr lang="en-US" sz="1600" dirty="0"/>
          </a:p>
        </p:txBody>
      </p:sp>
      <p:sp>
        <p:nvSpPr>
          <p:cNvPr id="33" name="Shape 26"/>
          <p:cNvSpPr/>
          <p:nvPr/>
        </p:nvSpPr>
        <p:spPr>
          <a:xfrm>
            <a:off x="457200" y="2606040"/>
            <a:ext cx="3545738" cy="2606040"/>
          </a:xfrm>
          <a:prstGeom prst="roundRect">
            <a:avLst>
              <a:gd name="adj" fmla="val 7018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4" name="Image 5" descr="/tmp/claude-0/-home-claude/750ff410-f4aa-5276-9360-1e19d018b112/scratchpad/c/assets/i-handshake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2880360"/>
            <a:ext cx="548640" cy="54864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457200" y="352044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استشارات FinOps</a:t>
            </a:r>
            <a:endParaRPr lang="en-US" sz="17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3886200"/>
            <a:ext cx="3545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حسب المشروع</a:t>
            </a:r>
            <a:endParaRPr lang="en-US" sz="4000" dirty="0"/>
          </a:p>
        </p:txBody>
      </p:sp>
      <p:sp>
        <p:nvSpPr>
          <p:cNvPr id="37" name="Text 29"/>
          <p:cNvSpPr txBox="1"/>
          <p:nvPr/>
        </p:nvSpPr>
        <p:spPr>
          <a:xfrm>
            <a:off x="457200" y="466344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مهندس FinOps مخصص</a:t>
            </a:r>
            <a:endParaRPr lang="en-US" sz="1600" dirty="0"/>
          </a:p>
        </p:txBody>
      </p:sp>
      <p:sp>
        <p:nvSpPr>
          <p:cNvPr id="38" name="Text 30"/>
          <p:cNvSpPr txBox="1"/>
          <p:nvPr/>
        </p:nvSpPr>
        <p:spPr>
          <a:xfrm>
            <a:off x="457200" y="548640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 اشتراك ثابت، وبسقف شهري تحدده أنت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قابلية التنفيذ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6172200" y="1691640"/>
            <a:ext cx="5562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كيف يمكن تنفيذ الحل في الوقت الحالي؟</a:t>
            </a:r>
            <a:endParaRPr lang="en-US" sz="2100" dirty="0"/>
          </a:p>
        </p:txBody>
      </p:sp>
      <p:sp>
        <p:nvSpPr>
          <p:cNvPr id="23" name="Shape 18"/>
          <p:cNvSpPr/>
          <p:nvPr/>
        </p:nvSpPr>
        <p:spPr>
          <a:xfrm>
            <a:off x="6172200" y="242316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10865815" y="26060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25" name="Image 3" descr="/tmp/claude-0/-home-claude/750ff410-f4aa-5276-9360-1e19d018b112/scratchpad/c/assets/i-plug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269748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446520" y="242316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ربط المنصة بحساب الشركة السحابي عبر API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6172200" y="361188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10865815" y="37947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29" name="Image 4" descr="/tmp/claude-0/-home-claude/750ff410-f4aa-5276-9360-1e19d018b112/scratchpad/c/assets/i-bot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7255" y="3886200"/>
            <a:ext cx="457200" cy="4572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446520" y="361188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ذكاء اصطناعي يمسح البنية فوراً ويطابقها مع أفضل الممارسات ويحلل الأحمال</a:t>
            </a:r>
            <a:endParaRPr lang="en-US" sz="1600" dirty="0"/>
          </a:p>
        </p:txBody>
      </p:sp>
      <p:sp>
        <p:nvSpPr>
          <p:cNvPr id="31" name="Shape 24"/>
          <p:cNvSpPr/>
          <p:nvPr/>
        </p:nvSpPr>
        <p:spPr>
          <a:xfrm>
            <a:off x="6172200" y="480060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10865815" y="498348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33" name="Image 5" descr="/tmp/claude-0/-home-claude/750ff410-f4aa-5276-9360-1e19d018b112/scratchpad/c/assets/i-check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7255" y="5074920"/>
            <a:ext cx="457200" cy="4572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446520" y="480060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زر تفاعلي بضغطة واحدة لإيقاف المورد أو تقليصه عبر API</a:t>
            </a:r>
            <a:endParaRPr lang="en-US" sz="1600" dirty="0"/>
          </a:p>
        </p:txBody>
      </p:sp>
      <p:sp>
        <p:nvSpPr>
          <p:cNvPr id="35" name="Shape 27"/>
          <p:cNvSpPr/>
          <p:nvPr/>
        </p:nvSpPr>
        <p:spPr>
          <a:xfrm>
            <a:off x="457200" y="1691640"/>
            <a:ext cx="5257800" cy="411480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777240" y="192024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التقنيات المتوفرة لتنفيذه؟</a:t>
            </a:r>
            <a:endParaRPr lang="en-US" sz="2100" dirty="0"/>
          </a:p>
        </p:txBody>
      </p:sp>
      <p:sp>
        <p:nvSpPr>
          <p:cNvPr id="37" name="Shape 29"/>
          <p:cNvSpPr/>
          <p:nvPr/>
        </p:nvSpPr>
        <p:spPr>
          <a:xfrm>
            <a:off x="777240" y="2651760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38" name="Image 6" descr="/tmp/claude-0/-home-claude/750ff410-f4aa-5276-9360-1e19d018b112/scratchpad/c/assets/i-cloud-b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2825496"/>
            <a:ext cx="457200" cy="45720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1005840" y="2651760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 APIs</a:t>
            </a:r>
            <a:endParaRPr lang="en-US" sz="1800" dirty="0"/>
          </a:p>
        </p:txBody>
      </p:sp>
      <p:sp>
        <p:nvSpPr>
          <p:cNvPr id="40" name="Shape 31"/>
          <p:cNvSpPr/>
          <p:nvPr/>
        </p:nvSpPr>
        <p:spPr>
          <a:xfrm>
            <a:off x="777240" y="3639312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41" name="Image 7" descr="/tmp/claude-0/-home-claude/750ff410-f4aa-5276-9360-1e19d018b112/scratchpad/c/assets/i-brain-b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0" y="3813048"/>
            <a:ext cx="457200" cy="45720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1005840" y="3639312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AI Models</a:t>
            </a:r>
            <a:endParaRPr lang="en-US" sz="1800" dirty="0"/>
          </a:p>
        </p:txBody>
      </p:sp>
      <p:sp>
        <p:nvSpPr>
          <p:cNvPr id="43" name="Shape 33"/>
          <p:cNvSpPr/>
          <p:nvPr/>
        </p:nvSpPr>
        <p:spPr>
          <a:xfrm>
            <a:off x="777240" y="4626864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44" name="Image 8" descr="/tmp/claude-0/-home-claude/750ff410-f4aa-5276-9360-1e19d018b112/scratchpad/c/assets/i-code-b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54880" y="4800600"/>
            <a:ext cx="457200" cy="45720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1005840" y="4626864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أدوات تطوير الواجهات والمواقع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النموذج الأولي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09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يعمل الآن، جرّبه بنفسك</a:t>
            </a:r>
            <a:endParaRPr lang="en-US" sz="3400" dirty="0"/>
          </a:p>
        </p:txBody>
      </p:sp>
      <p:pic>
        <p:nvPicPr>
          <p:cNvPr id="23" name="Image 3" descr="/tmp/claude-0/-home-claude/750ff410-f4aa-5276-9360-1e19d018b112/scratchpad/c/assets/m-lap-her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6655" y="2514600"/>
            <a:ext cx="5577840" cy="3420196"/>
          </a:xfrm>
          <a:prstGeom prst="rect">
            <a:avLst/>
          </a:prstGeom>
        </p:spPr>
      </p:pic>
      <p:pic>
        <p:nvPicPr>
          <p:cNvPr id="24" name="Image 4" descr="/tmp/claude-0/-home-claude/750ff410-f4aa-5276-9360-1e19d018b112/scratchpad/c/assets/m-ph-sta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0163" y="2697480"/>
            <a:ext cx="1569412" cy="324612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40080" y="2606040"/>
            <a:ext cx="2651760" cy="3246120"/>
          </a:xfrm>
          <a:prstGeom prst="roundRect">
            <a:avLst>
              <a:gd name="adj" fmla="val 6207"/>
            </a:avLst>
          </a:prstGeom>
          <a:solidFill>
            <a:srgbClr val="8E2F3C"/>
          </a:solidFill>
          <a:ln/>
        </p:spPr>
      </p:sp>
      <p:sp>
        <p:nvSpPr>
          <p:cNvPr id="26" name="Shape 19"/>
          <p:cNvSpPr/>
          <p:nvPr/>
        </p:nvSpPr>
        <p:spPr>
          <a:xfrm>
            <a:off x="822960" y="2788920"/>
            <a:ext cx="2286000" cy="2286000"/>
          </a:xfrm>
          <a:prstGeom prst="roundRect">
            <a:avLst>
              <a:gd name="adj" fmla="val 4800"/>
            </a:avLst>
          </a:prstGeom>
          <a:solidFill>
            <a:srgbClr val="FFFBF8"/>
          </a:solidFill>
          <a:ln/>
        </p:spPr>
      </p:sp>
      <p:pic>
        <p:nvPicPr>
          <p:cNvPr id="27" name="Image 5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2880360"/>
            <a:ext cx="2103120" cy="210312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40080" y="5212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امسح وجرّب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918143" y="987552"/>
            <a:ext cx="2816352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918143" y="987552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الأثر والقيمة المتوقعة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أثر بالأرقام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/tmp/claude-0/-home-claude/750ff410-f4aa-5276-9360-1e19d018b112/scratchpad/c/assets/i-wallet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297180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10.8%</a:t>
            </a:r>
            <a:endParaRPr lang="en-US" sz="5400" dirty="0"/>
          </a:p>
        </p:txBody>
      </p:sp>
      <p:sp>
        <p:nvSpPr>
          <p:cNvPr id="26" name="Text 20"/>
          <p:cNvSpPr txBox="1"/>
          <p:nvPr/>
        </p:nvSpPr>
        <p:spPr>
          <a:xfrm>
            <a:off x="8463077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توفير من الفاتورة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4322978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28" name="Image 4" descr="/tmp/claude-0/-home-claude/750ff410-f4aa-5276-9360-1e19d018b112/scratchpad/c/assets/i-trend-c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297180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110K</a:t>
            </a:r>
            <a:endParaRPr lang="en-US" sz="5400" dirty="0"/>
          </a:p>
        </p:txBody>
      </p:sp>
      <p:sp>
        <p:nvSpPr>
          <p:cNvPr id="30" name="Text 23"/>
          <p:cNvSpPr txBox="1"/>
          <p:nvPr/>
        </p:nvSpPr>
        <p:spPr>
          <a:xfrm>
            <a:off x="4597298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سنوياً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457200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clock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2971800"/>
            <a:ext cx="548640" cy="5486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دقائق</a:t>
            </a:r>
            <a:endParaRPr lang="en-US" sz="540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بدل أسابيع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53492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مثال: شركة افتراضية من 120 موظفاً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الخطوة التالية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بعد التحدي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scale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8726" y="3017520"/>
            <a:ext cx="685800" cy="6858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 السحابات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4322978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27" name="Image 4" descr="/tmp/claude-0/-home-claude/750ff410-f4aa-5276-9360-1e19d018b112/scratchpad/c/assets/i-server-c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2948" y="3017520"/>
            <a:ext cx="685800" cy="6858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322978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البنية الهجينة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457200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30" name="Image 5" descr="/tmp/claude-0/-home-claude/750ff410-f4aa-5276-9360-1e19d018b112/scratchpad/c/assets/i-bell-c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7169" y="3017520"/>
            <a:ext cx="685800" cy="6858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57200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إنذار مبكر 24/7</a:t>
            </a:r>
            <a:endParaRPr lang="en-US" sz="2200" dirty="0"/>
          </a:p>
        </p:txBody>
      </p:sp>
      <p:sp>
        <p:nvSpPr>
          <p:cNvPr id="32" name="Text 24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نحتاج: توجيه خبراء · شريك سحابي محلي · 10 شركات للتجربة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600639" y="987552"/>
            <a:ext cx="1133856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600639" y="98755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الختام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12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442655" y="1600200"/>
            <a:ext cx="3291840" cy="4069080"/>
          </a:xfrm>
          <a:prstGeom prst="roundRect">
            <a:avLst>
              <a:gd name="adj" fmla="val 5556"/>
            </a:avLst>
          </a:prstGeom>
          <a:solidFill>
            <a:srgbClr val="8E2F3C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442655" y="1783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9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جرّب CloudTrim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8854135" y="2331720"/>
            <a:ext cx="2468880" cy="2468880"/>
          </a:xfrm>
          <a:prstGeom prst="roundRect">
            <a:avLst>
              <a:gd name="adj" fmla="val 5185"/>
            </a:avLst>
          </a:prstGeom>
          <a:solidFill>
            <a:srgbClr val="FFFBF8"/>
          </a:solidFill>
          <a:ln/>
        </p:spPr>
      </p:sp>
      <p:pic>
        <p:nvPicPr>
          <p:cNvPr id="25" name="Image 3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295" y="2468880"/>
            <a:ext cx="2194560" cy="2194560"/>
          </a:xfrm>
          <a:prstGeom prst="rect">
            <a:avLst/>
          </a:prstGeom>
        </p:spPr>
      </p:pic>
      <p:sp>
        <p:nvSpPr>
          <p:cNvPr id="26" name="Text 20">
            <a:hlinkClick r:id="rId5" tooltip=""/>
          </p:cNvPr>
          <p:cNvSpPr txBox="1"/>
          <p:nvPr/>
        </p:nvSpPr>
        <p:spPr>
          <a:xfrm>
            <a:off x="8442655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cloudtrim-sa.vercel.app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2194560"/>
            <a:ext cx="7528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60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شكراً لكم</a:t>
            </a:r>
            <a:endParaRPr lang="en-US" sz="6000" dirty="0"/>
          </a:p>
        </p:txBody>
      </p:sp>
      <p:sp>
        <p:nvSpPr>
          <p:cNvPr id="28" name="Text 22"/>
          <p:cNvSpPr txBox="1"/>
          <p:nvPr/>
        </p:nvSpPr>
        <p:spPr>
          <a:xfrm>
            <a:off x="457200" y="3337560"/>
            <a:ext cx="7528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2600" dirty="0"/>
          </a:p>
        </p:txBody>
      </p:sp>
      <p:sp>
        <p:nvSpPr>
          <p:cNvPr id="29" name="Text 23"/>
          <p:cNvSpPr txBox="1"/>
          <p:nvPr/>
        </p:nvSpPr>
        <p:spPr>
          <a:xfrm>
            <a:off x="457200" y="3886200"/>
            <a:ext cx="7528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600" dirty="0"/>
          </a:p>
        </p:txBody>
      </p:sp>
      <p:pic>
        <p:nvPicPr>
          <p:cNvPr id="30" name="Image 4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532120"/>
            <a:ext cx="33528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CloudTrim · SSB · VentureX</dc:title>
  <dc:subject>PptxGenJS Presentation</dc:subject>
  <dc:creator>SSB</dc:creator>
  <cp:lastModifiedBy>SSB</cp:lastModifiedBy>
  <cp:revision>1</cp:revision>
  <dcterms:created xsi:type="dcterms:W3CDTF">2026-10-03T10:02:27Z</dcterms:created>
  <dcterms:modified xsi:type="dcterms:W3CDTF">2026-10-03T10:02:27Z</dcterms:modified>
</cp:coreProperties>
</file>